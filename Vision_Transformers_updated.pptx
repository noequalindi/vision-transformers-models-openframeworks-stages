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a:off x="0" y="0"/>
          <a:ext cx="0" cy="0"/>
          <a:chOff x="0" y="0"/>
          <a:chExt cx="0" cy="0"/>
        </a:xfrm>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Venimos de escribirle a un LLM y usar su respuesta en openFrameworks. Ahora cambiamos la entrada: además de palabras, podemos enviar imágenes. Vamos a comparar dos tareas sobre una misma escena: elegir una categoría y responder una pregunta. La analogía es una biblioteca: un sistema ubica una foto en uno de sus estantes; el otro intenta conversar sobre ella. Ninguno ve como una persona ni comprende todo lo que ocurre fuera del encuadre. Hoy hacemos inferencia con pesos descargados; la obra, la interfaz y sus reglas siguen siendo decisiones nuestras.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elegir un modelo, definimos qué salida necesita nuestra interacción. Pensemos en una fotografía de un escenario: clasificar sería decir teatro; detectar sería ubicar sillas con rectángulos; segmentar sería separar sus píxeles del fondo; describir sería escribir una frase; generar sería producir otra imagen. Tener un transformer no hace que un modelo resuelva automáticamente todas esas tareas. En esta práctica implementamos clasificación y respuesta visual en lenguaje. No implementamos detección, siluetas, tracking ni generación de video. Si una obra necesita esas salidas habrá que incorporar modelos y contratos específicos.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entrar en ViT, comparemos dos arquitecturas que pueden resolver la misma tarea de clasificación. En una CNN clásica, un filtro aprendido recorre pequeñas regiones de la imagen y comparte sus pesos entre posiciones. Podemos imaginar una ventanita que busca patrones locales. Al combinar capas aumenta el campo receptivo: las representaciones pueden integrar regiones más amplias. Una CNN no está condenada a ver solo detalles locales; también puede construir información global.</a:t>
            </a:r>
          </a:p>
          <a:p xmlns:a="http://schemas.openxmlformats.org/drawingml/2006/main">
            <a:r>
              <a:t/>
            </a:r>
          </a:p>
          <a:p xmlns:a="http://schemas.openxmlformats.org/drawingml/2006/main">
            <a:r>
              <a:t>En el ViT clásico se forman tokens a partir de parches y la autoatención permite combinar información entre todas las posiciones de la secuencia en cada bloque. Pensemos en piezas de un mosaico que pueden relacionarse desde el principio. La importancia asignada a esas relaciones depende de la entrada, a partir de proyecciones aprendidas.</a:t>
            </a:r>
          </a:p>
          <a:p xmlns:a="http://schemas.openxmlformats.org/drawingml/2006/main">
            <a:r>
              <a:t/>
            </a:r>
          </a:p>
          <a:p xmlns:a="http://schemas.openxmlformats.org/drawingml/2006/main">
            <a:r>
              <a:t>No es una competencia en la que una arquitectura siempre gana. Rendimiento, datos disponibles, entrenamiento y recursos importan. También existen arquitecturas híbridas y transformers visuales con atención por ventanas. Esta comparación describe la CNN convencional y el ViT clásico que usamos, no todas las variantes. Pedirles que distingan arquitectura de tarea: tanto una CNN como un ViT pueden producir categorías si tienen una cabeza y un entrenamiento de clasificación.</a:t>
            </a:r>
          </a:p>
          <a:p xmlns:a="http://schemas.openxmlformats.org/drawingml/2006/main">
            <a:r>
              <a:t/>
            </a:r>
          </a:p>
          <a:p xmlns:a="http://schemas.openxmlformats.org/drawingml/2006/main">
            <a:r>
              <a:t>Fuente: https://arxiv.org/abs/2010.11929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Partimos de lo que ya conocen sobre tokens y embeddings. En un LLM generativo de texto, el tokenizador transforma el texto en identificadores de un vocabulario: pueden representar partes de palabras, palabras o signos. Esos identificadores se convierten en vectores. En ViT la entrada viene de otra fuente: bloques de píxeles que se proyectan a vectores. Un parche no es una palabra ni necesariamente un objeto.</a:t>
            </a:r>
          </a:p>
          <a:p xmlns:a="http://schemas.openxmlformats.org/drawingml/2006/main">
            <a:r>
              <a:t/>
            </a:r>
          </a:p>
          <a:p xmlns:a="http://schemas.openxmlformats.org/drawingml/2006/main">
            <a:r>
              <a:t>También cambia la tarea y el uso de la atención. Un LLM causal genera el próximo token usando el contexto anterior y repite el proceso. Durante el entrenamiento se usa una máscara para impedir que una posición acceda a tokens futuros. En el encoder del ViT clásico, los tokens visuales pueden combinar información de toda la secuencia. Después nuestra cabeza de clasificación obtiene scores; no va escribiendo una frase token por token.</a:t>
            </a:r>
          </a:p>
          <a:p xmlns:a="http://schemas.openxmlformats.org/drawingml/2006/main">
            <a:r>
              <a:t/>
            </a:r>
          </a:p>
          <a:p xmlns:a="http://schemas.openxmlformats.org/drawingml/2006/main">
            <a:r>
              <a:t>Aclaremos una distinción conectada con BERT: no todos los transformers de texto son generadores causales. BERT también utiliza un encoder con acceso bidireccional al contexto. Por eso no conviene decir que todo transformer genera texto. Transformer nombra una familia de arquitecturas; entrada, entrenamiento y cabeza de salida definen qué hacemos con ella.</a:t>
            </a:r>
          </a:p>
          <a:p xmlns:a="http://schemas.openxmlformats.org/drawingml/2006/main">
            <a:r>
              <a:t/>
            </a:r>
          </a:p>
          <a:p xmlns:a="http://schemas.openxmlformats.org/drawingml/2006/main">
            <a:r>
              <a:t>Pregunta: si cambio draw en OF, ¿cambio los pesos del modelo? No: cambio la representación del resultado.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transformer no recibe la fotografía como una experiencia visual humana. En este ViT, primero llevamos la imagen a 224 por 224 píxeles y la dividimos en parches de 16 por 16. Como 224 dividido por 16 es 14, hay 14 por 14, es decir, 196 parches. Imaginen un mosaico: cada pieza conserva colores y texturas locales. Un parche no equivale necesariamente a un objeto: una taza puede ocupar muchas piezas y una pieza puede incluir fondo y taza. La cuadrícula que mostramos en OF representa esta división de entrada, no dónde miró el modelo ni una segmentación.</a:t>
            </a:r>
          </a:p>
          <a:p xmlns:a="http://schemas.openxmlformats.org/drawingml/2006/main">
            <a:r>
              <a:t>Fuente: ViT: arxiv.org/abs/2010.11929 · checkpoint de Google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Cada parche RGB contiene 16 por 16 por 3 valores. Una proyección aprendida transforma esa información en un vector; a la representación se agrega información de posición. La analogía es una pieza de rompecabezas con una ficha numérica y una dirección. La ficha describe rasgos útiles; la dirección permite distinguir arriba de abajo. Los números no son etiquetas legibles como rojo o taza: fueron aprendidos durante el entrenamiento. Este modelo agrega también un token de clasificación, CLS, cuya representación final se utiliza para clasificar la imagen. No confundir esta organización con la de todos los modelos visuales: otros usan resoluciones y secuencias distintas.</a:t>
            </a:r>
          </a:p>
          <a:p xmlns:a="http://schemas.openxmlformats.org/drawingml/2006/main">
            <a:r>
              <a:t>Fuente: huggingface.co/docs/transformers/model_doc/vit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autoatención permite que una representación combine información de otras posiciones. Piensen en un grupo que arma un rompecabezas: una pieza puede ser ambigua sola, pero su relación con las demás ayuda a interpretarla. En el modelo esto ocurre mediante operaciones numéricas aprendidas, no una conversación ni una mirada consciente. Hay distintas cabezas y capas; no existe necesariamente una única zona responsable de una decisión. La matriz de esta diapositiva es ilustrativa, no salió del modelo. Nuestro ejemplo no extrae atención: presionar P solo superpone la cuadrícula de parches.</a:t>
            </a:r>
          </a:p>
          <a:p xmlns:a="http://schemas.openxmlformats.org/drawingml/2006/main">
            <a:r>
              <a:t>Fuente: ViT: arxiv.org/abs/2010.11929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entender atención sin perderse en las fórmulas, pensemos en una búsqueda dentro de una colección de fichas. Cada token produce tres representaciones mediante transformaciones aprendidas: una consulta Q, una clave K y un contenido V. Las preguntas escritas en la diapositiva son una analogía; el modelo no formula preguntas conscientes.</a:t>
            </a:r>
          </a:p>
          <a:p xmlns:a="http://schemas.openxmlformats.org/drawingml/2006/main">
            <a:r>
              <a:t/>
            </a:r>
          </a:p>
          <a:p xmlns:a="http://schemas.openxmlformats.org/drawingml/2006/main">
            <a:r>
              <a:t>Se comparan consultas con claves mediante productos escalares. Se divide por la raíz de la dimensión de la clave para ajustar la escala. Softmax convierte esas comparaciones en pesos por fila. Con esos pesos se calcula una suma ponderada de los contenidos V. Así cada posición recibe una mezcla de información de otras posiciones, incluida potencialmente ella misma.</a:t>
            </a:r>
          </a:p>
          <a:p xmlns:a="http://schemas.openxmlformats.org/drawingml/2006/main">
            <a:r>
              <a:t/>
            </a:r>
          </a:p>
          <a:p xmlns:a="http://schemas.openxmlformats.org/drawingml/2006/main">
            <a:r>
              <a:t>Estos pesos de atención se calculan para la entrada actual. No confundirlos con los parámetros entrenados que se descargan: las matrices que producen Q, K y V son parámetros; la matriz de atención es un resultado intermedio de la inferencia. Varias cabezas permiten aprender relaciones diferentes, y sus resultados se combinan.</a:t>
            </a:r>
          </a:p>
          <a:p xmlns:a="http://schemas.openxmlformats.org/drawingml/2006/main">
            <a:r>
              <a:t/>
            </a:r>
          </a:p>
          <a:p xmlns:a="http://schemas.openxmlformats.org/drawingml/2006/main">
            <a:r>
              <a:t>No necesitamos programar estas operaciones a mano para usar el modelo: las ejecuta la librería. Tampoco un mapa de atención demuestra por sí solo la causa de una predicción. Nuestro ejemplo no extrae ese mapa: la tecla P solamente muestra parches de entrada.</a:t>
            </a:r>
          </a:p>
          <a:p xmlns:a="http://schemas.openxmlformats.org/drawingml/2006/main">
            <a:r>
              <a:t/>
            </a:r>
          </a:p>
          <a:p xmlns:a="http://schemas.openxmlformats.org/drawingml/2006/main">
            <a:r>
              <a:t>Fuente: https://arxiv.org/abs/2010.11929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Veamos qué ocurre dentro de la caja que hasta ahora llamábamos encoder. Nuestro checkpoint recibe 196 tokens de parches más CLS: 197 posiciones. Cada representación tiene 768 componentes. Son dimensiones de este ViT Base, no de todos los modelos visuales.</a:t>
            </a:r>
          </a:p>
          <a:p xmlns:a="http://schemas.openxmlformats.org/drawingml/2006/main">
            <a:r>
              <a:t/>
            </a:r>
          </a:p>
          <a:p xmlns:a="http://schemas.openxmlformats.org/drawingml/2006/main">
            <a:r>
              <a:t>Un bloque normaliza las representaciones y aplica atención. Luego suma la entrada del subbloque mediante una conexión residual. Después vuelve a normalizar y aplica una red pequeña llamada MLP a cada token, con los mismos parámetros en todas las posiciones. Finalmente suma otra conexión residual. La atención mezcla información entre posiciones; el MLP transforma las características de cada posición. No mezclemos esos dos roles.</a:t>
            </a:r>
          </a:p>
          <a:p xmlns:a="http://schemas.openxmlformats.org/drawingml/2006/main">
            <a:r>
              <a:t/>
            </a:r>
          </a:p>
          <a:p xmlns:a="http://schemas.openxmlformats.org/drawingml/2006/main">
            <a:r>
              <a:t>La conexión residual se puede imaginar como trabajar sobre una copia conservando una vía directa desde la versión anterior: el resultado combina la entrada con la transformación aprendida. El diagrama muestra las sumas en secuencia; cada suma recibe también esa vía directa.</a:t>
            </a:r>
          </a:p>
          <a:p xmlns:a="http://schemas.openxmlformats.org/drawingml/2006/main">
            <a:r>
              <a:t/>
            </a:r>
          </a:p>
          <a:p xmlns:a="http://schemas.openxmlformats.org/drawingml/2006/main">
            <a:r>
              <a:t>ViT Base repite este bloque doce veces y cada bloque tiene doce cabezas de atención. Una capa no es una pasada de entrenamiento: son partes de la arquitectura que se ejecutan en cada inferencia. Al final hay una normalización y se toma la representación CLS para la cabeza de clasificación. El diagrama simplifica esos detalles finales porque aquí estudiamos un bloque.</a:t>
            </a:r>
          </a:p>
          <a:p xmlns:a="http://schemas.openxmlformats.org/drawingml/2006/main">
            <a:r>
              <a:t/>
            </a:r>
          </a:p>
          <a:p xmlns:a="http://schemas.openxmlformats.org/drawingml/2006/main">
            <a:r>
              <a:t>Como analogía, no es mirar doce imágenes diferentes: es refinar doce veces las representaciones de la misma imagen. Configuración comprobada en el checkpoint local.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representación final pasa por una cabeza de clasificación. Esta produce un valor por categoría, llamado logit. Softmax transforma esos valores en scores que suman uno sobre las mil clases. Mostramos las cinco mayores, no cinco objetos detectados. La analogía es una pregunta de opción múltiple: aunque ninguna opción sea perfecta, el sistema tiene que repartir puntaje entre las opciones disponibles. Un 80 por ciento de score no significa que el sistema tenga una exactitud universal del 80 por ciento. Tampoco significa que ese porcentaje de la imagen contenga el objeto. Las barras aquí son didácticas, no un resultado experimental.</a:t>
            </a:r>
          </a:p>
          <a:p xmlns:a="http://schemas.openxmlformats.org/drawingml/2006/main">
            <a:r>
              <a:t>Fuente: google/vit-base-patch16-224 · clasificación ImageNet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Retomemos la distinción entre entrenamiento e inferencia. Entrenar es como ajustar una máquina a partir de muchos ejemplos; inferir es usar esa configuración para procesar un caso nuevo. ViT Base fue preentrenado y luego ajustado para clasificar las categorías de ImageNet. Descargamos esos pesos, su configuración y el preprocesador correspondiente. Nuestro código usa eval e inference_mode: no calcula actualizaciones de los pesos. Cambiar la imagen, la pregunta o el dibujo de OF no es entrenar. Eso permite prototipar con poco trabajo inicial, pero también hereda las categorías y limitaciones del modelo que eligió otra persona.</a:t>
            </a:r>
          </a:p>
          <a:p xmlns:a="http://schemas.openxmlformats.org/drawingml/2006/main">
            <a:r>
              <a:t>Fuente: huggingface.co/google/vit-base-patch16-224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Abrimos visionViT con el servicio Python activo. Primero observen la imagen sintética incluida: no esperamos que ViT tenga una clase exacta para un círculo y un cuadrado. Después cargamos una foto propia o activamos la cámara con C. Enter captura una imagen y la envía una vez. La respuesta queda asociada a esa captura, aunque la webcam siga adquiriendo nuevos frames. Cambiemos fondo, distancia o iluminación y comparemos el ranking. El objetivo no es celebrar solo el acierto, sino estudiar qué cambia la respuesta. En el código, send prepara la imagen, response recibe categorías y draw las representa como barras.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Propongan un experimento pequeño: mantener el objeto y cambiar el fondo; luego mantener el fondo y variar el encuadre. Es como reconocer una canción con ruido: podemos apoyarnos en señales que no son las que pretendíamos evaluar. Hay que distinguir lo que creemos que mostramos de lo que realmente contienen los píxeles. Un ranking extraño puede indicar que la categoría no existe en ImageNet, que el objeto quedó pequeño o que el modelo usa otra pista. Guardemos las imágenes y las respuestas para comparar; tres fotos no constituyen un benchmark. Volvemos así a la clase de datos: procedencia, cobertura y evaluación importan también al usar un modelo descargado.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modelo de visión y lenguaje recibe información visual y texto. En términos generales hay un encoder visual que obtiene representaciones y mecanismos entrenados para incorporarlas al modelo de lenguaje. La analogía es una conversación en la que ambos miramos una fotografía: la pregunta cambia qué aspecto intentamos describir. Pero el modelo no tiene nuestra percepción completa ni experiencia fuera de esa imagen. Qwen3-VL puede generar una respuesta abierta, no solo elegir una de mil etiquetas. La salida de este ejemplo sigue siendo texto: recibir imágenes no significa generar imágenes. Aquí enviamos una sola captura por pedido, no una conversación con memoria visual persistente.</a:t>
            </a:r>
          </a:p>
          <a:p xmlns:a="http://schemas.openxmlformats.org/drawingml/2006/main">
            <a:r>
              <a:t>Fuente: Qwen/Qwen3-VL-2B-Instruct · ficha del modelo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tabla reúne la diferencia que necesitamos para programar. visionViT manda una imagen y recibe un ranking entre clases que quedaron fijadas al entrenar el clasificador. No tiene un campo de pregunta que cambie esas categorías. Esas categorías y scores son fáciles de convertir en reglas de dibujo.</a:t>
            </a:r>
          </a:p>
          <a:p xmlns:a="http://schemas.openxmlformats.org/drawingml/2006/main">
            <a:r>
              <a:t/>
            </a:r>
          </a:p>
          <a:p xmlns:a="http://schemas.openxmlformats.org/drawingml/2006/main">
            <a:r>
              <a:t>visionChat manda una imagen y una pregunta a Qwen3-VL. El modelo incorpora información visual al procesamiento del lenguaje y genera texto. Esa salida es más flexible, pero también exige decidir cómo usarla: mostrarla como texto es distinto de dejar que controle una escena. Si queremos acciones automáticas, debemos definir campos, rangos y validación.</a:t>
            </a:r>
          </a:p>
          <a:p xmlns:a="http://schemas.openxmlformats.org/drawingml/2006/main">
            <a:r>
              <a:t/>
            </a:r>
          </a:p>
          <a:p xmlns:a="http://schemas.openxmlformats.org/drawingml/2006/main">
            <a:r>
              <a:t>Una aclaración fundamental: Vision Transformer y modelo multimodal no son etiquetas opuestas. ViT describe una arquitectura visual; multimodal describe el manejo de distintas modalidades. Qwen3-VL también incorpora un encoder visual basado en transformer. Nuestro ViT Base clasificador es un checkpoint independiente; no es el encoder de Qwen conectado desde afuera.</a:t>
            </a:r>
          </a:p>
          <a:p xmlns:a="http://schemas.openxmlformats.org/drawingml/2006/main">
            <a:r>
              <a:t/>
            </a:r>
          </a:p>
          <a:p xmlns:a="http://schemas.openxmlformats.org/drawingml/2006/main">
            <a:r>
              <a:t>Pensemos en una caja de herramientas: un modelo multimodal puede incluir una herramienta de visión dentro de un sistema entrenado para relacionarla con lenguaje. Tampoco implica que pueda generar cualquier modalidad: este ejemplo recibe imagen y devuelve texto, no píxeles nuevos.</a:t>
            </a:r>
          </a:p>
          <a:p xmlns:a="http://schemas.openxmlformats.org/drawingml/2006/main">
            <a:r>
              <a:t/>
            </a:r>
          </a:p>
          <a:p xmlns:a="http://schemas.openxmlformats.org/drawingml/2006/main">
            <a:r>
              <a:t>Consigna: mostrar la misma foto a ambos ejemplos y comparar tanto el contenido como la estructura de las respuestas. Fuente: https://huggingface.co/Qwen/Qwen3-VL-2B-Instruct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Conviene separar tres ideas que suelen mezclarse. Un modelo multimodal fue construido para manejar más de una modalidad. Una cadena conecta herramientas: un reconocedor de voz entrega texto y otro modelo lo procesa. La cadena puede ofrecer una experiencia multimodal aunque cada componente tenga una tarea específica. Generar imágenes es otra capacidad: nuestro Qwen describe una imagen, no produce un archivo visual. Y cuando el LLM elige una paleta para OF, es el programa el que dibuja. Podemos combinar estas piezas, pero debemos decir con precisión dónde ocurre cada operación y qué parte fue diseñada por nosotros.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 visionChat cargamos una imagen y escribimos una pregunta. Podemos pedir una descripción literal, consultar un detalle o solicitar un título creativo. Esa diferencia debe quedar clara: inventar un título es parte de la consigna; inventar un objeto en una descripción factual es un error. Probemos ambas cosas y contrastemos la salida con la captura enviada. El modelo puede fallar en detalles pequeños, conteo o texto poco legible. Este ejemplo no conserva historial: cada pregunta se envía con su imagen y es independiente. Después de recibir el texto completo, OF lo revela progresivamente; el indicador Escribiendo es presentación local, no tokens llegando por streaming.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arquitectura cambia según la herramienta que ejecuta el modelo. ViT se ejecuta en PyTorch, dentro del servicio Python que escucha en 127.0.0.1:8768. visionViT le envía una imagen por HTTP y recibe categorías. Qwen3-VL se ejecuta en Ollama, en 127.0.0.1:11434; visionChat lo consulta directamente. Localhost significa esta misma computadora. No hay un servidor MVE ni Docker. La analogía es un edificio con dos oficinas: comparten dirección física, pero tienen puertas distintas, los puertos, y responden pedidos distintos. El addon transporta las solicitudes; el sketch decide cuándo enviarlas y qué hacer con ellas.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Ollama no puede abrir una ruta que solo existe en otra computadora. Por eso el mensaje REST lleva los bytes de la imagen codificados en base64. Es como meter la fotografía dentro del sobre en lugar de escribir dónde estaba guardada. Base64 no cifra ni comprime: permite representar bytes como texto dentro del JSON. Primero reducimos el tamaño y codificamos JPEG; luego agregamos images al mensaje user junto con content, la pregunta. Observen la diferencia entre transporte y modelo: preparar el JSON no hace inferencia. La respuesta aparece en body.message.content y nuestro código decide cómo mostrarla.</a:t>
            </a:r>
          </a:p>
          <a:p xmlns:a="http://schemas.openxmlformats.org/drawingml/2006/main">
            <a:r>
              <a:t>Fuente: docs.ollama.com/capabilities/vision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aplicación de OF intenta dibujar a 60 FPS, pero eso no significa que el modelo responda 60 veces por segundo. Imaginen pedir un libro en un mostrador: mientras lo buscan, la sala no se detiene. El addon hace HTTP en un hilo de trabajo y entrega el resultado desde update en el hilo principal. Permitimos una solicitud pendiente por cliente y capturamos una imagen al presionar Enter. Mientras esperamos mostramos actividad; al recibir la respuesta validamos antes de usarla. No prometemos tiempo real de inferencia: depende del modelo, la imagen, la GPU, la CPU y la memoria disponible.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GPU y CPU son lugares donde se hacen las operaciones; no cambian la interfaz HTTP que utiliza el alumno. La analogía es cocinar la misma receta en cocinas con distinto equipamiento. Para ViT, el código prueba CUDA, luego MPS y finalmente CPU; si la operación automática en GPU falla, puede reintentar en CPU. Ollama usa su propio mecanismo y no depende del entorno PyTorch. El tamaño descargado tampoco es la RAM total necesaria: hay representaciones intermedias y contexto. En equipos limitados conviene usar un ejemplo a la vez y reducir imágenes. La prueba nativa realizada corresponde a macOS; los scripts de otros sistemas requieren comprobación en sus equipos.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carpeta conserva los instaladores de la clase anterior. Agregamos --vision en macOS y Linux, o -Vision en Windows. Así no obligamos a descargar varios gigabytes a quien solo usará el chat de texto. Se prepara un entorno .venv-vision separado para no mezclar PyTorch y Transformers con las dependencias de Gradio. El instalador descarga los pesos de ViT en models y Qwen3-VL Instruct en Ollama. La etiqueta Instruct está fijada porque la etiqueta genérica 2b puede corresponder a Thinking y tardar mucho más. Se necesita internet durante la preparación, no para cada consulta local. OF y el compilador se instalan aparte.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Copiamos ofxLocalLLM actualizado a addons y las dos carpetas de ejemplo completas a apps/myApps. En Project Generator importamos cada proyecto existente. Project path debe ser apps/myApps; Project name será visionViT o visionChat. Si ponemos también el nombre dentro de la ruta y dejamos mySketch, podemos terminar compilando otra plantilla vacía, que se ve gris. Ambos ejemplos seleccionan solamente ofxLocalLLM: no necesitan ofxOsc ni ofxBox2d. Para ViT dejamos abierto start_vision y esperamos que el servidor esté listo. Para visionChat alcanza con Ollama activo. La configuración se lee desde bin/data/connection.json de cada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consigna no termina en abrir una demo. Cada pareja elige una imagen, compara las respuestas de ambos modelos y diseña una consecuencia visual propia. Por ejemplo, usar el ranking para ordenar palabras o usar una descripción para proponer un título. Si quieren controlar una escena física, pueden construir un contrato explícito y conectar datos validados con llmStage: esa combinación es una extensión, no está ya conectada en estos ejemplos. Pedimos registrar una respuesta útil y una que falle, y explicar qué hizo el modelo y qué programaron ustedes. Primero modificar draw o el mapeo en response; después cambiar el contrato si hace falta.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a:off x="0" y="0"/>
          <a:ext cx="0" cy="0"/>
          <a:chOff x="0" y="0"/>
          <a:chExt cx="0" cy="0"/>
        </a:xfrm>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Ambos modelos elegidos publican pesos bajo Apache 2.0 y pueden usarse localmente sin pagar por consulta a una API. Eso no elimina el costo del equipo ni vuelve transparente todo el conjunto de entrenamiento. Dejamos las fuentes primarias para consultar arquitectura, licencia y uso exacto. Para continuar podemos estudiar detección, segmentación y seguimiento con modelos específicos, o combinar voz, visión, lenguaje y física. La idea central se mantiene: elegir la tarea, conocer el contrato de entrada y salida, evaluar la respuesta y diseñar la interacción. Una interfaz convincente no demuestra que el modelo tenga razón.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p="http://schemas.openxmlformats.org/presentationml/2006/main" showMasterSp="0">
  <p:cSld>
    <p:bg>
      <p:bgPr>
        <a:solidFill xmlns:a="http://schemas.openxmlformats.org/drawingml/2006/main">
          <a:srgbClr val="211D37"/>
        </a:solidFill>
      </p:bgPr>
    </p:bg>
    <p:spTree>
      <p:nvGrpSpPr>
        <p:cNvPr id="9" name=""/>
        <p:cNvGrpSpPr/>
        <p:nvPr/>
      </p:nvGrpSpPr>
      <p:grpSpPr>
        <a:xfrm xmlns:a="http://schemas.openxmlformats.org/drawingml/2006/main">
          <a:off x="0" y="0"/>
          <a:ext cx="0" cy="0"/>
          <a:chOff x="0" y="0"/>
          <a:chExt cx="0" cy="0"/>
        </a:xfrm>
      </p:grpSpPr>
      <p:sp>
        <p:nvSpPr>
          <p:cNvPr id="1" name="text-1"/>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3" name="shape-3"/>
          <p:cNvSpPr>
            <a:spLocks xmlns:a="http://schemas.openxmlformats.org/drawingml/2006/main" noGrp="1"/>
          </p:cNvSpPr>
          <p:nvPr/>
        </p:nvSpPr>
        <p:spPr>
          <a:xfrm xmlns:a="http://schemas.openxmlformats.org/drawingml/2006/main">
            <a:off x="0" y="0"/>
            <a:ext cx="12192000" cy="6381750"/>
          </a:xfrm>
          <a:prstGeom xmlns:a="http://schemas.openxmlformats.org/drawingml/2006/main" prst="rect">
            <a:avLst/>
          </a:prstGeom>
          <a:gradFill xmlns:a="http://schemas.openxmlformats.org/drawingml/2006/main">
            <a:gsLst>
              <a:gs pos="0">
                <a:srgbClr val="211D37"/>
              </a:gs>
              <a:gs pos="55000">
                <a:srgbClr val="211D37"/>
              </a:gs>
              <a:gs pos="100000">
                <a:srgbClr val="473074"/>
              </a:gs>
            </a:gsLst>
            <a:lin ang="7200000"/>
          </a:gradFill>
          <a:ln xmlns:a="http://schemas.openxmlformats.org/drawingml/2006/main" w="0">
            <a:noFill/>
            <a:prstDash val="solid"/>
          </a:ln>
        </p:spPr>
      </p:sp>
      <p:sp>
        <p:nvSpPr>
          <p:cNvPr id="4" name="text-4"/>
          <p:cNvSpPr>
            <a:spLocks xmlns:a="http://schemas.openxmlformats.org/drawingml/2006/main" noGrp="1"/>
          </p:cNvSpPr>
          <p:nvPr/>
        </p:nvSpPr>
        <p:spPr>
          <a:xfrm xmlns:a="http://schemas.openxmlformats.org/drawingml/2006/main">
            <a:off x="609600" y="704850"/>
            <a:ext cx="10477500" cy="361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DE LA IMAGEN A LA EXPERIENCIA</a:t>
            </a:r>
          </a:p>
        </p:txBody>
      </p:sp>
      <p:sp>
        <p:nvSpPr>
          <p:cNvPr id="5" name="text-5"/>
          <p:cNvSpPr>
            <a:spLocks xmlns:a="http://schemas.openxmlformats.org/drawingml/2006/main" noGrp="1"/>
          </p:cNvSpPr>
          <p:nvPr/>
        </p:nvSpPr>
        <p:spPr>
          <a:xfrm xmlns:a="http://schemas.openxmlformats.org/drawingml/2006/main">
            <a:off x="609600" y="1714500"/>
            <a:ext cx="10763250" cy="2000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4650" b="1">
                <a:solidFill>
                  <a:srgbClr val="FFFFFF"/>
                </a:solidFill>
                <a:latin typeface="Poppins"/>
                <a:ea typeface="Poppins"/>
                <a:cs typeface="Poppins"/>
              </a:defRPr>
            </a:pPr>
            <a:r>
              <a:rPr sz="4650" b="1">
                <a:solidFill>
                  <a:srgbClr val="FFFFFF"/>
                </a:solidFill>
                <a:latin typeface="Poppins"/>
                <a:ea typeface="Poppins"/>
                <a:cs typeface="Poppins"/>
              </a:rPr>
              <a:t>Visión con transformers</a:t>
            </a:r>
          </a:p>
          <a:p xmlns:a="http://schemas.openxmlformats.org/drawingml/2006/main">
            <a:pPr>
              <a:buNone/>
              <a:defRPr sz="4650" b="1">
                <a:solidFill>
                  <a:srgbClr val="FFFFFF"/>
                </a:solidFill>
                <a:latin typeface="Poppins"/>
                <a:ea typeface="Poppins"/>
                <a:cs typeface="Poppins"/>
              </a:defRPr>
            </a:pPr>
            <a:r>
              <a:rPr sz="4650" b="1">
                <a:solidFill>
                  <a:srgbClr val="FFFFFF"/>
                </a:solidFill>
                <a:latin typeface="Poppins"/>
                <a:ea typeface="Poppins"/>
                <a:cs typeface="Poppins"/>
              </a:rPr>
              <a:t>y modelos multimodales</a:t>
            </a:r>
          </a:p>
        </p:txBody>
      </p:sp>
      <p:sp>
        <p:nvSpPr>
          <p:cNvPr id="6" name="text-6"/>
          <p:cNvSpPr>
            <a:spLocks xmlns:a="http://schemas.openxmlformats.org/drawingml/2006/main" noGrp="1"/>
          </p:cNvSpPr>
          <p:nvPr/>
        </p:nvSpPr>
        <p:spPr>
          <a:xfrm xmlns:a="http://schemas.openxmlformats.org/drawingml/2006/main">
            <a:off x="609600" y="4238625"/>
            <a:ext cx="105727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2DD5B5"/>
                </a:solidFill>
                <a:latin typeface="Poppins"/>
                <a:ea typeface="Poppins"/>
                <a:cs typeface="Poppins"/>
              </a:defRPr>
            </a:pPr>
            <a:r>
              <a:rPr sz="2100" b="1">
                <a:solidFill>
                  <a:srgbClr val="2DD5B5"/>
                </a:solidFill>
                <a:latin typeface="Poppins"/>
                <a:ea typeface="Poppins"/>
                <a:cs typeface="Poppins"/>
              </a:rPr>
              <a:t>DOS EJEMPLOS LOCALES · ViT + Qwen3-VL</a:t>
            </a:r>
          </a:p>
        </p:txBody>
      </p:sp>
      <p:sp>
        <p:nvSpPr>
          <p:cNvPr id="7" name="text-7"/>
          <p:cNvSpPr>
            <a:spLocks xmlns:a="http://schemas.openxmlformats.org/drawingml/2006/main" noGrp="1"/>
          </p:cNvSpPr>
          <p:nvPr/>
        </p:nvSpPr>
        <p:spPr>
          <a:xfrm xmlns:a="http://schemas.openxmlformats.org/drawingml/2006/main">
            <a:off x="609600" y="4953000"/>
            <a:ext cx="108585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0">
                <a:solidFill>
                  <a:srgbClr val="D0C9DB"/>
                </a:solidFill>
                <a:latin typeface="Poppins"/>
                <a:ea typeface="Poppins"/>
                <a:cs typeface="Poppins"/>
              </a:defRPr>
            </a:pPr>
            <a:r>
              <a:rPr sz="2025" b="0">
                <a:solidFill>
                  <a:srgbClr val="D0C9DB"/>
                </a:solidFill>
                <a:latin typeface="Poppins"/>
                <a:ea typeface="Poppins"/>
                <a:cs typeface="Poppins"/>
              </a:rPr>
              <a:t>Imagen → categorías     /     Imagen + pregunta → texto</a:t>
            </a:r>
          </a:p>
        </p:txBody>
      </p:sp>
      <p:sp>
        <p:nvSpPr>
          <p:cNvPr id="8"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01</a:t>
            </a:r>
          </a:p>
        </p:txBody>
      </p:sp>
    </p:spTree>
  </p:cSld>
</p:sld>
</file>

<file path=ppt/slides/slide2.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31" name=""/>
        <p:cNvGrpSpPr/>
        <p:nvPr/>
      </p:nvGrpSpPr>
      <p:grpSpPr>
        <a:xfrm xmlns:a="http://schemas.openxmlformats.org/drawingml/2006/main">
          <a:off x="0" y="0"/>
          <a:ext cx="0" cy="0"/>
          <a:chOff x="0" y="0"/>
          <a:chExt cx="0" cy="0"/>
        </a:xfrm>
      </p:grpSpPr>
      <p:sp>
        <p:nvSpPr>
          <p:cNvPr id="1" name="shape-8"/>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9"/>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ELEGIR LA TAREA</a:t>
            </a:r>
          </a:p>
        </p:txBody>
      </p:sp>
      <p:sp>
        <p:nvSpPr>
          <p:cNvPr id="3" name="text-10"/>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“Visión” no significa una sola cosa</a:t>
            </a:r>
          </a:p>
        </p:txBody>
      </p:sp>
      <p:sp>
        <p:nvSpPr>
          <p:cNvPr id="4" name="shape-11"/>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12"/>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14"/>
          <p:cNvSpPr>
            <a:spLocks xmlns:a="http://schemas.openxmlformats.org/drawingml/2006/main" noGrp="1"/>
          </p:cNvSpPr>
          <p:nvPr/>
        </p:nvSpPr>
        <p:spPr>
          <a:xfrm xmlns:a="http://schemas.openxmlformats.org/drawingml/2006/main">
            <a:off x="609600" y="1876425"/>
            <a:ext cx="29527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00" b="1">
                <a:solidFill>
                  <a:srgbClr val="2DD5B5"/>
                </a:solidFill>
                <a:latin typeface="Poppins"/>
                <a:ea typeface="Poppins"/>
                <a:cs typeface="Poppins"/>
              </a:defRPr>
            </a:pPr>
            <a:r>
              <a:rPr sz="1200" b="1">
                <a:solidFill>
                  <a:srgbClr val="2DD5B5"/>
                </a:solidFill>
                <a:latin typeface="Poppins"/>
                <a:ea typeface="Poppins"/>
                <a:cs typeface="Poppins"/>
              </a:rPr>
              <a:t>TAREA</a:t>
            </a:r>
          </a:p>
        </p:txBody>
      </p:sp>
      <p:sp>
        <p:nvSpPr>
          <p:cNvPr id="8" name="text-15"/>
          <p:cNvSpPr>
            <a:spLocks xmlns:a="http://schemas.openxmlformats.org/drawingml/2006/main" noGrp="1"/>
          </p:cNvSpPr>
          <p:nvPr/>
        </p:nvSpPr>
        <p:spPr>
          <a:xfrm xmlns:a="http://schemas.openxmlformats.org/drawingml/2006/main">
            <a:off x="3810000" y="1876425"/>
            <a:ext cx="400050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00" b="1">
                <a:solidFill>
                  <a:srgbClr val="BFA0FF"/>
                </a:solidFill>
                <a:latin typeface="Poppins"/>
                <a:ea typeface="Poppins"/>
                <a:cs typeface="Poppins"/>
              </a:defRPr>
            </a:pPr>
            <a:r>
              <a:rPr sz="1200" b="1">
                <a:solidFill>
                  <a:srgbClr val="BFA0FF"/>
                </a:solidFill>
                <a:latin typeface="Poppins"/>
                <a:ea typeface="Poppins"/>
                <a:cs typeface="Poppins"/>
              </a:rPr>
              <a:t>PREGUNTA</a:t>
            </a:r>
          </a:p>
        </p:txBody>
      </p:sp>
      <p:sp>
        <p:nvSpPr>
          <p:cNvPr id="9" name="text-16"/>
          <p:cNvSpPr>
            <a:spLocks xmlns:a="http://schemas.openxmlformats.org/drawingml/2006/main" noGrp="1"/>
          </p:cNvSpPr>
          <p:nvPr/>
        </p:nvSpPr>
        <p:spPr>
          <a:xfrm xmlns:a="http://schemas.openxmlformats.org/drawingml/2006/main">
            <a:off x="8143875" y="1876425"/>
            <a:ext cx="3381375"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00" b="1">
                <a:solidFill>
                  <a:srgbClr val="BFA0FF"/>
                </a:solidFill>
                <a:latin typeface="Poppins"/>
                <a:ea typeface="Poppins"/>
                <a:cs typeface="Poppins"/>
              </a:defRPr>
            </a:pPr>
            <a:r>
              <a:rPr sz="1200" b="1">
                <a:solidFill>
                  <a:srgbClr val="BFA0FF"/>
                </a:solidFill>
                <a:latin typeface="Poppins"/>
                <a:ea typeface="Poppins"/>
                <a:cs typeface="Poppins"/>
              </a:rPr>
              <a:t>SALIDA</a:t>
            </a:r>
          </a:p>
        </p:txBody>
      </p:sp>
      <p:sp>
        <p:nvSpPr>
          <p:cNvPr id="10" name="shape-17"/>
          <p:cNvSpPr>
            <a:spLocks xmlns:a="http://schemas.openxmlformats.org/drawingml/2006/main" noGrp="1"/>
          </p:cNvSpPr>
          <p:nvPr/>
        </p:nvSpPr>
        <p:spPr>
          <a:xfrm xmlns:a="http://schemas.openxmlformats.org/drawingml/2006/main">
            <a:off x="609600" y="223837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1" name="text-18"/>
          <p:cNvSpPr>
            <a:spLocks xmlns:a="http://schemas.openxmlformats.org/drawingml/2006/main" noGrp="1"/>
          </p:cNvSpPr>
          <p:nvPr/>
        </p:nvSpPr>
        <p:spPr>
          <a:xfrm xmlns:a="http://schemas.openxmlformats.org/drawingml/2006/main">
            <a:off x="609600" y="2314575"/>
            <a:ext cx="278130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Clasificación · este ViT</a:t>
            </a:r>
          </a:p>
        </p:txBody>
      </p:sp>
      <p:sp>
        <p:nvSpPr>
          <p:cNvPr id="12" name="text-19"/>
          <p:cNvSpPr>
            <a:spLocks xmlns:a="http://schemas.openxmlformats.org/drawingml/2006/main" noGrp="1"/>
          </p:cNvSpPr>
          <p:nvPr/>
        </p:nvSpPr>
        <p:spPr>
          <a:xfrm xmlns:a="http://schemas.openxmlformats.org/drawingml/2006/main">
            <a:off x="3810000" y="2314575"/>
            <a:ext cx="382905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¿Qué categoría describe la imagen?</a:t>
            </a:r>
          </a:p>
        </p:txBody>
      </p:sp>
      <p:sp>
        <p:nvSpPr>
          <p:cNvPr id="13" name="text-20"/>
          <p:cNvSpPr>
            <a:spLocks xmlns:a="http://schemas.openxmlformats.org/drawingml/2006/main" noGrp="1"/>
          </p:cNvSpPr>
          <p:nvPr/>
        </p:nvSpPr>
        <p:spPr>
          <a:xfrm xmlns:a="http://schemas.openxmlformats.org/drawingml/2006/main">
            <a:off x="8143875" y="2314575"/>
            <a:ext cx="3209925"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Etiqueta + score</a:t>
            </a:r>
          </a:p>
        </p:txBody>
      </p:sp>
      <p:sp>
        <p:nvSpPr>
          <p:cNvPr id="14" name="shape-21"/>
          <p:cNvSpPr>
            <a:spLocks xmlns:a="http://schemas.openxmlformats.org/drawingml/2006/main" noGrp="1"/>
          </p:cNvSpPr>
          <p:nvPr/>
        </p:nvSpPr>
        <p:spPr>
          <a:xfrm xmlns:a="http://schemas.openxmlformats.org/drawingml/2006/main">
            <a:off x="609600" y="298132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5" name="text-22"/>
          <p:cNvSpPr>
            <a:spLocks xmlns:a="http://schemas.openxmlformats.org/drawingml/2006/main" noGrp="1"/>
          </p:cNvSpPr>
          <p:nvPr/>
        </p:nvSpPr>
        <p:spPr>
          <a:xfrm xmlns:a="http://schemas.openxmlformats.org/drawingml/2006/main">
            <a:off x="609600" y="3057525"/>
            <a:ext cx="278130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Detección</a:t>
            </a:r>
          </a:p>
        </p:txBody>
      </p:sp>
      <p:sp>
        <p:nvSpPr>
          <p:cNvPr id="16" name="text-23"/>
          <p:cNvSpPr>
            <a:spLocks xmlns:a="http://schemas.openxmlformats.org/drawingml/2006/main" noGrp="1"/>
          </p:cNvSpPr>
          <p:nvPr/>
        </p:nvSpPr>
        <p:spPr>
          <a:xfrm xmlns:a="http://schemas.openxmlformats.org/drawingml/2006/main">
            <a:off x="3810000" y="3057525"/>
            <a:ext cx="382905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¿Dónde están los objetos?</a:t>
            </a:r>
          </a:p>
        </p:txBody>
      </p:sp>
      <p:sp>
        <p:nvSpPr>
          <p:cNvPr id="17" name="text-24"/>
          <p:cNvSpPr>
            <a:spLocks xmlns:a="http://schemas.openxmlformats.org/drawingml/2006/main" noGrp="1"/>
          </p:cNvSpPr>
          <p:nvPr/>
        </p:nvSpPr>
        <p:spPr>
          <a:xfrm xmlns:a="http://schemas.openxmlformats.org/drawingml/2006/main">
            <a:off x="8143875" y="3057525"/>
            <a:ext cx="3209925"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Cajas + clases</a:t>
            </a:r>
          </a:p>
        </p:txBody>
      </p:sp>
      <p:sp>
        <p:nvSpPr>
          <p:cNvPr id="18" name="shape-25"/>
          <p:cNvSpPr>
            <a:spLocks xmlns:a="http://schemas.openxmlformats.org/drawingml/2006/main" noGrp="1"/>
          </p:cNvSpPr>
          <p:nvPr/>
        </p:nvSpPr>
        <p:spPr>
          <a:xfrm xmlns:a="http://schemas.openxmlformats.org/drawingml/2006/main">
            <a:off x="609600" y="372427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9" name="text-26"/>
          <p:cNvSpPr>
            <a:spLocks xmlns:a="http://schemas.openxmlformats.org/drawingml/2006/main" noGrp="1"/>
          </p:cNvSpPr>
          <p:nvPr/>
        </p:nvSpPr>
        <p:spPr>
          <a:xfrm xmlns:a="http://schemas.openxmlformats.org/drawingml/2006/main">
            <a:off x="609600" y="3800475"/>
            <a:ext cx="278130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Segmentación</a:t>
            </a:r>
          </a:p>
        </p:txBody>
      </p:sp>
      <p:sp>
        <p:nvSpPr>
          <p:cNvPr id="20" name="text-27"/>
          <p:cNvSpPr>
            <a:spLocks xmlns:a="http://schemas.openxmlformats.org/drawingml/2006/main" noGrp="1"/>
          </p:cNvSpPr>
          <p:nvPr/>
        </p:nvSpPr>
        <p:spPr>
          <a:xfrm xmlns:a="http://schemas.openxmlformats.org/drawingml/2006/main">
            <a:off x="3810000" y="3800475"/>
            <a:ext cx="382905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¿Qué píxeles pertenecen a algo?</a:t>
            </a:r>
          </a:p>
        </p:txBody>
      </p:sp>
      <p:sp>
        <p:nvSpPr>
          <p:cNvPr id="21" name="text-28"/>
          <p:cNvSpPr>
            <a:spLocks xmlns:a="http://schemas.openxmlformats.org/drawingml/2006/main" noGrp="1"/>
          </p:cNvSpPr>
          <p:nvPr/>
        </p:nvSpPr>
        <p:spPr>
          <a:xfrm xmlns:a="http://schemas.openxmlformats.org/drawingml/2006/main">
            <a:off x="8143875" y="3800475"/>
            <a:ext cx="3209925"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Máscara</a:t>
            </a:r>
          </a:p>
        </p:txBody>
      </p:sp>
      <p:sp>
        <p:nvSpPr>
          <p:cNvPr id="22" name="shape-29"/>
          <p:cNvSpPr>
            <a:spLocks xmlns:a="http://schemas.openxmlformats.org/drawingml/2006/main" noGrp="1"/>
          </p:cNvSpPr>
          <p:nvPr/>
        </p:nvSpPr>
        <p:spPr>
          <a:xfrm xmlns:a="http://schemas.openxmlformats.org/drawingml/2006/main">
            <a:off x="609600" y="446722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23" name="text-30"/>
          <p:cNvSpPr>
            <a:spLocks xmlns:a="http://schemas.openxmlformats.org/drawingml/2006/main" noGrp="1"/>
          </p:cNvSpPr>
          <p:nvPr/>
        </p:nvSpPr>
        <p:spPr>
          <a:xfrm xmlns:a="http://schemas.openxmlformats.org/drawingml/2006/main">
            <a:off x="609600" y="4543425"/>
            <a:ext cx="278130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Visión + lenguaje · este VLM</a:t>
            </a:r>
          </a:p>
        </p:txBody>
      </p:sp>
      <p:sp>
        <p:nvSpPr>
          <p:cNvPr id="24" name="text-31"/>
          <p:cNvSpPr>
            <a:spLocks xmlns:a="http://schemas.openxmlformats.org/drawingml/2006/main" noGrp="1"/>
          </p:cNvSpPr>
          <p:nvPr/>
        </p:nvSpPr>
        <p:spPr>
          <a:xfrm xmlns:a="http://schemas.openxmlformats.org/drawingml/2006/main">
            <a:off x="3810000" y="4543425"/>
            <a:ext cx="382905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¿Qué hay y cómo lo describo?</a:t>
            </a:r>
          </a:p>
        </p:txBody>
      </p:sp>
      <p:sp>
        <p:nvSpPr>
          <p:cNvPr id="25" name="text-32"/>
          <p:cNvSpPr>
            <a:spLocks xmlns:a="http://schemas.openxmlformats.org/drawingml/2006/main" noGrp="1"/>
          </p:cNvSpPr>
          <p:nvPr/>
        </p:nvSpPr>
        <p:spPr>
          <a:xfrm xmlns:a="http://schemas.openxmlformats.org/drawingml/2006/main">
            <a:off x="8143875" y="4543425"/>
            <a:ext cx="3209925"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Texto</a:t>
            </a:r>
          </a:p>
        </p:txBody>
      </p:sp>
      <p:sp>
        <p:nvSpPr>
          <p:cNvPr id="26" name="shape-33"/>
          <p:cNvSpPr>
            <a:spLocks xmlns:a="http://schemas.openxmlformats.org/drawingml/2006/main" noGrp="1"/>
          </p:cNvSpPr>
          <p:nvPr/>
        </p:nvSpPr>
        <p:spPr>
          <a:xfrm xmlns:a="http://schemas.openxmlformats.org/drawingml/2006/main">
            <a:off x="609600" y="521017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27" name="text-34"/>
          <p:cNvSpPr>
            <a:spLocks xmlns:a="http://schemas.openxmlformats.org/drawingml/2006/main" noGrp="1"/>
          </p:cNvSpPr>
          <p:nvPr/>
        </p:nvSpPr>
        <p:spPr>
          <a:xfrm xmlns:a="http://schemas.openxmlformats.org/drawingml/2006/main">
            <a:off x="609600" y="5286375"/>
            <a:ext cx="278130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Generación de imagen</a:t>
            </a:r>
          </a:p>
        </p:txBody>
      </p:sp>
      <p:sp>
        <p:nvSpPr>
          <p:cNvPr id="28" name="text-35"/>
          <p:cNvSpPr>
            <a:spLocks xmlns:a="http://schemas.openxmlformats.org/drawingml/2006/main" noGrp="1"/>
          </p:cNvSpPr>
          <p:nvPr/>
        </p:nvSpPr>
        <p:spPr>
          <a:xfrm xmlns:a="http://schemas.openxmlformats.org/drawingml/2006/main">
            <a:off x="3810000" y="5286375"/>
            <a:ext cx="3829050"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¿Qué imagen quiero crear?</a:t>
            </a:r>
          </a:p>
        </p:txBody>
      </p:sp>
      <p:sp>
        <p:nvSpPr>
          <p:cNvPr id="29" name="text-36"/>
          <p:cNvSpPr>
            <a:spLocks xmlns:a="http://schemas.openxmlformats.org/drawingml/2006/main" noGrp="1"/>
          </p:cNvSpPr>
          <p:nvPr/>
        </p:nvSpPr>
        <p:spPr>
          <a:xfrm xmlns:a="http://schemas.openxmlformats.org/drawingml/2006/main">
            <a:off x="8143875" y="5286375"/>
            <a:ext cx="3209925" cy="6286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Píxeles nuevos</a:t>
            </a:r>
          </a:p>
        </p:txBody>
      </p:sp>
      <p:sp>
        <p:nvSpPr>
          <p:cNvPr id="30"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02</a:t>
            </a:r>
          </a:p>
        </p:txBody>
      </p:sp>
    </p:spTree>
  </p:cSld>
</p:sld>
</file>

<file path=ppt/slides/slide3.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7" name=""/>
        <p:cNvGrpSpPr/>
        <p:nvPr/>
      </p:nvGrpSpPr>
      <p:grpSpPr>
        <a:xfrm xmlns:a="http://schemas.openxmlformats.org/drawingml/2006/main">
          <a:off x="0" y="0"/>
          <a:ext cx="0" cy="0"/>
          <a:chOff x="0" y="0"/>
          <a:chExt cx="0" cy="0"/>
        </a:xfrm>
      </p:grpSpPr>
      <p:sp>
        <p:nvSpPr>
          <p:cNvPr id="1" name="kicker-marker"/>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ln>
        </p:spPr>
      </p:sp>
      <p:sp>
        <p:nvSpPr>
          <p:cNvPr id="2" name="kicker-label"/>
          <p:cNvSpPr>
            <a:spLocks xmlns:a="http://schemas.openxmlformats.org/drawingml/2006/main" noGrp="1"/>
          </p:cNvSpPr>
          <p:nvPr/>
        </p:nvSpPr>
        <p:spPr>
          <a:xfrm xmlns:a="http://schemas.openxmlformats.org/drawingml/2006/main">
            <a:off x="714375" y="352425"/>
            <a:ext cx="10763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125" b="1">
                <a:solidFill>
                  <a:srgbClr val="2DD5B5"/>
                </a:solidFill>
                <a:latin typeface="Poppins"/>
                <a:ea typeface="Poppins"/>
                <a:cs typeface="Poppins"/>
              </a:defRPr>
            </a:pPr>
            <a:r>
              <a:rPr sz="1125" b="1">
                <a:solidFill>
                  <a:srgbClr val="2DD5B5"/>
                </a:solidFill>
                <a:latin typeface="Poppins"/>
                <a:ea typeface="Poppins"/>
                <a:cs typeface="Poppins"/>
              </a:rPr>
              <a:t>ARQUITECTURAS</a:t>
            </a:r>
          </a:p>
        </p:txBody>
      </p:sp>
      <p:sp>
        <p:nvSpPr>
          <p:cNvPr id="3" name=""/>
          <p:cNvSpPr>
            <a:spLocks xmlns:a="http://schemas.openxmlformats.org/drawingml/2006/main" noGrp="1"/>
          </p:cNvSpPr>
          <p:nvPr/>
        </p:nvSpPr>
        <p:spPr>
          <a:xfrm xmlns:a="http://schemas.openxmlformats.org/drawingml/2006/main">
            <a:off x="609600" y="866775"/>
            <a:ext cx="10953750" cy="590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CNN y ViT organizan la información de maneras distintas</a:t>
            </a:r>
          </a:p>
        </p:txBody>
      </p:sp>
      <p:sp>
        <p:nvSpPr>
          <p:cNvPr id="4" name=""/>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EA2FF"/>
          </a:solidFill>
          <a:ln xmlns:a="http://schemas.openxmlformats.org/drawingml/2006/main" w="0">
            <a:noFill/>
          </a:ln>
        </p:spPr>
      </p:sp>
      <p:sp>
        <p:nvSpPr>
          <p:cNvPr id="5" name=""/>
          <p:cNvSpPr>
            <a:spLocks xmlns:a="http://schemas.openxmlformats.org/drawingml/2006/main" noGrp="1"/>
          </p:cNvSpPr>
          <p:nvPr/>
        </p:nvSpPr>
        <p:spPr>
          <a:xfrm xmlns:a="http://schemas.openxmlformats.org/drawingml/2006/main">
            <a:off x="609600" y="6162675"/>
            <a:ext cx="10763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Comparación conceptual · ViT original: arxiv.org/abs/2010.11929</a:t>
            </a:r>
          </a:p>
        </p:txBody>
      </p:sp>
      <p:sp>
        <p:nvSpPr>
          <p:cNvPr id="6" name=""/>
          <p:cNvSpPr>
            <a:spLocks xmlns:a="http://schemas.openxmlformats.org/drawingml/2006/main" noGrp="1"/>
          </p:cNvSpPr>
          <p:nvPr/>
        </p:nvSpPr>
        <p:spPr>
          <a:xfrm xmlns:a="http://schemas.openxmlformats.org/drawingml/2006/main">
            <a:off x="609600" y="6457950"/>
            <a:ext cx="100012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IA · Visión, transformers y openFrameworks  |  Informática Aplicada II · UNA</a:t>
            </a:r>
          </a:p>
        </p:txBody>
      </p:sp>
      <p:sp>
        <p:nvSpPr>
          <p:cNvPr id="7" name=""/>
          <p:cNvSpPr>
            <a:spLocks xmlns:a="http://schemas.openxmlformats.org/drawingml/2006/main" noGrp="1"/>
          </p:cNvSpPr>
          <p:nvPr/>
        </p:nvSpPr>
        <p:spPr>
          <a:xfrm xmlns:a="http://schemas.openxmlformats.org/drawingml/2006/main">
            <a:off x="609600" y="1924050"/>
            <a:ext cx="2381250" cy="4191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100" b="1">
                <a:solidFill>
                  <a:srgbClr val="2DD5B5"/>
                </a:solidFill>
                <a:latin typeface="Poppins"/>
                <a:ea typeface="Poppins"/>
                <a:cs typeface="Poppins"/>
              </a:defRPr>
            </a:pPr>
            <a:r>
              <a:rPr sz="2100" b="1">
                <a:solidFill>
                  <a:srgbClr val="2DD5B5"/>
                </a:solidFill>
                <a:latin typeface="Poppins"/>
                <a:ea typeface="Poppins"/>
                <a:cs typeface="Poppins"/>
              </a:rPr>
              <a:t>CNN clásica</a:t>
            </a:r>
          </a:p>
        </p:txBody>
      </p:sp>
      <p:sp>
        <p:nvSpPr>
          <p:cNvPr id="8" name=""/>
          <p:cNvSpPr>
            <a:spLocks xmlns:a="http://schemas.openxmlformats.org/drawingml/2006/main" noGrp="1"/>
          </p:cNvSpPr>
          <p:nvPr/>
        </p:nvSpPr>
        <p:spPr>
          <a:xfrm xmlns:a="http://schemas.openxmlformats.org/drawingml/2006/main">
            <a:off x="609600" y="2495550"/>
            <a:ext cx="27813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9" name=""/>
          <p:cNvSpPr>
            <a:spLocks xmlns:a="http://schemas.openxmlformats.org/drawingml/2006/main" noGrp="1"/>
          </p:cNvSpPr>
          <p:nvPr/>
        </p:nvSpPr>
        <p:spPr>
          <a:xfrm xmlns:a="http://schemas.openxmlformats.org/drawingml/2006/main">
            <a:off x="781050" y="2647950"/>
            <a:ext cx="24384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Filtro local</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compartido</a:t>
            </a:r>
          </a:p>
        </p:txBody>
      </p:sp>
      <p:sp>
        <p:nvSpPr>
          <p:cNvPr id="10" name=""/>
          <p:cNvSpPr>
            <a:spLocks xmlns:a="http://schemas.openxmlformats.org/drawingml/2006/main" noGrp="1"/>
          </p:cNvSpPr>
          <p:nvPr/>
        </p:nvSpPr>
        <p:spPr>
          <a:xfrm xmlns:a="http://schemas.openxmlformats.org/drawingml/2006/main">
            <a:off x="3390900" y="2857500"/>
            <a:ext cx="581025"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11" name=""/>
          <p:cNvSpPr>
            <a:spLocks xmlns:a="http://schemas.openxmlformats.org/drawingml/2006/main" noGrp="1"/>
          </p:cNvSpPr>
          <p:nvPr/>
        </p:nvSpPr>
        <p:spPr>
          <a:xfrm xmlns:a="http://schemas.openxmlformats.org/drawingml/2006/main">
            <a:off x="3971925" y="2495550"/>
            <a:ext cx="34290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2" name=""/>
          <p:cNvSpPr>
            <a:spLocks xmlns:a="http://schemas.openxmlformats.org/drawingml/2006/main" noGrp="1"/>
          </p:cNvSpPr>
          <p:nvPr/>
        </p:nvSpPr>
        <p:spPr>
          <a:xfrm xmlns:a="http://schemas.openxmlformats.org/drawingml/2006/main">
            <a:off x="4143375" y="2647950"/>
            <a:ext cx="30861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Mapas de rasgos</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en varias capas</a:t>
            </a:r>
          </a:p>
        </p:txBody>
      </p:sp>
      <p:sp>
        <p:nvSpPr>
          <p:cNvPr id="13" name=""/>
          <p:cNvSpPr>
            <a:spLocks xmlns:a="http://schemas.openxmlformats.org/drawingml/2006/main" noGrp="1"/>
          </p:cNvSpPr>
          <p:nvPr/>
        </p:nvSpPr>
        <p:spPr>
          <a:xfrm xmlns:a="http://schemas.openxmlformats.org/drawingml/2006/main">
            <a:off x="7400925" y="2857500"/>
            <a:ext cx="581025"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14" name=""/>
          <p:cNvSpPr>
            <a:spLocks xmlns:a="http://schemas.openxmlformats.org/drawingml/2006/main" noGrp="1"/>
          </p:cNvSpPr>
          <p:nvPr/>
        </p:nvSpPr>
        <p:spPr>
          <a:xfrm xmlns:a="http://schemas.openxmlformats.org/drawingml/2006/main">
            <a:off x="7981950" y="2495550"/>
            <a:ext cx="360045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5" name=""/>
          <p:cNvSpPr>
            <a:spLocks xmlns:a="http://schemas.openxmlformats.org/drawingml/2006/main" noGrp="1"/>
          </p:cNvSpPr>
          <p:nvPr/>
        </p:nvSpPr>
        <p:spPr>
          <a:xfrm xmlns:a="http://schemas.openxmlformats.org/drawingml/2006/main">
            <a:off x="8153400" y="2647950"/>
            <a:ext cx="325755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Contexto más amplio</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al combinar capas</a:t>
            </a:r>
          </a:p>
        </p:txBody>
      </p:sp>
      <p:sp>
        <p:nvSpPr>
          <p:cNvPr id="16" name=""/>
          <p:cNvSpPr>
            <a:spLocks xmlns:a="http://schemas.openxmlformats.org/drawingml/2006/main" noGrp="1"/>
          </p:cNvSpPr>
          <p:nvPr/>
        </p:nvSpPr>
        <p:spPr>
          <a:xfrm xmlns:a="http://schemas.openxmlformats.org/drawingml/2006/main">
            <a:off x="609600" y="3743325"/>
            <a:ext cx="2381250" cy="4191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100" b="1">
                <a:solidFill>
                  <a:srgbClr val="BEA2FF"/>
                </a:solidFill>
                <a:latin typeface="Poppins"/>
                <a:ea typeface="Poppins"/>
                <a:cs typeface="Poppins"/>
              </a:defRPr>
            </a:pPr>
            <a:r>
              <a:rPr sz="2100" b="1">
                <a:solidFill>
                  <a:srgbClr val="BEA2FF"/>
                </a:solidFill>
                <a:latin typeface="Poppins"/>
                <a:ea typeface="Poppins"/>
                <a:cs typeface="Poppins"/>
              </a:rPr>
              <a:t>ViT clásico</a:t>
            </a:r>
          </a:p>
        </p:txBody>
      </p:sp>
      <p:sp>
        <p:nvSpPr>
          <p:cNvPr id="17" name=""/>
          <p:cNvSpPr>
            <a:spLocks xmlns:a="http://schemas.openxmlformats.org/drawingml/2006/main" noGrp="1"/>
          </p:cNvSpPr>
          <p:nvPr/>
        </p:nvSpPr>
        <p:spPr>
          <a:xfrm xmlns:a="http://schemas.openxmlformats.org/drawingml/2006/main">
            <a:off x="609600" y="4295775"/>
            <a:ext cx="27813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8" name=""/>
          <p:cNvSpPr>
            <a:spLocks xmlns:a="http://schemas.openxmlformats.org/drawingml/2006/main" noGrp="1"/>
          </p:cNvSpPr>
          <p:nvPr/>
        </p:nvSpPr>
        <p:spPr>
          <a:xfrm xmlns:a="http://schemas.openxmlformats.org/drawingml/2006/main">
            <a:off x="781050" y="4448175"/>
            <a:ext cx="24384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Parches →</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vectores</a:t>
            </a:r>
          </a:p>
        </p:txBody>
      </p:sp>
      <p:sp>
        <p:nvSpPr>
          <p:cNvPr id="19" name=""/>
          <p:cNvSpPr>
            <a:spLocks xmlns:a="http://schemas.openxmlformats.org/drawingml/2006/main" noGrp="1"/>
          </p:cNvSpPr>
          <p:nvPr/>
        </p:nvSpPr>
        <p:spPr>
          <a:xfrm xmlns:a="http://schemas.openxmlformats.org/drawingml/2006/main">
            <a:off x="3390900" y="4657725"/>
            <a:ext cx="581025"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20" name=""/>
          <p:cNvSpPr>
            <a:spLocks xmlns:a="http://schemas.openxmlformats.org/drawingml/2006/main" noGrp="1"/>
          </p:cNvSpPr>
          <p:nvPr/>
        </p:nvSpPr>
        <p:spPr>
          <a:xfrm xmlns:a="http://schemas.openxmlformats.org/drawingml/2006/main">
            <a:off x="3971925" y="4295775"/>
            <a:ext cx="34290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21" name=""/>
          <p:cNvSpPr>
            <a:spLocks xmlns:a="http://schemas.openxmlformats.org/drawingml/2006/main" noGrp="1"/>
          </p:cNvSpPr>
          <p:nvPr/>
        </p:nvSpPr>
        <p:spPr>
          <a:xfrm xmlns:a="http://schemas.openxmlformats.org/drawingml/2006/main">
            <a:off x="4143375" y="4448175"/>
            <a:ext cx="30861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Atención entre</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todos los tokens</a:t>
            </a:r>
          </a:p>
        </p:txBody>
      </p:sp>
      <p:sp>
        <p:nvSpPr>
          <p:cNvPr id="22" name=""/>
          <p:cNvSpPr>
            <a:spLocks xmlns:a="http://schemas.openxmlformats.org/drawingml/2006/main" noGrp="1"/>
          </p:cNvSpPr>
          <p:nvPr/>
        </p:nvSpPr>
        <p:spPr>
          <a:xfrm xmlns:a="http://schemas.openxmlformats.org/drawingml/2006/main">
            <a:off x="7400925" y="4657725"/>
            <a:ext cx="581025"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23" name=""/>
          <p:cNvSpPr>
            <a:spLocks xmlns:a="http://schemas.openxmlformats.org/drawingml/2006/main" noGrp="1"/>
          </p:cNvSpPr>
          <p:nvPr/>
        </p:nvSpPr>
        <p:spPr>
          <a:xfrm xmlns:a="http://schemas.openxmlformats.org/drawingml/2006/main">
            <a:off x="7981950" y="4295775"/>
            <a:ext cx="360045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24" name=""/>
          <p:cNvSpPr>
            <a:spLocks xmlns:a="http://schemas.openxmlformats.org/drawingml/2006/main" noGrp="1"/>
          </p:cNvSpPr>
          <p:nvPr/>
        </p:nvSpPr>
        <p:spPr>
          <a:xfrm xmlns:a="http://schemas.openxmlformats.org/drawingml/2006/main">
            <a:off x="8153400" y="4448175"/>
            <a:ext cx="325755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Representaciones</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contextualizadas</a:t>
            </a:r>
          </a:p>
        </p:txBody>
      </p:sp>
      <p:sp>
        <p:nvSpPr>
          <p:cNvPr id="25" name=""/>
          <p:cNvSpPr>
            <a:spLocks xmlns:a="http://schemas.openxmlformats.org/drawingml/2006/main" noGrp="1"/>
          </p:cNvSpPr>
          <p:nvPr/>
        </p:nvSpPr>
        <p:spPr>
          <a:xfrm xmlns:a="http://schemas.openxmlformats.org/drawingml/2006/main">
            <a:off x="609600" y="5505450"/>
            <a:ext cx="10972800"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Ambas aprenden con datos. La tarea depende del entrenamiento y de la salida.</a:t>
            </a:r>
          </a:p>
        </p:txBody>
      </p:sp>
      <p:sp>
        <p:nvSpPr>
          <p:cNvPr id="26"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03</a:t>
            </a:r>
          </a:p>
        </p:txBody>
      </p:sp>
    </p:spTree>
  </p:cSld>
</p:sld>
</file>

<file path=ppt/slides/slide4.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4" name=""/>
        <p:cNvGrpSpPr/>
        <p:nvPr/>
      </p:nvGrpSpPr>
      <p:grpSpPr>
        <a:xfrm xmlns:a="http://schemas.openxmlformats.org/drawingml/2006/main">
          <a:off x="0" y="0"/>
          <a:ext cx="0" cy="0"/>
          <a:chOff x="0" y="0"/>
          <a:chExt cx="0" cy="0"/>
        </a:xfrm>
      </p:grpSpPr>
      <p:sp>
        <p:nvSpPr>
          <p:cNvPr id="1" name="kicker-marker"/>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ln>
        </p:spPr>
      </p:sp>
      <p:sp>
        <p:nvSpPr>
          <p:cNvPr id="2" name="kicker-label"/>
          <p:cNvSpPr>
            <a:spLocks xmlns:a="http://schemas.openxmlformats.org/drawingml/2006/main" noGrp="1"/>
          </p:cNvSpPr>
          <p:nvPr/>
        </p:nvSpPr>
        <p:spPr>
          <a:xfrm xmlns:a="http://schemas.openxmlformats.org/drawingml/2006/main">
            <a:off x="714375" y="352425"/>
            <a:ext cx="10763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125" b="1">
                <a:solidFill>
                  <a:srgbClr val="2DD5B5"/>
                </a:solidFill>
                <a:latin typeface="Poppins"/>
                <a:ea typeface="Poppins"/>
                <a:cs typeface="Poppins"/>
              </a:defRPr>
            </a:pPr>
            <a:r>
              <a:rPr sz="1125" b="1">
                <a:solidFill>
                  <a:srgbClr val="2DD5B5"/>
                </a:solidFill>
                <a:latin typeface="Poppins"/>
                <a:ea typeface="Poppins"/>
                <a:cs typeface="Poppins"/>
              </a:rPr>
              <a:t>DEL TEXTO A LA IMAGEN</a:t>
            </a:r>
          </a:p>
        </p:txBody>
      </p:sp>
      <p:sp>
        <p:nvSpPr>
          <p:cNvPr id="3" name=""/>
          <p:cNvSpPr>
            <a:spLocks xmlns:a="http://schemas.openxmlformats.org/drawingml/2006/main" noGrp="1"/>
          </p:cNvSpPr>
          <p:nvPr/>
        </p:nvSpPr>
        <p:spPr>
          <a:xfrm xmlns:a="http://schemas.openxmlformats.org/drawingml/2006/main">
            <a:off x="609600" y="866775"/>
            <a:ext cx="10953750" cy="590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La idea de token se conserva; la entrada y la tarea cambian</a:t>
            </a:r>
          </a:p>
        </p:txBody>
      </p:sp>
      <p:sp>
        <p:nvSpPr>
          <p:cNvPr id="4" name=""/>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EA2FF"/>
          </a:solidFill>
          <a:ln xmlns:a="http://schemas.openxmlformats.org/drawingml/2006/main" w="0">
            <a:noFill/>
          </a:ln>
        </p:spPr>
      </p:sp>
      <p:sp>
        <p:nvSpPr>
          <p:cNvPr id="5" name=""/>
          <p:cNvSpPr>
            <a:spLocks xmlns:a="http://schemas.openxmlformats.org/drawingml/2006/main" noGrp="1"/>
          </p:cNvSpPr>
          <p:nvPr/>
        </p:nvSpPr>
        <p:spPr>
          <a:xfrm xmlns:a="http://schemas.openxmlformats.org/drawingml/2006/main">
            <a:off x="609600" y="6162675"/>
            <a:ext cx="10763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Comparación con un LLM generativo causal · ViT Base: huggingface.co/google/vit-base-patch16-224</a:t>
            </a:r>
          </a:p>
        </p:txBody>
      </p:sp>
      <p:sp>
        <p:nvSpPr>
          <p:cNvPr id="6" name=""/>
          <p:cNvSpPr>
            <a:spLocks xmlns:a="http://schemas.openxmlformats.org/drawingml/2006/main" noGrp="1"/>
          </p:cNvSpPr>
          <p:nvPr/>
        </p:nvSpPr>
        <p:spPr>
          <a:xfrm xmlns:a="http://schemas.openxmlformats.org/drawingml/2006/main">
            <a:off x="609600" y="6457950"/>
            <a:ext cx="100012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IA · Visión, transformers y openFrameworks  |  Informática Aplicada II · UNA</a:t>
            </a:r>
          </a:p>
        </p:txBody>
      </p:sp>
      <p:sp>
        <p:nvSpPr>
          <p:cNvPr id="7" name=""/>
          <p:cNvSpPr>
            <a:spLocks xmlns:a="http://schemas.openxmlformats.org/drawingml/2006/main" noGrp="1"/>
          </p:cNvSpPr>
          <p:nvPr/>
        </p:nvSpPr>
        <p:spPr>
          <a:xfrm xmlns:a="http://schemas.openxmlformats.org/drawingml/2006/main">
            <a:off x="609600" y="1952625"/>
            <a:ext cx="495300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025" b="1">
                <a:solidFill>
                  <a:srgbClr val="2DD5B5"/>
                </a:solidFill>
                <a:latin typeface="Poppins"/>
                <a:ea typeface="Poppins"/>
                <a:cs typeface="Poppins"/>
              </a:defRPr>
            </a:pPr>
            <a:r>
              <a:rPr sz="2025" b="1">
                <a:solidFill>
                  <a:srgbClr val="2DD5B5"/>
                </a:solidFill>
                <a:latin typeface="Poppins"/>
                <a:ea typeface="Poppins"/>
                <a:cs typeface="Poppins"/>
              </a:rPr>
              <a:t>LLM de texto generativo</a:t>
            </a:r>
          </a:p>
        </p:txBody>
      </p:sp>
      <p:sp>
        <p:nvSpPr>
          <p:cNvPr id="8" name=""/>
          <p:cNvSpPr>
            <a:spLocks xmlns:a="http://schemas.openxmlformats.org/drawingml/2006/main" noGrp="1"/>
          </p:cNvSpPr>
          <p:nvPr/>
        </p:nvSpPr>
        <p:spPr>
          <a:xfrm xmlns:a="http://schemas.openxmlformats.org/drawingml/2006/main">
            <a:off x="6419850" y="1952625"/>
            <a:ext cx="5095875"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025" b="1">
                <a:solidFill>
                  <a:srgbClr val="BEA2FF"/>
                </a:solidFill>
                <a:latin typeface="Poppins"/>
                <a:ea typeface="Poppins"/>
                <a:cs typeface="Poppins"/>
              </a:defRPr>
            </a:pPr>
            <a:r>
              <a:rPr sz="2025" b="1">
                <a:solidFill>
                  <a:srgbClr val="BEA2FF"/>
                </a:solidFill>
                <a:latin typeface="Poppins"/>
                <a:ea typeface="Poppins"/>
                <a:cs typeface="Poppins"/>
              </a:rPr>
              <a:t>Este ViT clasificador</a:t>
            </a:r>
          </a:p>
        </p:txBody>
      </p:sp>
      <p:sp>
        <p:nvSpPr>
          <p:cNvPr id="9" name=""/>
          <p:cNvSpPr>
            <a:spLocks xmlns:a="http://schemas.openxmlformats.org/drawingml/2006/main" noGrp="1"/>
          </p:cNvSpPr>
          <p:nvPr/>
        </p:nvSpPr>
        <p:spPr>
          <a:xfrm xmlns:a="http://schemas.openxmlformats.org/drawingml/2006/main">
            <a:off x="6048375" y="1952625"/>
            <a:ext cx="9525" cy="3305175"/>
          </a:xfrm>
          <a:prstGeom xmlns:a="http://schemas.openxmlformats.org/drawingml/2006/main" prst="rect">
            <a:avLst/>
          </a:prstGeom>
          <a:solidFill xmlns:a="http://schemas.openxmlformats.org/drawingml/2006/main">
            <a:srgbClr val="76658E"/>
          </a:solidFill>
          <a:ln xmlns:a="http://schemas.openxmlformats.org/drawingml/2006/main" w="0">
            <a:noFill/>
          </a:ln>
        </p:spPr>
      </p:sp>
      <p:sp>
        <p:nvSpPr>
          <p:cNvPr id="10" name=""/>
          <p:cNvSpPr>
            <a:spLocks xmlns:a="http://schemas.openxmlformats.org/drawingml/2006/main" noGrp="1"/>
          </p:cNvSpPr>
          <p:nvPr/>
        </p:nvSpPr>
        <p:spPr>
          <a:xfrm xmlns:a="http://schemas.openxmlformats.org/drawingml/2006/main">
            <a:off x="609600" y="2647950"/>
            <a:ext cx="571500" cy="5334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950" b="1">
                <a:solidFill>
                  <a:srgbClr val="2DD5B5"/>
                </a:solidFill>
                <a:latin typeface="Poppins"/>
                <a:ea typeface="Poppins"/>
                <a:cs typeface="Poppins"/>
              </a:defRPr>
            </a:pPr>
            <a:r>
              <a:rPr sz="1950" b="1">
                <a:solidFill>
                  <a:srgbClr val="2DD5B5"/>
                </a:solidFill>
                <a:latin typeface="Poppins"/>
                <a:ea typeface="Poppins"/>
                <a:cs typeface="Poppins"/>
              </a:rPr>
              <a:t>01</a:t>
            </a:r>
          </a:p>
        </p:txBody>
      </p:sp>
      <p:sp>
        <p:nvSpPr>
          <p:cNvPr id="11" name=""/>
          <p:cNvSpPr>
            <a:spLocks xmlns:a="http://schemas.openxmlformats.org/drawingml/2006/main" noGrp="1"/>
          </p:cNvSpPr>
          <p:nvPr/>
        </p:nvSpPr>
        <p:spPr>
          <a:xfrm xmlns:a="http://schemas.openxmlformats.org/drawingml/2006/main">
            <a:off x="1304925" y="2647950"/>
            <a:ext cx="4524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Texto → tokens del vocabulario</a:t>
            </a:r>
          </a:p>
        </p:txBody>
      </p:sp>
      <p:sp>
        <p:nvSpPr>
          <p:cNvPr id="12" name=""/>
          <p:cNvSpPr>
            <a:spLocks xmlns:a="http://schemas.openxmlformats.org/drawingml/2006/main" noGrp="1"/>
          </p:cNvSpPr>
          <p:nvPr/>
        </p:nvSpPr>
        <p:spPr>
          <a:xfrm xmlns:a="http://schemas.openxmlformats.org/drawingml/2006/main">
            <a:off x="6419850" y="2647950"/>
            <a:ext cx="571500" cy="5334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950" b="1">
                <a:solidFill>
                  <a:srgbClr val="BEA2FF"/>
                </a:solidFill>
                <a:latin typeface="Poppins"/>
                <a:ea typeface="Poppins"/>
                <a:cs typeface="Poppins"/>
              </a:defRPr>
            </a:pPr>
            <a:r>
              <a:rPr sz="1950" b="1">
                <a:solidFill>
                  <a:srgbClr val="BEA2FF"/>
                </a:solidFill>
                <a:latin typeface="Poppins"/>
                <a:ea typeface="Poppins"/>
                <a:cs typeface="Poppins"/>
              </a:rPr>
              <a:t>01</a:t>
            </a:r>
          </a:p>
        </p:txBody>
      </p:sp>
      <p:sp>
        <p:nvSpPr>
          <p:cNvPr id="13" name=""/>
          <p:cNvSpPr>
            <a:spLocks xmlns:a="http://schemas.openxmlformats.org/drawingml/2006/main" noGrp="1"/>
          </p:cNvSpPr>
          <p:nvPr/>
        </p:nvSpPr>
        <p:spPr>
          <a:xfrm xmlns:a="http://schemas.openxmlformats.org/drawingml/2006/main">
            <a:off x="7115175" y="2647950"/>
            <a:ext cx="446722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Imagen → parches de píxeles</a:t>
            </a:r>
          </a:p>
        </p:txBody>
      </p:sp>
      <p:sp>
        <p:nvSpPr>
          <p:cNvPr id="14" name=""/>
          <p:cNvSpPr>
            <a:spLocks xmlns:a="http://schemas.openxmlformats.org/drawingml/2006/main" noGrp="1"/>
          </p:cNvSpPr>
          <p:nvPr/>
        </p:nvSpPr>
        <p:spPr>
          <a:xfrm xmlns:a="http://schemas.openxmlformats.org/drawingml/2006/main">
            <a:off x="609600" y="3448050"/>
            <a:ext cx="571500" cy="5334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950" b="1">
                <a:solidFill>
                  <a:srgbClr val="2DD5B5"/>
                </a:solidFill>
                <a:latin typeface="Poppins"/>
                <a:ea typeface="Poppins"/>
                <a:cs typeface="Poppins"/>
              </a:defRPr>
            </a:pPr>
            <a:r>
              <a:rPr sz="1950" b="1">
                <a:solidFill>
                  <a:srgbClr val="2DD5B5"/>
                </a:solidFill>
                <a:latin typeface="Poppins"/>
                <a:ea typeface="Poppins"/>
                <a:cs typeface="Poppins"/>
              </a:rPr>
              <a:t>02</a:t>
            </a:r>
          </a:p>
        </p:txBody>
      </p:sp>
      <p:sp>
        <p:nvSpPr>
          <p:cNvPr id="15" name=""/>
          <p:cNvSpPr>
            <a:spLocks xmlns:a="http://schemas.openxmlformats.org/drawingml/2006/main" noGrp="1"/>
          </p:cNvSpPr>
          <p:nvPr/>
        </p:nvSpPr>
        <p:spPr>
          <a:xfrm xmlns:a="http://schemas.openxmlformats.org/drawingml/2006/main">
            <a:off x="1304925" y="3448050"/>
            <a:ext cx="4524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Embeddings + posición</a:t>
            </a:r>
          </a:p>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Atención causal: contexto previo</a:t>
            </a:r>
          </a:p>
        </p:txBody>
      </p:sp>
      <p:sp>
        <p:nvSpPr>
          <p:cNvPr id="16" name=""/>
          <p:cNvSpPr>
            <a:spLocks xmlns:a="http://schemas.openxmlformats.org/drawingml/2006/main" noGrp="1"/>
          </p:cNvSpPr>
          <p:nvPr/>
        </p:nvSpPr>
        <p:spPr>
          <a:xfrm xmlns:a="http://schemas.openxmlformats.org/drawingml/2006/main">
            <a:off x="6419850" y="3448050"/>
            <a:ext cx="571500" cy="5334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950" b="1">
                <a:solidFill>
                  <a:srgbClr val="BEA2FF"/>
                </a:solidFill>
                <a:latin typeface="Poppins"/>
                <a:ea typeface="Poppins"/>
                <a:cs typeface="Poppins"/>
              </a:defRPr>
            </a:pPr>
            <a:r>
              <a:rPr sz="1950" b="1">
                <a:solidFill>
                  <a:srgbClr val="BEA2FF"/>
                </a:solidFill>
                <a:latin typeface="Poppins"/>
                <a:ea typeface="Poppins"/>
                <a:cs typeface="Poppins"/>
              </a:rPr>
              <a:t>02</a:t>
            </a:r>
          </a:p>
        </p:txBody>
      </p:sp>
      <p:sp>
        <p:nvSpPr>
          <p:cNvPr id="17" name=""/>
          <p:cNvSpPr>
            <a:spLocks xmlns:a="http://schemas.openxmlformats.org/drawingml/2006/main" noGrp="1"/>
          </p:cNvSpPr>
          <p:nvPr/>
        </p:nvSpPr>
        <p:spPr>
          <a:xfrm xmlns:a="http://schemas.openxmlformats.org/drawingml/2006/main">
            <a:off x="7115175" y="3448050"/>
            <a:ext cx="446722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Embeddings + posición</a:t>
            </a:r>
          </a:p>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Atención entre todos los parches</a:t>
            </a:r>
          </a:p>
        </p:txBody>
      </p:sp>
      <p:sp>
        <p:nvSpPr>
          <p:cNvPr id="18" name=""/>
          <p:cNvSpPr>
            <a:spLocks xmlns:a="http://schemas.openxmlformats.org/drawingml/2006/main" noGrp="1"/>
          </p:cNvSpPr>
          <p:nvPr/>
        </p:nvSpPr>
        <p:spPr>
          <a:xfrm xmlns:a="http://schemas.openxmlformats.org/drawingml/2006/main">
            <a:off x="609600" y="4257675"/>
            <a:ext cx="571500" cy="5334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950" b="1">
                <a:solidFill>
                  <a:srgbClr val="2DD5B5"/>
                </a:solidFill>
                <a:latin typeface="Poppins"/>
                <a:ea typeface="Poppins"/>
                <a:cs typeface="Poppins"/>
              </a:defRPr>
            </a:pPr>
            <a:r>
              <a:rPr sz="1950" b="1">
                <a:solidFill>
                  <a:srgbClr val="2DD5B5"/>
                </a:solidFill>
                <a:latin typeface="Poppins"/>
                <a:ea typeface="Poppins"/>
                <a:cs typeface="Poppins"/>
              </a:rPr>
              <a:t>03</a:t>
            </a:r>
          </a:p>
        </p:txBody>
      </p:sp>
      <p:sp>
        <p:nvSpPr>
          <p:cNvPr id="19" name=""/>
          <p:cNvSpPr>
            <a:spLocks xmlns:a="http://schemas.openxmlformats.org/drawingml/2006/main" noGrp="1"/>
          </p:cNvSpPr>
          <p:nvPr/>
        </p:nvSpPr>
        <p:spPr>
          <a:xfrm xmlns:a="http://schemas.openxmlformats.org/drawingml/2006/main">
            <a:off x="1304925" y="4257675"/>
            <a:ext cx="452437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Predice el siguiente token</a:t>
            </a:r>
          </a:p>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Repite para generar texto</a:t>
            </a:r>
          </a:p>
        </p:txBody>
      </p:sp>
      <p:sp>
        <p:nvSpPr>
          <p:cNvPr id="20" name=""/>
          <p:cNvSpPr>
            <a:spLocks xmlns:a="http://schemas.openxmlformats.org/drawingml/2006/main" noGrp="1"/>
          </p:cNvSpPr>
          <p:nvPr/>
        </p:nvSpPr>
        <p:spPr>
          <a:xfrm xmlns:a="http://schemas.openxmlformats.org/drawingml/2006/main">
            <a:off x="6419850" y="4257675"/>
            <a:ext cx="571500" cy="5334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950" b="1">
                <a:solidFill>
                  <a:srgbClr val="BEA2FF"/>
                </a:solidFill>
                <a:latin typeface="Poppins"/>
                <a:ea typeface="Poppins"/>
                <a:cs typeface="Poppins"/>
              </a:defRPr>
            </a:pPr>
            <a:r>
              <a:rPr sz="1950" b="1">
                <a:solidFill>
                  <a:srgbClr val="BEA2FF"/>
                </a:solidFill>
                <a:latin typeface="Poppins"/>
                <a:ea typeface="Poppins"/>
                <a:cs typeface="Poppins"/>
              </a:rPr>
              <a:t>03</a:t>
            </a:r>
          </a:p>
        </p:txBody>
      </p:sp>
      <p:sp>
        <p:nvSpPr>
          <p:cNvPr id="21" name=""/>
          <p:cNvSpPr>
            <a:spLocks xmlns:a="http://schemas.openxmlformats.org/drawingml/2006/main" noGrp="1"/>
          </p:cNvSpPr>
          <p:nvPr/>
        </p:nvSpPr>
        <p:spPr>
          <a:xfrm xmlns:a="http://schemas.openxmlformats.org/drawingml/2006/main">
            <a:off x="7115175" y="4257675"/>
            <a:ext cx="4467225" cy="6572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Representación final [CLS]</a:t>
            </a:r>
          </a:p>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Cabeza → 1000 scores</a:t>
            </a:r>
          </a:p>
        </p:txBody>
      </p:sp>
      <p:sp>
        <p:nvSpPr>
          <p:cNvPr id="22" name=""/>
          <p:cNvSpPr>
            <a:spLocks xmlns:a="http://schemas.openxmlformats.org/drawingml/2006/main" noGrp="1"/>
          </p:cNvSpPr>
          <p:nvPr/>
        </p:nvSpPr>
        <p:spPr>
          <a:xfrm xmlns:a="http://schemas.openxmlformats.org/drawingml/2006/main">
            <a:off x="609600" y="5581650"/>
            <a:ext cx="1097280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ViT es un encoder visual. BERT también es un encoder, pero procesa texto.</a:t>
            </a:r>
          </a:p>
        </p:txBody>
      </p:sp>
      <p:sp>
        <p:nvSpPr>
          <p:cNvPr id="23"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04</a:t>
            </a:r>
          </a:p>
        </p:txBody>
      </p:sp>
    </p:spTree>
  </p:cSld>
</p:sld>
</file>

<file path=ppt/slides/slide5.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10" name=""/>
        <p:cNvGrpSpPr/>
        <p:nvPr/>
      </p:nvGrpSpPr>
      <p:grpSpPr>
        <a:xfrm xmlns:a="http://schemas.openxmlformats.org/drawingml/2006/main">
          <a:off x="0" y="0"/>
          <a:ext cx="0" cy="0"/>
          <a:chOff x="0" y="0"/>
          <a:chExt cx="0" cy="0"/>
        </a:xfrm>
      </p:grpSpPr>
      <p:sp>
        <p:nvSpPr>
          <p:cNvPr id="1" name="shape-37"/>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8"/>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VISION TRANSFORMER</a:t>
            </a:r>
          </a:p>
        </p:txBody>
      </p:sp>
      <p:sp>
        <p:nvSpPr>
          <p:cNvPr id="3" name="text-39"/>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Una imagen se convierte en una secuencia</a:t>
            </a:r>
          </a:p>
        </p:txBody>
      </p:sp>
      <p:sp>
        <p:nvSpPr>
          <p:cNvPr id="4" name="shape-40"/>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41"/>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43"/>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ViT: arxiv.org/abs/2010.11929 · checkpoint de Google</a:t>
            </a:r>
          </a:p>
        </p:txBody>
      </p:sp>
      <p:sp>
        <p:nvSpPr>
          <p:cNvPr id="8" name="shape-44"/>
          <p:cNvSpPr>
            <a:spLocks xmlns:a="http://schemas.openxmlformats.org/drawingml/2006/main" noGrp="1"/>
          </p:cNvSpPr>
          <p:nvPr/>
        </p:nvSpPr>
        <p:spPr>
          <a:xfrm xmlns:a="http://schemas.openxmlformats.org/drawingml/2006/main">
            <a:off x="81915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9" name="shape-45"/>
          <p:cNvSpPr>
            <a:spLocks xmlns:a="http://schemas.openxmlformats.org/drawingml/2006/main" noGrp="1"/>
          </p:cNvSpPr>
          <p:nvPr/>
        </p:nvSpPr>
        <p:spPr>
          <a:xfrm xmlns:a="http://schemas.openxmlformats.org/drawingml/2006/main">
            <a:off x="105727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0" name="shape-46"/>
          <p:cNvSpPr>
            <a:spLocks xmlns:a="http://schemas.openxmlformats.org/drawingml/2006/main" noGrp="1"/>
          </p:cNvSpPr>
          <p:nvPr/>
        </p:nvSpPr>
        <p:spPr>
          <a:xfrm xmlns:a="http://schemas.openxmlformats.org/drawingml/2006/main">
            <a:off x="129540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1" name="shape-47"/>
          <p:cNvSpPr>
            <a:spLocks xmlns:a="http://schemas.openxmlformats.org/drawingml/2006/main" noGrp="1"/>
          </p:cNvSpPr>
          <p:nvPr/>
        </p:nvSpPr>
        <p:spPr>
          <a:xfrm xmlns:a="http://schemas.openxmlformats.org/drawingml/2006/main">
            <a:off x="153352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2" name="shape-48"/>
          <p:cNvSpPr>
            <a:spLocks xmlns:a="http://schemas.openxmlformats.org/drawingml/2006/main" noGrp="1"/>
          </p:cNvSpPr>
          <p:nvPr/>
        </p:nvSpPr>
        <p:spPr>
          <a:xfrm xmlns:a="http://schemas.openxmlformats.org/drawingml/2006/main">
            <a:off x="177165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3" name="shape-49"/>
          <p:cNvSpPr>
            <a:spLocks xmlns:a="http://schemas.openxmlformats.org/drawingml/2006/main" noGrp="1"/>
          </p:cNvSpPr>
          <p:nvPr/>
        </p:nvSpPr>
        <p:spPr>
          <a:xfrm xmlns:a="http://schemas.openxmlformats.org/drawingml/2006/main">
            <a:off x="200977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 name="shape-50"/>
          <p:cNvSpPr>
            <a:spLocks xmlns:a="http://schemas.openxmlformats.org/drawingml/2006/main" noGrp="1"/>
          </p:cNvSpPr>
          <p:nvPr/>
        </p:nvSpPr>
        <p:spPr>
          <a:xfrm xmlns:a="http://schemas.openxmlformats.org/drawingml/2006/main">
            <a:off x="224790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 name="shape-51"/>
          <p:cNvSpPr>
            <a:spLocks xmlns:a="http://schemas.openxmlformats.org/drawingml/2006/main" noGrp="1"/>
          </p:cNvSpPr>
          <p:nvPr/>
        </p:nvSpPr>
        <p:spPr>
          <a:xfrm xmlns:a="http://schemas.openxmlformats.org/drawingml/2006/main">
            <a:off x="248602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 name="shape-52"/>
          <p:cNvSpPr>
            <a:spLocks xmlns:a="http://schemas.openxmlformats.org/drawingml/2006/main" noGrp="1"/>
          </p:cNvSpPr>
          <p:nvPr/>
        </p:nvSpPr>
        <p:spPr>
          <a:xfrm xmlns:a="http://schemas.openxmlformats.org/drawingml/2006/main">
            <a:off x="272415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 name="shape-53"/>
          <p:cNvSpPr>
            <a:spLocks xmlns:a="http://schemas.openxmlformats.org/drawingml/2006/main" noGrp="1"/>
          </p:cNvSpPr>
          <p:nvPr/>
        </p:nvSpPr>
        <p:spPr>
          <a:xfrm xmlns:a="http://schemas.openxmlformats.org/drawingml/2006/main">
            <a:off x="296227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 name="shape-54"/>
          <p:cNvSpPr>
            <a:spLocks xmlns:a="http://schemas.openxmlformats.org/drawingml/2006/main" noGrp="1"/>
          </p:cNvSpPr>
          <p:nvPr/>
        </p:nvSpPr>
        <p:spPr>
          <a:xfrm xmlns:a="http://schemas.openxmlformats.org/drawingml/2006/main">
            <a:off x="320040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 name="shape-55"/>
          <p:cNvSpPr>
            <a:spLocks xmlns:a="http://schemas.openxmlformats.org/drawingml/2006/main" noGrp="1"/>
          </p:cNvSpPr>
          <p:nvPr/>
        </p:nvSpPr>
        <p:spPr>
          <a:xfrm xmlns:a="http://schemas.openxmlformats.org/drawingml/2006/main">
            <a:off x="343852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0" name="shape-56"/>
          <p:cNvSpPr>
            <a:spLocks xmlns:a="http://schemas.openxmlformats.org/drawingml/2006/main" noGrp="1"/>
          </p:cNvSpPr>
          <p:nvPr/>
        </p:nvSpPr>
        <p:spPr>
          <a:xfrm xmlns:a="http://schemas.openxmlformats.org/drawingml/2006/main">
            <a:off x="3676650"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1" name="shape-57"/>
          <p:cNvSpPr>
            <a:spLocks xmlns:a="http://schemas.openxmlformats.org/drawingml/2006/main" noGrp="1"/>
          </p:cNvSpPr>
          <p:nvPr/>
        </p:nvSpPr>
        <p:spPr>
          <a:xfrm xmlns:a="http://schemas.openxmlformats.org/drawingml/2006/main">
            <a:off x="3914775" y="2076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2" name="shape-58"/>
          <p:cNvSpPr>
            <a:spLocks xmlns:a="http://schemas.openxmlformats.org/drawingml/2006/main" noGrp="1"/>
          </p:cNvSpPr>
          <p:nvPr/>
        </p:nvSpPr>
        <p:spPr>
          <a:xfrm xmlns:a="http://schemas.openxmlformats.org/drawingml/2006/main">
            <a:off x="81915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3" name="shape-59"/>
          <p:cNvSpPr>
            <a:spLocks xmlns:a="http://schemas.openxmlformats.org/drawingml/2006/main" noGrp="1"/>
          </p:cNvSpPr>
          <p:nvPr/>
        </p:nvSpPr>
        <p:spPr>
          <a:xfrm xmlns:a="http://schemas.openxmlformats.org/drawingml/2006/main">
            <a:off x="105727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4" name="shape-60"/>
          <p:cNvSpPr>
            <a:spLocks xmlns:a="http://schemas.openxmlformats.org/drawingml/2006/main" noGrp="1"/>
          </p:cNvSpPr>
          <p:nvPr/>
        </p:nvSpPr>
        <p:spPr>
          <a:xfrm xmlns:a="http://schemas.openxmlformats.org/drawingml/2006/main">
            <a:off x="129540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5" name="shape-61"/>
          <p:cNvSpPr>
            <a:spLocks xmlns:a="http://schemas.openxmlformats.org/drawingml/2006/main" noGrp="1"/>
          </p:cNvSpPr>
          <p:nvPr/>
        </p:nvSpPr>
        <p:spPr>
          <a:xfrm xmlns:a="http://schemas.openxmlformats.org/drawingml/2006/main">
            <a:off x="153352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6" name="shape-62"/>
          <p:cNvSpPr>
            <a:spLocks xmlns:a="http://schemas.openxmlformats.org/drawingml/2006/main" noGrp="1"/>
          </p:cNvSpPr>
          <p:nvPr/>
        </p:nvSpPr>
        <p:spPr>
          <a:xfrm xmlns:a="http://schemas.openxmlformats.org/drawingml/2006/main">
            <a:off x="177165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7" name="shape-63"/>
          <p:cNvSpPr>
            <a:spLocks xmlns:a="http://schemas.openxmlformats.org/drawingml/2006/main" noGrp="1"/>
          </p:cNvSpPr>
          <p:nvPr/>
        </p:nvSpPr>
        <p:spPr>
          <a:xfrm xmlns:a="http://schemas.openxmlformats.org/drawingml/2006/main">
            <a:off x="200977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8" name="shape-64"/>
          <p:cNvSpPr>
            <a:spLocks xmlns:a="http://schemas.openxmlformats.org/drawingml/2006/main" noGrp="1"/>
          </p:cNvSpPr>
          <p:nvPr/>
        </p:nvSpPr>
        <p:spPr>
          <a:xfrm xmlns:a="http://schemas.openxmlformats.org/drawingml/2006/main">
            <a:off x="224790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9" name="shape-65"/>
          <p:cNvSpPr>
            <a:spLocks xmlns:a="http://schemas.openxmlformats.org/drawingml/2006/main" noGrp="1"/>
          </p:cNvSpPr>
          <p:nvPr/>
        </p:nvSpPr>
        <p:spPr>
          <a:xfrm xmlns:a="http://schemas.openxmlformats.org/drawingml/2006/main">
            <a:off x="248602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0" name="shape-66"/>
          <p:cNvSpPr>
            <a:spLocks xmlns:a="http://schemas.openxmlformats.org/drawingml/2006/main" noGrp="1"/>
          </p:cNvSpPr>
          <p:nvPr/>
        </p:nvSpPr>
        <p:spPr>
          <a:xfrm xmlns:a="http://schemas.openxmlformats.org/drawingml/2006/main">
            <a:off x="272415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1" name="shape-67"/>
          <p:cNvSpPr>
            <a:spLocks xmlns:a="http://schemas.openxmlformats.org/drawingml/2006/main" noGrp="1"/>
          </p:cNvSpPr>
          <p:nvPr/>
        </p:nvSpPr>
        <p:spPr>
          <a:xfrm xmlns:a="http://schemas.openxmlformats.org/drawingml/2006/main">
            <a:off x="296227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2" name="shape-68"/>
          <p:cNvSpPr>
            <a:spLocks xmlns:a="http://schemas.openxmlformats.org/drawingml/2006/main" noGrp="1"/>
          </p:cNvSpPr>
          <p:nvPr/>
        </p:nvSpPr>
        <p:spPr>
          <a:xfrm xmlns:a="http://schemas.openxmlformats.org/drawingml/2006/main">
            <a:off x="320040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3" name="shape-69"/>
          <p:cNvSpPr>
            <a:spLocks xmlns:a="http://schemas.openxmlformats.org/drawingml/2006/main" noGrp="1"/>
          </p:cNvSpPr>
          <p:nvPr/>
        </p:nvSpPr>
        <p:spPr>
          <a:xfrm xmlns:a="http://schemas.openxmlformats.org/drawingml/2006/main">
            <a:off x="343852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4" name="shape-70"/>
          <p:cNvSpPr>
            <a:spLocks xmlns:a="http://schemas.openxmlformats.org/drawingml/2006/main" noGrp="1"/>
          </p:cNvSpPr>
          <p:nvPr/>
        </p:nvSpPr>
        <p:spPr>
          <a:xfrm xmlns:a="http://schemas.openxmlformats.org/drawingml/2006/main">
            <a:off x="3676650"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5" name="shape-71"/>
          <p:cNvSpPr>
            <a:spLocks xmlns:a="http://schemas.openxmlformats.org/drawingml/2006/main" noGrp="1"/>
          </p:cNvSpPr>
          <p:nvPr/>
        </p:nvSpPr>
        <p:spPr>
          <a:xfrm xmlns:a="http://schemas.openxmlformats.org/drawingml/2006/main">
            <a:off x="3914775" y="2314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6" name="shape-72"/>
          <p:cNvSpPr>
            <a:spLocks xmlns:a="http://schemas.openxmlformats.org/drawingml/2006/main" noGrp="1"/>
          </p:cNvSpPr>
          <p:nvPr/>
        </p:nvSpPr>
        <p:spPr>
          <a:xfrm xmlns:a="http://schemas.openxmlformats.org/drawingml/2006/main">
            <a:off x="81915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7" name="shape-73"/>
          <p:cNvSpPr>
            <a:spLocks xmlns:a="http://schemas.openxmlformats.org/drawingml/2006/main" noGrp="1"/>
          </p:cNvSpPr>
          <p:nvPr/>
        </p:nvSpPr>
        <p:spPr>
          <a:xfrm xmlns:a="http://schemas.openxmlformats.org/drawingml/2006/main">
            <a:off x="105727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8" name="shape-74"/>
          <p:cNvSpPr>
            <a:spLocks xmlns:a="http://schemas.openxmlformats.org/drawingml/2006/main" noGrp="1"/>
          </p:cNvSpPr>
          <p:nvPr/>
        </p:nvSpPr>
        <p:spPr>
          <a:xfrm xmlns:a="http://schemas.openxmlformats.org/drawingml/2006/main">
            <a:off x="129540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39" name="shape-75"/>
          <p:cNvSpPr>
            <a:spLocks xmlns:a="http://schemas.openxmlformats.org/drawingml/2006/main" noGrp="1"/>
          </p:cNvSpPr>
          <p:nvPr/>
        </p:nvSpPr>
        <p:spPr>
          <a:xfrm xmlns:a="http://schemas.openxmlformats.org/drawingml/2006/main">
            <a:off x="153352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0" name="shape-76"/>
          <p:cNvSpPr>
            <a:spLocks xmlns:a="http://schemas.openxmlformats.org/drawingml/2006/main" noGrp="1"/>
          </p:cNvSpPr>
          <p:nvPr/>
        </p:nvSpPr>
        <p:spPr>
          <a:xfrm xmlns:a="http://schemas.openxmlformats.org/drawingml/2006/main">
            <a:off x="177165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1" name="shape-77"/>
          <p:cNvSpPr>
            <a:spLocks xmlns:a="http://schemas.openxmlformats.org/drawingml/2006/main" noGrp="1"/>
          </p:cNvSpPr>
          <p:nvPr/>
        </p:nvSpPr>
        <p:spPr>
          <a:xfrm xmlns:a="http://schemas.openxmlformats.org/drawingml/2006/main">
            <a:off x="200977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2" name="shape-78"/>
          <p:cNvSpPr>
            <a:spLocks xmlns:a="http://schemas.openxmlformats.org/drawingml/2006/main" noGrp="1"/>
          </p:cNvSpPr>
          <p:nvPr/>
        </p:nvSpPr>
        <p:spPr>
          <a:xfrm xmlns:a="http://schemas.openxmlformats.org/drawingml/2006/main">
            <a:off x="224790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3" name="shape-79"/>
          <p:cNvSpPr>
            <a:spLocks xmlns:a="http://schemas.openxmlformats.org/drawingml/2006/main" noGrp="1"/>
          </p:cNvSpPr>
          <p:nvPr/>
        </p:nvSpPr>
        <p:spPr>
          <a:xfrm xmlns:a="http://schemas.openxmlformats.org/drawingml/2006/main">
            <a:off x="248602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4" name="shape-80"/>
          <p:cNvSpPr>
            <a:spLocks xmlns:a="http://schemas.openxmlformats.org/drawingml/2006/main" noGrp="1"/>
          </p:cNvSpPr>
          <p:nvPr/>
        </p:nvSpPr>
        <p:spPr>
          <a:xfrm xmlns:a="http://schemas.openxmlformats.org/drawingml/2006/main">
            <a:off x="272415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5" name="shape-81"/>
          <p:cNvSpPr>
            <a:spLocks xmlns:a="http://schemas.openxmlformats.org/drawingml/2006/main" noGrp="1"/>
          </p:cNvSpPr>
          <p:nvPr/>
        </p:nvSpPr>
        <p:spPr>
          <a:xfrm xmlns:a="http://schemas.openxmlformats.org/drawingml/2006/main">
            <a:off x="296227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6" name="shape-82"/>
          <p:cNvSpPr>
            <a:spLocks xmlns:a="http://schemas.openxmlformats.org/drawingml/2006/main" noGrp="1"/>
          </p:cNvSpPr>
          <p:nvPr/>
        </p:nvSpPr>
        <p:spPr>
          <a:xfrm xmlns:a="http://schemas.openxmlformats.org/drawingml/2006/main">
            <a:off x="320040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7" name="shape-83"/>
          <p:cNvSpPr>
            <a:spLocks xmlns:a="http://schemas.openxmlformats.org/drawingml/2006/main" noGrp="1"/>
          </p:cNvSpPr>
          <p:nvPr/>
        </p:nvSpPr>
        <p:spPr>
          <a:xfrm xmlns:a="http://schemas.openxmlformats.org/drawingml/2006/main">
            <a:off x="343852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8" name="shape-84"/>
          <p:cNvSpPr>
            <a:spLocks xmlns:a="http://schemas.openxmlformats.org/drawingml/2006/main" noGrp="1"/>
          </p:cNvSpPr>
          <p:nvPr/>
        </p:nvSpPr>
        <p:spPr>
          <a:xfrm xmlns:a="http://schemas.openxmlformats.org/drawingml/2006/main">
            <a:off x="3676650"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49" name="shape-85"/>
          <p:cNvSpPr>
            <a:spLocks xmlns:a="http://schemas.openxmlformats.org/drawingml/2006/main" noGrp="1"/>
          </p:cNvSpPr>
          <p:nvPr/>
        </p:nvSpPr>
        <p:spPr>
          <a:xfrm xmlns:a="http://schemas.openxmlformats.org/drawingml/2006/main">
            <a:off x="3914775" y="2552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0" name="shape-86"/>
          <p:cNvSpPr>
            <a:spLocks xmlns:a="http://schemas.openxmlformats.org/drawingml/2006/main" noGrp="1"/>
          </p:cNvSpPr>
          <p:nvPr/>
        </p:nvSpPr>
        <p:spPr>
          <a:xfrm xmlns:a="http://schemas.openxmlformats.org/drawingml/2006/main">
            <a:off x="819150"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1" name="shape-87"/>
          <p:cNvSpPr>
            <a:spLocks xmlns:a="http://schemas.openxmlformats.org/drawingml/2006/main" noGrp="1"/>
          </p:cNvSpPr>
          <p:nvPr/>
        </p:nvSpPr>
        <p:spPr>
          <a:xfrm xmlns:a="http://schemas.openxmlformats.org/drawingml/2006/main">
            <a:off x="105727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2" name="shape-88"/>
          <p:cNvSpPr>
            <a:spLocks xmlns:a="http://schemas.openxmlformats.org/drawingml/2006/main" noGrp="1"/>
          </p:cNvSpPr>
          <p:nvPr/>
        </p:nvSpPr>
        <p:spPr>
          <a:xfrm xmlns:a="http://schemas.openxmlformats.org/drawingml/2006/main">
            <a:off x="1295400"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3" name="shape-89"/>
          <p:cNvSpPr>
            <a:spLocks xmlns:a="http://schemas.openxmlformats.org/drawingml/2006/main" noGrp="1"/>
          </p:cNvSpPr>
          <p:nvPr/>
        </p:nvSpPr>
        <p:spPr>
          <a:xfrm xmlns:a="http://schemas.openxmlformats.org/drawingml/2006/main">
            <a:off x="153352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4" name="shape-90"/>
          <p:cNvSpPr>
            <a:spLocks xmlns:a="http://schemas.openxmlformats.org/drawingml/2006/main" noGrp="1"/>
          </p:cNvSpPr>
          <p:nvPr/>
        </p:nvSpPr>
        <p:spPr>
          <a:xfrm xmlns:a="http://schemas.openxmlformats.org/drawingml/2006/main">
            <a:off x="1771650" y="279082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55" name="shape-91"/>
          <p:cNvSpPr>
            <a:spLocks xmlns:a="http://schemas.openxmlformats.org/drawingml/2006/main" noGrp="1"/>
          </p:cNvSpPr>
          <p:nvPr/>
        </p:nvSpPr>
        <p:spPr>
          <a:xfrm xmlns:a="http://schemas.openxmlformats.org/drawingml/2006/main">
            <a:off x="200977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6" name="shape-92"/>
          <p:cNvSpPr>
            <a:spLocks xmlns:a="http://schemas.openxmlformats.org/drawingml/2006/main" noGrp="1"/>
          </p:cNvSpPr>
          <p:nvPr/>
        </p:nvSpPr>
        <p:spPr>
          <a:xfrm xmlns:a="http://schemas.openxmlformats.org/drawingml/2006/main">
            <a:off x="2247900"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7" name="shape-93"/>
          <p:cNvSpPr>
            <a:spLocks xmlns:a="http://schemas.openxmlformats.org/drawingml/2006/main" noGrp="1"/>
          </p:cNvSpPr>
          <p:nvPr/>
        </p:nvSpPr>
        <p:spPr>
          <a:xfrm xmlns:a="http://schemas.openxmlformats.org/drawingml/2006/main">
            <a:off x="248602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8" name="shape-94"/>
          <p:cNvSpPr>
            <a:spLocks xmlns:a="http://schemas.openxmlformats.org/drawingml/2006/main" noGrp="1"/>
          </p:cNvSpPr>
          <p:nvPr/>
        </p:nvSpPr>
        <p:spPr>
          <a:xfrm xmlns:a="http://schemas.openxmlformats.org/drawingml/2006/main">
            <a:off x="2724150"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59" name="shape-95"/>
          <p:cNvSpPr>
            <a:spLocks xmlns:a="http://schemas.openxmlformats.org/drawingml/2006/main" noGrp="1"/>
          </p:cNvSpPr>
          <p:nvPr/>
        </p:nvSpPr>
        <p:spPr>
          <a:xfrm xmlns:a="http://schemas.openxmlformats.org/drawingml/2006/main">
            <a:off x="296227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0" name="shape-96"/>
          <p:cNvSpPr>
            <a:spLocks xmlns:a="http://schemas.openxmlformats.org/drawingml/2006/main" noGrp="1"/>
          </p:cNvSpPr>
          <p:nvPr/>
        </p:nvSpPr>
        <p:spPr>
          <a:xfrm xmlns:a="http://schemas.openxmlformats.org/drawingml/2006/main">
            <a:off x="3200400"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1" name="shape-97"/>
          <p:cNvSpPr>
            <a:spLocks xmlns:a="http://schemas.openxmlformats.org/drawingml/2006/main" noGrp="1"/>
          </p:cNvSpPr>
          <p:nvPr/>
        </p:nvSpPr>
        <p:spPr>
          <a:xfrm xmlns:a="http://schemas.openxmlformats.org/drawingml/2006/main">
            <a:off x="343852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2" name="shape-98"/>
          <p:cNvSpPr>
            <a:spLocks xmlns:a="http://schemas.openxmlformats.org/drawingml/2006/main" noGrp="1"/>
          </p:cNvSpPr>
          <p:nvPr/>
        </p:nvSpPr>
        <p:spPr>
          <a:xfrm xmlns:a="http://schemas.openxmlformats.org/drawingml/2006/main">
            <a:off x="3676650"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3" name="shape-99"/>
          <p:cNvSpPr>
            <a:spLocks xmlns:a="http://schemas.openxmlformats.org/drawingml/2006/main" noGrp="1"/>
          </p:cNvSpPr>
          <p:nvPr/>
        </p:nvSpPr>
        <p:spPr>
          <a:xfrm xmlns:a="http://schemas.openxmlformats.org/drawingml/2006/main">
            <a:off x="3914775" y="2790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4" name="shape-100"/>
          <p:cNvSpPr>
            <a:spLocks xmlns:a="http://schemas.openxmlformats.org/drawingml/2006/main" noGrp="1"/>
          </p:cNvSpPr>
          <p:nvPr/>
        </p:nvSpPr>
        <p:spPr>
          <a:xfrm xmlns:a="http://schemas.openxmlformats.org/drawingml/2006/main">
            <a:off x="819150" y="3028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5" name="shape-101"/>
          <p:cNvSpPr>
            <a:spLocks xmlns:a="http://schemas.openxmlformats.org/drawingml/2006/main" noGrp="1"/>
          </p:cNvSpPr>
          <p:nvPr/>
        </p:nvSpPr>
        <p:spPr>
          <a:xfrm xmlns:a="http://schemas.openxmlformats.org/drawingml/2006/main">
            <a:off x="1057275" y="3028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66" name="shape-102"/>
          <p:cNvSpPr>
            <a:spLocks xmlns:a="http://schemas.openxmlformats.org/drawingml/2006/main" noGrp="1"/>
          </p:cNvSpPr>
          <p:nvPr/>
        </p:nvSpPr>
        <p:spPr>
          <a:xfrm xmlns:a="http://schemas.openxmlformats.org/drawingml/2006/main">
            <a:off x="1295400" y="30289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67" name="shape-103"/>
          <p:cNvSpPr>
            <a:spLocks xmlns:a="http://schemas.openxmlformats.org/drawingml/2006/main" noGrp="1"/>
          </p:cNvSpPr>
          <p:nvPr/>
        </p:nvSpPr>
        <p:spPr>
          <a:xfrm xmlns:a="http://schemas.openxmlformats.org/drawingml/2006/main">
            <a:off x="1533525" y="30289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68" name="shape-104"/>
          <p:cNvSpPr>
            <a:spLocks xmlns:a="http://schemas.openxmlformats.org/drawingml/2006/main" noGrp="1"/>
          </p:cNvSpPr>
          <p:nvPr/>
        </p:nvSpPr>
        <p:spPr>
          <a:xfrm xmlns:a="http://schemas.openxmlformats.org/drawingml/2006/main">
            <a:off x="1771650" y="30289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69" name="shape-105"/>
          <p:cNvSpPr>
            <a:spLocks xmlns:a="http://schemas.openxmlformats.org/drawingml/2006/main" noGrp="1"/>
          </p:cNvSpPr>
          <p:nvPr/>
        </p:nvSpPr>
        <p:spPr>
          <a:xfrm xmlns:a="http://schemas.openxmlformats.org/drawingml/2006/main">
            <a:off x="2009775" y="30289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70" name="shape-106"/>
          <p:cNvSpPr>
            <a:spLocks xmlns:a="http://schemas.openxmlformats.org/drawingml/2006/main" noGrp="1"/>
          </p:cNvSpPr>
          <p:nvPr/>
        </p:nvSpPr>
        <p:spPr>
          <a:xfrm xmlns:a="http://schemas.openxmlformats.org/drawingml/2006/main">
            <a:off x="2247900" y="30289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71" name="shape-107"/>
          <p:cNvSpPr>
            <a:spLocks xmlns:a="http://schemas.openxmlformats.org/drawingml/2006/main" noGrp="1"/>
          </p:cNvSpPr>
          <p:nvPr/>
        </p:nvSpPr>
        <p:spPr>
          <a:xfrm xmlns:a="http://schemas.openxmlformats.org/drawingml/2006/main">
            <a:off x="2486025" y="3028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72" name="shape-108"/>
          <p:cNvSpPr>
            <a:spLocks xmlns:a="http://schemas.openxmlformats.org/drawingml/2006/main" noGrp="1"/>
          </p:cNvSpPr>
          <p:nvPr/>
        </p:nvSpPr>
        <p:spPr>
          <a:xfrm xmlns:a="http://schemas.openxmlformats.org/drawingml/2006/main">
            <a:off x="2724150" y="3028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73" name="shape-109"/>
          <p:cNvSpPr>
            <a:spLocks xmlns:a="http://schemas.openxmlformats.org/drawingml/2006/main" noGrp="1"/>
          </p:cNvSpPr>
          <p:nvPr/>
        </p:nvSpPr>
        <p:spPr>
          <a:xfrm xmlns:a="http://schemas.openxmlformats.org/drawingml/2006/main">
            <a:off x="2962275" y="30289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74" name="shape-110"/>
          <p:cNvSpPr>
            <a:spLocks xmlns:a="http://schemas.openxmlformats.org/drawingml/2006/main" noGrp="1"/>
          </p:cNvSpPr>
          <p:nvPr/>
        </p:nvSpPr>
        <p:spPr>
          <a:xfrm xmlns:a="http://schemas.openxmlformats.org/drawingml/2006/main">
            <a:off x="3200400" y="30289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75" name="shape-111"/>
          <p:cNvSpPr>
            <a:spLocks xmlns:a="http://schemas.openxmlformats.org/drawingml/2006/main" noGrp="1"/>
          </p:cNvSpPr>
          <p:nvPr/>
        </p:nvSpPr>
        <p:spPr>
          <a:xfrm xmlns:a="http://schemas.openxmlformats.org/drawingml/2006/main">
            <a:off x="3438525" y="30289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76" name="shape-112"/>
          <p:cNvSpPr>
            <a:spLocks xmlns:a="http://schemas.openxmlformats.org/drawingml/2006/main" noGrp="1"/>
          </p:cNvSpPr>
          <p:nvPr/>
        </p:nvSpPr>
        <p:spPr>
          <a:xfrm xmlns:a="http://schemas.openxmlformats.org/drawingml/2006/main">
            <a:off x="3676650" y="30289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77" name="shape-113"/>
          <p:cNvSpPr>
            <a:spLocks xmlns:a="http://schemas.openxmlformats.org/drawingml/2006/main" noGrp="1"/>
          </p:cNvSpPr>
          <p:nvPr/>
        </p:nvSpPr>
        <p:spPr>
          <a:xfrm xmlns:a="http://schemas.openxmlformats.org/drawingml/2006/main">
            <a:off x="3914775" y="3028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78" name="shape-114"/>
          <p:cNvSpPr>
            <a:spLocks xmlns:a="http://schemas.openxmlformats.org/drawingml/2006/main" noGrp="1"/>
          </p:cNvSpPr>
          <p:nvPr/>
        </p:nvSpPr>
        <p:spPr>
          <a:xfrm xmlns:a="http://schemas.openxmlformats.org/drawingml/2006/main">
            <a:off x="819150" y="3267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79" name="shape-115"/>
          <p:cNvSpPr>
            <a:spLocks xmlns:a="http://schemas.openxmlformats.org/drawingml/2006/main" noGrp="1"/>
          </p:cNvSpPr>
          <p:nvPr/>
        </p:nvSpPr>
        <p:spPr>
          <a:xfrm xmlns:a="http://schemas.openxmlformats.org/drawingml/2006/main">
            <a:off x="1057275" y="3267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80" name="shape-116"/>
          <p:cNvSpPr>
            <a:spLocks xmlns:a="http://schemas.openxmlformats.org/drawingml/2006/main" noGrp="1"/>
          </p:cNvSpPr>
          <p:nvPr/>
        </p:nvSpPr>
        <p:spPr>
          <a:xfrm xmlns:a="http://schemas.openxmlformats.org/drawingml/2006/main">
            <a:off x="1295400" y="326707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81" name="shape-117"/>
          <p:cNvSpPr>
            <a:spLocks xmlns:a="http://schemas.openxmlformats.org/drawingml/2006/main" noGrp="1"/>
          </p:cNvSpPr>
          <p:nvPr/>
        </p:nvSpPr>
        <p:spPr>
          <a:xfrm xmlns:a="http://schemas.openxmlformats.org/drawingml/2006/main">
            <a:off x="1533525" y="326707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82" name="shape-118"/>
          <p:cNvSpPr>
            <a:spLocks xmlns:a="http://schemas.openxmlformats.org/drawingml/2006/main" noGrp="1"/>
          </p:cNvSpPr>
          <p:nvPr/>
        </p:nvSpPr>
        <p:spPr>
          <a:xfrm xmlns:a="http://schemas.openxmlformats.org/drawingml/2006/main">
            <a:off x="1771650" y="326707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83" name="shape-119"/>
          <p:cNvSpPr>
            <a:spLocks xmlns:a="http://schemas.openxmlformats.org/drawingml/2006/main" noGrp="1"/>
          </p:cNvSpPr>
          <p:nvPr/>
        </p:nvSpPr>
        <p:spPr>
          <a:xfrm xmlns:a="http://schemas.openxmlformats.org/drawingml/2006/main">
            <a:off x="2009775" y="326707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84" name="shape-120"/>
          <p:cNvSpPr>
            <a:spLocks xmlns:a="http://schemas.openxmlformats.org/drawingml/2006/main" noGrp="1"/>
          </p:cNvSpPr>
          <p:nvPr/>
        </p:nvSpPr>
        <p:spPr>
          <a:xfrm xmlns:a="http://schemas.openxmlformats.org/drawingml/2006/main">
            <a:off x="2247900" y="326707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85" name="shape-121"/>
          <p:cNvSpPr>
            <a:spLocks xmlns:a="http://schemas.openxmlformats.org/drawingml/2006/main" noGrp="1"/>
          </p:cNvSpPr>
          <p:nvPr/>
        </p:nvSpPr>
        <p:spPr>
          <a:xfrm xmlns:a="http://schemas.openxmlformats.org/drawingml/2006/main">
            <a:off x="2486025" y="3267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86" name="shape-122"/>
          <p:cNvSpPr>
            <a:spLocks xmlns:a="http://schemas.openxmlformats.org/drawingml/2006/main" noGrp="1"/>
          </p:cNvSpPr>
          <p:nvPr/>
        </p:nvSpPr>
        <p:spPr>
          <a:xfrm xmlns:a="http://schemas.openxmlformats.org/drawingml/2006/main">
            <a:off x="2724150" y="3267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87" name="shape-123"/>
          <p:cNvSpPr>
            <a:spLocks xmlns:a="http://schemas.openxmlformats.org/drawingml/2006/main" noGrp="1"/>
          </p:cNvSpPr>
          <p:nvPr/>
        </p:nvSpPr>
        <p:spPr>
          <a:xfrm xmlns:a="http://schemas.openxmlformats.org/drawingml/2006/main">
            <a:off x="2962275" y="32670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88" name="shape-124"/>
          <p:cNvSpPr>
            <a:spLocks xmlns:a="http://schemas.openxmlformats.org/drawingml/2006/main" noGrp="1"/>
          </p:cNvSpPr>
          <p:nvPr/>
        </p:nvSpPr>
        <p:spPr>
          <a:xfrm xmlns:a="http://schemas.openxmlformats.org/drawingml/2006/main">
            <a:off x="3200400" y="32670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89" name="shape-125"/>
          <p:cNvSpPr>
            <a:spLocks xmlns:a="http://schemas.openxmlformats.org/drawingml/2006/main" noGrp="1"/>
          </p:cNvSpPr>
          <p:nvPr/>
        </p:nvSpPr>
        <p:spPr>
          <a:xfrm xmlns:a="http://schemas.openxmlformats.org/drawingml/2006/main">
            <a:off x="3438525" y="32670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90" name="shape-126"/>
          <p:cNvSpPr>
            <a:spLocks xmlns:a="http://schemas.openxmlformats.org/drawingml/2006/main" noGrp="1"/>
          </p:cNvSpPr>
          <p:nvPr/>
        </p:nvSpPr>
        <p:spPr>
          <a:xfrm xmlns:a="http://schemas.openxmlformats.org/drawingml/2006/main">
            <a:off x="3676650" y="32670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91" name="shape-127"/>
          <p:cNvSpPr>
            <a:spLocks xmlns:a="http://schemas.openxmlformats.org/drawingml/2006/main" noGrp="1"/>
          </p:cNvSpPr>
          <p:nvPr/>
        </p:nvSpPr>
        <p:spPr>
          <a:xfrm xmlns:a="http://schemas.openxmlformats.org/drawingml/2006/main">
            <a:off x="3914775" y="3267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92" name="shape-128"/>
          <p:cNvSpPr>
            <a:spLocks xmlns:a="http://schemas.openxmlformats.org/drawingml/2006/main" noGrp="1"/>
          </p:cNvSpPr>
          <p:nvPr/>
        </p:nvSpPr>
        <p:spPr>
          <a:xfrm xmlns:a="http://schemas.openxmlformats.org/drawingml/2006/main">
            <a:off x="819150" y="35052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93" name="shape-129"/>
          <p:cNvSpPr>
            <a:spLocks xmlns:a="http://schemas.openxmlformats.org/drawingml/2006/main" noGrp="1"/>
          </p:cNvSpPr>
          <p:nvPr/>
        </p:nvSpPr>
        <p:spPr>
          <a:xfrm xmlns:a="http://schemas.openxmlformats.org/drawingml/2006/main">
            <a:off x="1057275"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94" name="shape-130"/>
          <p:cNvSpPr>
            <a:spLocks xmlns:a="http://schemas.openxmlformats.org/drawingml/2006/main" noGrp="1"/>
          </p:cNvSpPr>
          <p:nvPr/>
        </p:nvSpPr>
        <p:spPr>
          <a:xfrm xmlns:a="http://schemas.openxmlformats.org/drawingml/2006/main">
            <a:off x="1295400"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95" name="shape-131"/>
          <p:cNvSpPr>
            <a:spLocks xmlns:a="http://schemas.openxmlformats.org/drawingml/2006/main" noGrp="1"/>
          </p:cNvSpPr>
          <p:nvPr/>
        </p:nvSpPr>
        <p:spPr>
          <a:xfrm xmlns:a="http://schemas.openxmlformats.org/drawingml/2006/main">
            <a:off x="1533525"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96" name="shape-132"/>
          <p:cNvSpPr>
            <a:spLocks xmlns:a="http://schemas.openxmlformats.org/drawingml/2006/main" noGrp="1"/>
          </p:cNvSpPr>
          <p:nvPr/>
        </p:nvSpPr>
        <p:spPr>
          <a:xfrm xmlns:a="http://schemas.openxmlformats.org/drawingml/2006/main">
            <a:off x="1771650"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97" name="shape-133"/>
          <p:cNvSpPr>
            <a:spLocks xmlns:a="http://schemas.openxmlformats.org/drawingml/2006/main" noGrp="1"/>
          </p:cNvSpPr>
          <p:nvPr/>
        </p:nvSpPr>
        <p:spPr>
          <a:xfrm xmlns:a="http://schemas.openxmlformats.org/drawingml/2006/main">
            <a:off x="2009775"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98" name="shape-134"/>
          <p:cNvSpPr>
            <a:spLocks xmlns:a="http://schemas.openxmlformats.org/drawingml/2006/main" noGrp="1"/>
          </p:cNvSpPr>
          <p:nvPr/>
        </p:nvSpPr>
        <p:spPr>
          <a:xfrm xmlns:a="http://schemas.openxmlformats.org/drawingml/2006/main">
            <a:off x="2247900"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99" name="shape-135"/>
          <p:cNvSpPr>
            <a:spLocks xmlns:a="http://schemas.openxmlformats.org/drawingml/2006/main" noGrp="1"/>
          </p:cNvSpPr>
          <p:nvPr/>
        </p:nvSpPr>
        <p:spPr>
          <a:xfrm xmlns:a="http://schemas.openxmlformats.org/drawingml/2006/main">
            <a:off x="2486025" y="350520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00" name="shape-136"/>
          <p:cNvSpPr>
            <a:spLocks xmlns:a="http://schemas.openxmlformats.org/drawingml/2006/main" noGrp="1"/>
          </p:cNvSpPr>
          <p:nvPr/>
        </p:nvSpPr>
        <p:spPr>
          <a:xfrm xmlns:a="http://schemas.openxmlformats.org/drawingml/2006/main">
            <a:off x="2724150" y="35052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01" name="shape-137"/>
          <p:cNvSpPr>
            <a:spLocks xmlns:a="http://schemas.openxmlformats.org/drawingml/2006/main" noGrp="1"/>
          </p:cNvSpPr>
          <p:nvPr/>
        </p:nvSpPr>
        <p:spPr>
          <a:xfrm xmlns:a="http://schemas.openxmlformats.org/drawingml/2006/main">
            <a:off x="2962275" y="350520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02" name="shape-138"/>
          <p:cNvSpPr>
            <a:spLocks xmlns:a="http://schemas.openxmlformats.org/drawingml/2006/main" noGrp="1"/>
          </p:cNvSpPr>
          <p:nvPr/>
        </p:nvSpPr>
        <p:spPr>
          <a:xfrm xmlns:a="http://schemas.openxmlformats.org/drawingml/2006/main">
            <a:off x="3200400" y="350520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03" name="shape-139"/>
          <p:cNvSpPr>
            <a:spLocks xmlns:a="http://schemas.openxmlformats.org/drawingml/2006/main" noGrp="1"/>
          </p:cNvSpPr>
          <p:nvPr/>
        </p:nvSpPr>
        <p:spPr>
          <a:xfrm xmlns:a="http://schemas.openxmlformats.org/drawingml/2006/main">
            <a:off x="3438525" y="350520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04" name="shape-140"/>
          <p:cNvSpPr>
            <a:spLocks xmlns:a="http://schemas.openxmlformats.org/drawingml/2006/main" noGrp="1"/>
          </p:cNvSpPr>
          <p:nvPr/>
        </p:nvSpPr>
        <p:spPr>
          <a:xfrm xmlns:a="http://schemas.openxmlformats.org/drawingml/2006/main">
            <a:off x="3676650" y="350520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05" name="shape-141"/>
          <p:cNvSpPr>
            <a:spLocks xmlns:a="http://schemas.openxmlformats.org/drawingml/2006/main" noGrp="1"/>
          </p:cNvSpPr>
          <p:nvPr/>
        </p:nvSpPr>
        <p:spPr>
          <a:xfrm xmlns:a="http://schemas.openxmlformats.org/drawingml/2006/main">
            <a:off x="3914775" y="35052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06" name="shape-142"/>
          <p:cNvSpPr>
            <a:spLocks xmlns:a="http://schemas.openxmlformats.org/drawingml/2006/main" noGrp="1"/>
          </p:cNvSpPr>
          <p:nvPr/>
        </p:nvSpPr>
        <p:spPr>
          <a:xfrm xmlns:a="http://schemas.openxmlformats.org/drawingml/2006/main">
            <a:off x="819150" y="37433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07" name="shape-143"/>
          <p:cNvSpPr>
            <a:spLocks xmlns:a="http://schemas.openxmlformats.org/drawingml/2006/main" noGrp="1"/>
          </p:cNvSpPr>
          <p:nvPr/>
        </p:nvSpPr>
        <p:spPr>
          <a:xfrm xmlns:a="http://schemas.openxmlformats.org/drawingml/2006/main">
            <a:off x="1057275" y="37433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08" name="shape-144"/>
          <p:cNvSpPr>
            <a:spLocks xmlns:a="http://schemas.openxmlformats.org/drawingml/2006/main" noGrp="1"/>
          </p:cNvSpPr>
          <p:nvPr/>
        </p:nvSpPr>
        <p:spPr>
          <a:xfrm xmlns:a="http://schemas.openxmlformats.org/drawingml/2006/main">
            <a:off x="1295400" y="374332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09" name="shape-145"/>
          <p:cNvSpPr>
            <a:spLocks xmlns:a="http://schemas.openxmlformats.org/drawingml/2006/main" noGrp="1"/>
          </p:cNvSpPr>
          <p:nvPr/>
        </p:nvSpPr>
        <p:spPr>
          <a:xfrm xmlns:a="http://schemas.openxmlformats.org/drawingml/2006/main">
            <a:off x="1533525" y="374332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10" name="shape-146"/>
          <p:cNvSpPr>
            <a:spLocks xmlns:a="http://schemas.openxmlformats.org/drawingml/2006/main" noGrp="1"/>
          </p:cNvSpPr>
          <p:nvPr/>
        </p:nvSpPr>
        <p:spPr>
          <a:xfrm xmlns:a="http://schemas.openxmlformats.org/drawingml/2006/main">
            <a:off x="1771650" y="374332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11" name="shape-147"/>
          <p:cNvSpPr>
            <a:spLocks xmlns:a="http://schemas.openxmlformats.org/drawingml/2006/main" noGrp="1"/>
          </p:cNvSpPr>
          <p:nvPr/>
        </p:nvSpPr>
        <p:spPr>
          <a:xfrm xmlns:a="http://schemas.openxmlformats.org/drawingml/2006/main">
            <a:off x="2009775" y="374332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12" name="shape-148"/>
          <p:cNvSpPr>
            <a:spLocks xmlns:a="http://schemas.openxmlformats.org/drawingml/2006/main" noGrp="1"/>
          </p:cNvSpPr>
          <p:nvPr/>
        </p:nvSpPr>
        <p:spPr>
          <a:xfrm xmlns:a="http://schemas.openxmlformats.org/drawingml/2006/main">
            <a:off x="2247900" y="374332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13" name="shape-149"/>
          <p:cNvSpPr>
            <a:spLocks xmlns:a="http://schemas.openxmlformats.org/drawingml/2006/main" noGrp="1"/>
          </p:cNvSpPr>
          <p:nvPr/>
        </p:nvSpPr>
        <p:spPr>
          <a:xfrm xmlns:a="http://schemas.openxmlformats.org/drawingml/2006/main">
            <a:off x="2486025" y="37433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14" name="shape-150"/>
          <p:cNvSpPr>
            <a:spLocks xmlns:a="http://schemas.openxmlformats.org/drawingml/2006/main" noGrp="1"/>
          </p:cNvSpPr>
          <p:nvPr/>
        </p:nvSpPr>
        <p:spPr>
          <a:xfrm xmlns:a="http://schemas.openxmlformats.org/drawingml/2006/main">
            <a:off x="2724150" y="37433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15" name="shape-151"/>
          <p:cNvSpPr>
            <a:spLocks xmlns:a="http://schemas.openxmlformats.org/drawingml/2006/main" noGrp="1"/>
          </p:cNvSpPr>
          <p:nvPr/>
        </p:nvSpPr>
        <p:spPr>
          <a:xfrm xmlns:a="http://schemas.openxmlformats.org/drawingml/2006/main">
            <a:off x="2962275" y="374332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16" name="shape-152"/>
          <p:cNvSpPr>
            <a:spLocks xmlns:a="http://schemas.openxmlformats.org/drawingml/2006/main" noGrp="1"/>
          </p:cNvSpPr>
          <p:nvPr/>
        </p:nvSpPr>
        <p:spPr>
          <a:xfrm xmlns:a="http://schemas.openxmlformats.org/drawingml/2006/main">
            <a:off x="3200400" y="374332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17" name="shape-153"/>
          <p:cNvSpPr>
            <a:spLocks xmlns:a="http://schemas.openxmlformats.org/drawingml/2006/main" noGrp="1"/>
          </p:cNvSpPr>
          <p:nvPr/>
        </p:nvSpPr>
        <p:spPr>
          <a:xfrm xmlns:a="http://schemas.openxmlformats.org/drawingml/2006/main">
            <a:off x="3438525" y="374332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18" name="shape-154"/>
          <p:cNvSpPr>
            <a:spLocks xmlns:a="http://schemas.openxmlformats.org/drawingml/2006/main" noGrp="1"/>
          </p:cNvSpPr>
          <p:nvPr/>
        </p:nvSpPr>
        <p:spPr>
          <a:xfrm xmlns:a="http://schemas.openxmlformats.org/drawingml/2006/main">
            <a:off x="3676650" y="374332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19" name="shape-155"/>
          <p:cNvSpPr>
            <a:spLocks xmlns:a="http://schemas.openxmlformats.org/drawingml/2006/main" noGrp="1"/>
          </p:cNvSpPr>
          <p:nvPr/>
        </p:nvSpPr>
        <p:spPr>
          <a:xfrm xmlns:a="http://schemas.openxmlformats.org/drawingml/2006/main">
            <a:off x="3914775" y="37433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20" name="shape-156"/>
          <p:cNvSpPr>
            <a:spLocks xmlns:a="http://schemas.openxmlformats.org/drawingml/2006/main" noGrp="1"/>
          </p:cNvSpPr>
          <p:nvPr/>
        </p:nvSpPr>
        <p:spPr>
          <a:xfrm xmlns:a="http://schemas.openxmlformats.org/drawingml/2006/main">
            <a:off x="819150" y="3981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21" name="shape-157"/>
          <p:cNvSpPr>
            <a:spLocks xmlns:a="http://schemas.openxmlformats.org/drawingml/2006/main" noGrp="1"/>
          </p:cNvSpPr>
          <p:nvPr/>
        </p:nvSpPr>
        <p:spPr>
          <a:xfrm xmlns:a="http://schemas.openxmlformats.org/drawingml/2006/main">
            <a:off x="1057275" y="3981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22" name="shape-158"/>
          <p:cNvSpPr>
            <a:spLocks xmlns:a="http://schemas.openxmlformats.org/drawingml/2006/main" noGrp="1"/>
          </p:cNvSpPr>
          <p:nvPr/>
        </p:nvSpPr>
        <p:spPr>
          <a:xfrm xmlns:a="http://schemas.openxmlformats.org/drawingml/2006/main">
            <a:off x="1295400" y="39814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23" name="shape-159"/>
          <p:cNvSpPr>
            <a:spLocks xmlns:a="http://schemas.openxmlformats.org/drawingml/2006/main" noGrp="1"/>
          </p:cNvSpPr>
          <p:nvPr/>
        </p:nvSpPr>
        <p:spPr>
          <a:xfrm xmlns:a="http://schemas.openxmlformats.org/drawingml/2006/main">
            <a:off x="1533525" y="39814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24" name="shape-160"/>
          <p:cNvSpPr>
            <a:spLocks xmlns:a="http://schemas.openxmlformats.org/drawingml/2006/main" noGrp="1"/>
          </p:cNvSpPr>
          <p:nvPr/>
        </p:nvSpPr>
        <p:spPr>
          <a:xfrm xmlns:a="http://schemas.openxmlformats.org/drawingml/2006/main">
            <a:off x="1771650" y="39814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25" name="shape-161"/>
          <p:cNvSpPr>
            <a:spLocks xmlns:a="http://schemas.openxmlformats.org/drawingml/2006/main" noGrp="1"/>
          </p:cNvSpPr>
          <p:nvPr/>
        </p:nvSpPr>
        <p:spPr>
          <a:xfrm xmlns:a="http://schemas.openxmlformats.org/drawingml/2006/main">
            <a:off x="2009775" y="39814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26" name="shape-162"/>
          <p:cNvSpPr>
            <a:spLocks xmlns:a="http://schemas.openxmlformats.org/drawingml/2006/main" noGrp="1"/>
          </p:cNvSpPr>
          <p:nvPr/>
        </p:nvSpPr>
        <p:spPr>
          <a:xfrm xmlns:a="http://schemas.openxmlformats.org/drawingml/2006/main">
            <a:off x="2247900" y="3981450"/>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27" name="shape-163"/>
          <p:cNvSpPr>
            <a:spLocks xmlns:a="http://schemas.openxmlformats.org/drawingml/2006/main" noGrp="1"/>
          </p:cNvSpPr>
          <p:nvPr/>
        </p:nvSpPr>
        <p:spPr>
          <a:xfrm xmlns:a="http://schemas.openxmlformats.org/drawingml/2006/main">
            <a:off x="2486025" y="3981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28" name="shape-164"/>
          <p:cNvSpPr>
            <a:spLocks xmlns:a="http://schemas.openxmlformats.org/drawingml/2006/main" noGrp="1"/>
          </p:cNvSpPr>
          <p:nvPr/>
        </p:nvSpPr>
        <p:spPr>
          <a:xfrm xmlns:a="http://schemas.openxmlformats.org/drawingml/2006/main">
            <a:off x="2724150" y="3981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29" name="shape-165"/>
          <p:cNvSpPr>
            <a:spLocks xmlns:a="http://schemas.openxmlformats.org/drawingml/2006/main" noGrp="1"/>
          </p:cNvSpPr>
          <p:nvPr/>
        </p:nvSpPr>
        <p:spPr>
          <a:xfrm xmlns:a="http://schemas.openxmlformats.org/drawingml/2006/main">
            <a:off x="2962275" y="39814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30" name="shape-166"/>
          <p:cNvSpPr>
            <a:spLocks xmlns:a="http://schemas.openxmlformats.org/drawingml/2006/main" noGrp="1"/>
          </p:cNvSpPr>
          <p:nvPr/>
        </p:nvSpPr>
        <p:spPr>
          <a:xfrm xmlns:a="http://schemas.openxmlformats.org/drawingml/2006/main">
            <a:off x="3200400" y="39814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31" name="shape-167"/>
          <p:cNvSpPr>
            <a:spLocks xmlns:a="http://schemas.openxmlformats.org/drawingml/2006/main" noGrp="1"/>
          </p:cNvSpPr>
          <p:nvPr/>
        </p:nvSpPr>
        <p:spPr>
          <a:xfrm xmlns:a="http://schemas.openxmlformats.org/drawingml/2006/main">
            <a:off x="3438525" y="39814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32" name="shape-168"/>
          <p:cNvSpPr>
            <a:spLocks xmlns:a="http://schemas.openxmlformats.org/drawingml/2006/main" noGrp="1"/>
          </p:cNvSpPr>
          <p:nvPr/>
        </p:nvSpPr>
        <p:spPr>
          <a:xfrm xmlns:a="http://schemas.openxmlformats.org/drawingml/2006/main">
            <a:off x="3676650" y="3981450"/>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33" name="shape-169"/>
          <p:cNvSpPr>
            <a:spLocks xmlns:a="http://schemas.openxmlformats.org/drawingml/2006/main" noGrp="1"/>
          </p:cNvSpPr>
          <p:nvPr/>
        </p:nvSpPr>
        <p:spPr>
          <a:xfrm xmlns:a="http://schemas.openxmlformats.org/drawingml/2006/main">
            <a:off x="3914775" y="39814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34" name="shape-170"/>
          <p:cNvSpPr>
            <a:spLocks xmlns:a="http://schemas.openxmlformats.org/drawingml/2006/main" noGrp="1"/>
          </p:cNvSpPr>
          <p:nvPr/>
        </p:nvSpPr>
        <p:spPr>
          <a:xfrm xmlns:a="http://schemas.openxmlformats.org/drawingml/2006/main">
            <a:off x="819150"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35" name="shape-171"/>
          <p:cNvSpPr>
            <a:spLocks xmlns:a="http://schemas.openxmlformats.org/drawingml/2006/main" noGrp="1"/>
          </p:cNvSpPr>
          <p:nvPr/>
        </p:nvSpPr>
        <p:spPr>
          <a:xfrm xmlns:a="http://schemas.openxmlformats.org/drawingml/2006/main">
            <a:off x="1057275"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36" name="shape-172"/>
          <p:cNvSpPr>
            <a:spLocks xmlns:a="http://schemas.openxmlformats.org/drawingml/2006/main" noGrp="1"/>
          </p:cNvSpPr>
          <p:nvPr/>
        </p:nvSpPr>
        <p:spPr>
          <a:xfrm xmlns:a="http://schemas.openxmlformats.org/drawingml/2006/main">
            <a:off x="1295400"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37" name="shape-173"/>
          <p:cNvSpPr>
            <a:spLocks xmlns:a="http://schemas.openxmlformats.org/drawingml/2006/main" noGrp="1"/>
          </p:cNvSpPr>
          <p:nvPr/>
        </p:nvSpPr>
        <p:spPr>
          <a:xfrm xmlns:a="http://schemas.openxmlformats.org/drawingml/2006/main">
            <a:off x="1533525"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38" name="shape-174"/>
          <p:cNvSpPr>
            <a:spLocks xmlns:a="http://schemas.openxmlformats.org/drawingml/2006/main" noGrp="1"/>
          </p:cNvSpPr>
          <p:nvPr/>
        </p:nvSpPr>
        <p:spPr>
          <a:xfrm xmlns:a="http://schemas.openxmlformats.org/drawingml/2006/main">
            <a:off x="1771650" y="4219575"/>
            <a:ext cx="228600" cy="228600"/>
          </a:xfrm>
          <a:prstGeom xmlns:a="http://schemas.openxmlformats.org/drawingml/2006/main" prst="rect">
            <a:avLst/>
          </a:prstGeom>
          <a:solidFill xmlns:a="http://schemas.openxmlformats.org/drawingml/2006/main">
            <a:srgbClr val="E05467"/>
          </a:solidFill>
          <a:ln xmlns:a="http://schemas.openxmlformats.org/drawingml/2006/main" w="0">
            <a:noFill/>
            <a:prstDash val="solid"/>
          </a:ln>
        </p:spPr>
      </p:sp>
      <p:sp>
        <p:nvSpPr>
          <p:cNvPr id="139" name="shape-175"/>
          <p:cNvSpPr>
            <a:spLocks xmlns:a="http://schemas.openxmlformats.org/drawingml/2006/main" noGrp="1"/>
          </p:cNvSpPr>
          <p:nvPr/>
        </p:nvSpPr>
        <p:spPr>
          <a:xfrm xmlns:a="http://schemas.openxmlformats.org/drawingml/2006/main">
            <a:off x="2009775"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0" name="shape-176"/>
          <p:cNvSpPr>
            <a:spLocks xmlns:a="http://schemas.openxmlformats.org/drawingml/2006/main" noGrp="1"/>
          </p:cNvSpPr>
          <p:nvPr/>
        </p:nvSpPr>
        <p:spPr>
          <a:xfrm xmlns:a="http://schemas.openxmlformats.org/drawingml/2006/main">
            <a:off x="2247900"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1" name="shape-177"/>
          <p:cNvSpPr>
            <a:spLocks xmlns:a="http://schemas.openxmlformats.org/drawingml/2006/main" noGrp="1"/>
          </p:cNvSpPr>
          <p:nvPr/>
        </p:nvSpPr>
        <p:spPr>
          <a:xfrm xmlns:a="http://schemas.openxmlformats.org/drawingml/2006/main">
            <a:off x="2486025"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2" name="shape-178"/>
          <p:cNvSpPr>
            <a:spLocks xmlns:a="http://schemas.openxmlformats.org/drawingml/2006/main" noGrp="1"/>
          </p:cNvSpPr>
          <p:nvPr/>
        </p:nvSpPr>
        <p:spPr>
          <a:xfrm xmlns:a="http://schemas.openxmlformats.org/drawingml/2006/main">
            <a:off x="2724150"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3" name="shape-179"/>
          <p:cNvSpPr>
            <a:spLocks xmlns:a="http://schemas.openxmlformats.org/drawingml/2006/main" noGrp="1"/>
          </p:cNvSpPr>
          <p:nvPr/>
        </p:nvSpPr>
        <p:spPr>
          <a:xfrm xmlns:a="http://schemas.openxmlformats.org/drawingml/2006/main">
            <a:off x="2962275" y="42195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44" name="shape-180"/>
          <p:cNvSpPr>
            <a:spLocks xmlns:a="http://schemas.openxmlformats.org/drawingml/2006/main" noGrp="1"/>
          </p:cNvSpPr>
          <p:nvPr/>
        </p:nvSpPr>
        <p:spPr>
          <a:xfrm xmlns:a="http://schemas.openxmlformats.org/drawingml/2006/main">
            <a:off x="3200400" y="42195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45" name="shape-181"/>
          <p:cNvSpPr>
            <a:spLocks xmlns:a="http://schemas.openxmlformats.org/drawingml/2006/main" noGrp="1"/>
          </p:cNvSpPr>
          <p:nvPr/>
        </p:nvSpPr>
        <p:spPr>
          <a:xfrm xmlns:a="http://schemas.openxmlformats.org/drawingml/2006/main">
            <a:off x="3438525" y="42195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46" name="shape-182"/>
          <p:cNvSpPr>
            <a:spLocks xmlns:a="http://schemas.openxmlformats.org/drawingml/2006/main" noGrp="1"/>
          </p:cNvSpPr>
          <p:nvPr/>
        </p:nvSpPr>
        <p:spPr>
          <a:xfrm xmlns:a="http://schemas.openxmlformats.org/drawingml/2006/main">
            <a:off x="3676650" y="4219575"/>
            <a:ext cx="228600" cy="228600"/>
          </a:xfrm>
          <a:prstGeom xmlns:a="http://schemas.openxmlformats.org/drawingml/2006/main" prst="rect">
            <a:avLst/>
          </a:prstGeom>
          <a:solidFill xmlns:a="http://schemas.openxmlformats.org/drawingml/2006/main">
            <a:srgbClr val="8F8DEC"/>
          </a:solidFill>
          <a:ln xmlns:a="http://schemas.openxmlformats.org/drawingml/2006/main" w="0">
            <a:noFill/>
            <a:prstDash val="solid"/>
          </a:ln>
        </p:spPr>
      </p:sp>
      <p:sp>
        <p:nvSpPr>
          <p:cNvPr id="147" name="shape-183"/>
          <p:cNvSpPr>
            <a:spLocks xmlns:a="http://schemas.openxmlformats.org/drawingml/2006/main" noGrp="1"/>
          </p:cNvSpPr>
          <p:nvPr/>
        </p:nvSpPr>
        <p:spPr>
          <a:xfrm xmlns:a="http://schemas.openxmlformats.org/drawingml/2006/main">
            <a:off x="3914775" y="42195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8" name="shape-184"/>
          <p:cNvSpPr>
            <a:spLocks xmlns:a="http://schemas.openxmlformats.org/drawingml/2006/main" noGrp="1"/>
          </p:cNvSpPr>
          <p:nvPr/>
        </p:nvSpPr>
        <p:spPr>
          <a:xfrm xmlns:a="http://schemas.openxmlformats.org/drawingml/2006/main">
            <a:off x="81915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49" name="shape-185"/>
          <p:cNvSpPr>
            <a:spLocks xmlns:a="http://schemas.openxmlformats.org/drawingml/2006/main" noGrp="1"/>
          </p:cNvSpPr>
          <p:nvPr/>
        </p:nvSpPr>
        <p:spPr>
          <a:xfrm xmlns:a="http://schemas.openxmlformats.org/drawingml/2006/main">
            <a:off x="105727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0" name="shape-186"/>
          <p:cNvSpPr>
            <a:spLocks xmlns:a="http://schemas.openxmlformats.org/drawingml/2006/main" noGrp="1"/>
          </p:cNvSpPr>
          <p:nvPr/>
        </p:nvSpPr>
        <p:spPr>
          <a:xfrm xmlns:a="http://schemas.openxmlformats.org/drawingml/2006/main">
            <a:off x="129540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1" name="shape-187"/>
          <p:cNvSpPr>
            <a:spLocks xmlns:a="http://schemas.openxmlformats.org/drawingml/2006/main" noGrp="1"/>
          </p:cNvSpPr>
          <p:nvPr/>
        </p:nvSpPr>
        <p:spPr>
          <a:xfrm xmlns:a="http://schemas.openxmlformats.org/drawingml/2006/main">
            <a:off x="153352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2" name="shape-188"/>
          <p:cNvSpPr>
            <a:spLocks xmlns:a="http://schemas.openxmlformats.org/drawingml/2006/main" noGrp="1"/>
          </p:cNvSpPr>
          <p:nvPr/>
        </p:nvSpPr>
        <p:spPr>
          <a:xfrm xmlns:a="http://schemas.openxmlformats.org/drawingml/2006/main">
            <a:off x="177165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3" name="shape-189"/>
          <p:cNvSpPr>
            <a:spLocks xmlns:a="http://schemas.openxmlformats.org/drawingml/2006/main" noGrp="1"/>
          </p:cNvSpPr>
          <p:nvPr/>
        </p:nvSpPr>
        <p:spPr>
          <a:xfrm xmlns:a="http://schemas.openxmlformats.org/drawingml/2006/main">
            <a:off x="200977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4" name="shape-190"/>
          <p:cNvSpPr>
            <a:spLocks xmlns:a="http://schemas.openxmlformats.org/drawingml/2006/main" noGrp="1"/>
          </p:cNvSpPr>
          <p:nvPr/>
        </p:nvSpPr>
        <p:spPr>
          <a:xfrm xmlns:a="http://schemas.openxmlformats.org/drawingml/2006/main">
            <a:off x="224790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5" name="shape-191"/>
          <p:cNvSpPr>
            <a:spLocks xmlns:a="http://schemas.openxmlformats.org/drawingml/2006/main" noGrp="1"/>
          </p:cNvSpPr>
          <p:nvPr/>
        </p:nvSpPr>
        <p:spPr>
          <a:xfrm xmlns:a="http://schemas.openxmlformats.org/drawingml/2006/main">
            <a:off x="248602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6" name="shape-192"/>
          <p:cNvSpPr>
            <a:spLocks xmlns:a="http://schemas.openxmlformats.org/drawingml/2006/main" noGrp="1"/>
          </p:cNvSpPr>
          <p:nvPr/>
        </p:nvSpPr>
        <p:spPr>
          <a:xfrm xmlns:a="http://schemas.openxmlformats.org/drawingml/2006/main">
            <a:off x="272415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7" name="shape-193"/>
          <p:cNvSpPr>
            <a:spLocks xmlns:a="http://schemas.openxmlformats.org/drawingml/2006/main" noGrp="1"/>
          </p:cNvSpPr>
          <p:nvPr/>
        </p:nvSpPr>
        <p:spPr>
          <a:xfrm xmlns:a="http://schemas.openxmlformats.org/drawingml/2006/main">
            <a:off x="296227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8" name="shape-194"/>
          <p:cNvSpPr>
            <a:spLocks xmlns:a="http://schemas.openxmlformats.org/drawingml/2006/main" noGrp="1"/>
          </p:cNvSpPr>
          <p:nvPr/>
        </p:nvSpPr>
        <p:spPr>
          <a:xfrm xmlns:a="http://schemas.openxmlformats.org/drawingml/2006/main">
            <a:off x="320040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59" name="shape-195"/>
          <p:cNvSpPr>
            <a:spLocks xmlns:a="http://schemas.openxmlformats.org/drawingml/2006/main" noGrp="1"/>
          </p:cNvSpPr>
          <p:nvPr/>
        </p:nvSpPr>
        <p:spPr>
          <a:xfrm xmlns:a="http://schemas.openxmlformats.org/drawingml/2006/main">
            <a:off x="343852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0" name="shape-196"/>
          <p:cNvSpPr>
            <a:spLocks xmlns:a="http://schemas.openxmlformats.org/drawingml/2006/main" noGrp="1"/>
          </p:cNvSpPr>
          <p:nvPr/>
        </p:nvSpPr>
        <p:spPr>
          <a:xfrm xmlns:a="http://schemas.openxmlformats.org/drawingml/2006/main">
            <a:off x="3676650"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1" name="shape-197"/>
          <p:cNvSpPr>
            <a:spLocks xmlns:a="http://schemas.openxmlformats.org/drawingml/2006/main" noGrp="1"/>
          </p:cNvSpPr>
          <p:nvPr/>
        </p:nvSpPr>
        <p:spPr>
          <a:xfrm xmlns:a="http://schemas.openxmlformats.org/drawingml/2006/main">
            <a:off x="3914775" y="445770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2" name="shape-198"/>
          <p:cNvSpPr>
            <a:spLocks xmlns:a="http://schemas.openxmlformats.org/drawingml/2006/main" noGrp="1"/>
          </p:cNvSpPr>
          <p:nvPr/>
        </p:nvSpPr>
        <p:spPr>
          <a:xfrm xmlns:a="http://schemas.openxmlformats.org/drawingml/2006/main">
            <a:off x="81915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3" name="shape-199"/>
          <p:cNvSpPr>
            <a:spLocks xmlns:a="http://schemas.openxmlformats.org/drawingml/2006/main" noGrp="1"/>
          </p:cNvSpPr>
          <p:nvPr/>
        </p:nvSpPr>
        <p:spPr>
          <a:xfrm xmlns:a="http://schemas.openxmlformats.org/drawingml/2006/main">
            <a:off x="105727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4" name="shape-200"/>
          <p:cNvSpPr>
            <a:spLocks xmlns:a="http://schemas.openxmlformats.org/drawingml/2006/main" noGrp="1"/>
          </p:cNvSpPr>
          <p:nvPr/>
        </p:nvSpPr>
        <p:spPr>
          <a:xfrm xmlns:a="http://schemas.openxmlformats.org/drawingml/2006/main">
            <a:off x="129540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5" name="shape-201"/>
          <p:cNvSpPr>
            <a:spLocks xmlns:a="http://schemas.openxmlformats.org/drawingml/2006/main" noGrp="1"/>
          </p:cNvSpPr>
          <p:nvPr/>
        </p:nvSpPr>
        <p:spPr>
          <a:xfrm xmlns:a="http://schemas.openxmlformats.org/drawingml/2006/main">
            <a:off x="153352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6" name="shape-202"/>
          <p:cNvSpPr>
            <a:spLocks xmlns:a="http://schemas.openxmlformats.org/drawingml/2006/main" noGrp="1"/>
          </p:cNvSpPr>
          <p:nvPr/>
        </p:nvSpPr>
        <p:spPr>
          <a:xfrm xmlns:a="http://schemas.openxmlformats.org/drawingml/2006/main">
            <a:off x="177165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7" name="shape-203"/>
          <p:cNvSpPr>
            <a:spLocks xmlns:a="http://schemas.openxmlformats.org/drawingml/2006/main" noGrp="1"/>
          </p:cNvSpPr>
          <p:nvPr/>
        </p:nvSpPr>
        <p:spPr>
          <a:xfrm xmlns:a="http://schemas.openxmlformats.org/drawingml/2006/main">
            <a:off x="200977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8" name="shape-204"/>
          <p:cNvSpPr>
            <a:spLocks xmlns:a="http://schemas.openxmlformats.org/drawingml/2006/main" noGrp="1"/>
          </p:cNvSpPr>
          <p:nvPr/>
        </p:nvSpPr>
        <p:spPr>
          <a:xfrm xmlns:a="http://schemas.openxmlformats.org/drawingml/2006/main">
            <a:off x="224790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69" name="shape-205"/>
          <p:cNvSpPr>
            <a:spLocks xmlns:a="http://schemas.openxmlformats.org/drawingml/2006/main" noGrp="1"/>
          </p:cNvSpPr>
          <p:nvPr/>
        </p:nvSpPr>
        <p:spPr>
          <a:xfrm xmlns:a="http://schemas.openxmlformats.org/drawingml/2006/main">
            <a:off x="248602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0" name="shape-206"/>
          <p:cNvSpPr>
            <a:spLocks xmlns:a="http://schemas.openxmlformats.org/drawingml/2006/main" noGrp="1"/>
          </p:cNvSpPr>
          <p:nvPr/>
        </p:nvSpPr>
        <p:spPr>
          <a:xfrm xmlns:a="http://schemas.openxmlformats.org/drawingml/2006/main">
            <a:off x="272415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1" name="shape-207"/>
          <p:cNvSpPr>
            <a:spLocks xmlns:a="http://schemas.openxmlformats.org/drawingml/2006/main" noGrp="1"/>
          </p:cNvSpPr>
          <p:nvPr/>
        </p:nvSpPr>
        <p:spPr>
          <a:xfrm xmlns:a="http://schemas.openxmlformats.org/drawingml/2006/main">
            <a:off x="296227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2" name="shape-208"/>
          <p:cNvSpPr>
            <a:spLocks xmlns:a="http://schemas.openxmlformats.org/drawingml/2006/main" noGrp="1"/>
          </p:cNvSpPr>
          <p:nvPr/>
        </p:nvSpPr>
        <p:spPr>
          <a:xfrm xmlns:a="http://schemas.openxmlformats.org/drawingml/2006/main">
            <a:off x="320040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3" name="shape-209"/>
          <p:cNvSpPr>
            <a:spLocks xmlns:a="http://schemas.openxmlformats.org/drawingml/2006/main" noGrp="1"/>
          </p:cNvSpPr>
          <p:nvPr/>
        </p:nvSpPr>
        <p:spPr>
          <a:xfrm xmlns:a="http://schemas.openxmlformats.org/drawingml/2006/main">
            <a:off x="343852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4" name="shape-210"/>
          <p:cNvSpPr>
            <a:spLocks xmlns:a="http://schemas.openxmlformats.org/drawingml/2006/main" noGrp="1"/>
          </p:cNvSpPr>
          <p:nvPr/>
        </p:nvSpPr>
        <p:spPr>
          <a:xfrm xmlns:a="http://schemas.openxmlformats.org/drawingml/2006/main">
            <a:off x="3676650"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5" name="shape-211"/>
          <p:cNvSpPr>
            <a:spLocks xmlns:a="http://schemas.openxmlformats.org/drawingml/2006/main" noGrp="1"/>
          </p:cNvSpPr>
          <p:nvPr/>
        </p:nvSpPr>
        <p:spPr>
          <a:xfrm xmlns:a="http://schemas.openxmlformats.org/drawingml/2006/main">
            <a:off x="3914775" y="469582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6" name="shape-212"/>
          <p:cNvSpPr>
            <a:spLocks xmlns:a="http://schemas.openxmlformats.org/drawingml/2006/main" noGrp="1"/>
          </p:cNvSpPr>
          <p:nvPr/>
        </p:nvSpPr>
        <p:spPr>
          <a:xfrm xmlns:a="http://schemas.openxmlformats.org/drawingml/2006/main">
            <a:off x="81915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7" name="shape-213"/>
          <p:cNvSpPr>
            <a:spLocks xmlns:a="http://schemas.openxmlformats.org/drawingml/2006/main" noGrp="1"/>
          </p:cNvSpPr>
          <p:nvPr/>
        </p:nvSpPr>
        <p:spPr>
          <a:xfrm xmlns:a="http://schemas.openxmlformats.org/drawingml/2006/main">
            <a:off x="105727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8" name="shape-214"/>
          <p:cNvSpPr>
            <a:spLocks xmlns:a="http://schemas.openxmlformats.org/drawingml/2006/main" noGrp="1"/>
          </p:cNvSpPr>
          <p:nvPr/>
        </p:nvSpPr>
        <p:spPr>
          <a:xfrm xmlns:a="http://schemas.openxmlformats.org/drawingml/2006/main">
            <a:off x="129540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79" name="shape-215"/>
          <p:cNvSpPr>
            <a:spLocks xmlns:a="http://schemas.openxmlformats.org/drawingml/2006/main" noGrp="1"/>
          </p:cNvSpPr>
          <p:nvPr/>
        </p:nvSpPr>
        <p:spPr>
          <a:xfrm xmlns:a="http://schemas.openxmlformats.org/drawingml/2006/main">
            <a:off x="153352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0" name="shape-216"/>
          <p:cNvSpPr>
            <a:spLocks xmlns:a="http://schemas.openxmlformats.org/drawingml/2006/main" noGrp="1"/>
          </p:cNvSpPr>
          <p:nvPr/>
        </p:nvSpPr>
        <p:spPr>
          <a:xfrm xmlns:a="http://schemas.openxmlformats.org/drawingml/2006/main">
            <a:off x="177165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1" name="shape-217"/>
          <p:cNvSpPr>
            <a:spLocks xmlns:a="http://schemas.openxmlformats.org/drawingml/2006/main" noGrp="1"/>
          </p:cNvSpPr>
          <p:nvPr/>
        </p:nvSpPr>
        <p:spPr>
          <a:xfrm xmlns:a="http://schemas.openxmlformats.org/drawingml/2006/main">
            <a:off x="200977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2" name="shape-218"/>
          <p:cNvSpPr>
            <a:spLocks xmlns:a="http://schemas.openxmlformats.org/drawingml/2006/main" noGrp="1"/>
          </p:cNvSpPr>
          <p:nvPr/>
        </p:nvSpPr>
        <p:spPr>
          <a:xfrm xmlns:a="http://schemas.openxmlformats.org/drawingml/2006/main">
            <a:off x="224790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3" name="shape-219"/>
          <p:cNvSpPr>
            <a:spLocks xmlns:a="http://schemas.openxmlformats.org/drawingml/2006/main" noGrp="1"/>
          </p:cNvSpPr>
          <p:nvPr/>
        </p:nvSpPr>
        <p:spPr>
          <a:xfrm xmlns:a="http://schemas.openxmlformats.org/drawingml/2006/main">
            <a:off x="248602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4" name="shape-220"/>
          <p:cNvSpPr>
            <a:spLocks xmlns:a="http://schemas.openxmlformats.org/drawingml/2006/main" noGrp="1"/>
          </p:cNvSpPr>
          <p:nvPr/>
        </p:nvSpPr>
        <p:spPr>
          <a:xfrm xmlns:a="http://schemas.openxmlformats.org/drawingml/2006/main">
            <a:off x="272415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5" name="shape-221"/>
          <p:cNvSpPr>
            <a:spLocks xmlns:a="http://schemas.openxmlformats.org/drawingml/2006/main" noGrp="1"/>
          </p:cNvSpPr>
          <p:nvPr/>
        </p:nvSpPr>
        <p:spPr>
          <a:xfrm xmlns:a="http://schemas.openxmlformats.org/drawingml/2006/main">
            <a:off x="296227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6" name="shape-222"/>
          <p:cNvSpPr>
            <a:spLocks xmlns:a="http://schemas.openxmlformats.org/drawingml/2006/main" noGrp="1"/>
          </p:cNvSpPr>
          <p:nvPr/>
        </p:nvSpPr>
        <p:spPr>
          <a:xfrm xmlns:a="http://schemas.openxmlformats.org/drawingml/2006/main">
            <a:off x="320040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7" name="shape-223"/>
          <p:cNvSpPr>
            <a:spLocks xmlns:a="http://schemas.openxmlformats.org/drawingml/2006/main" noGrp="1"/>
          </p:cNvSpPr>
          <p:nvPr/>
        </p:nvSpPr>
        <p:spPr>
          <a:xfrm xmlns:a="http://schemas.openxmlformats.org/drawingml/2006/main">
            <a:off x="343852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8" name="shape-224"/>
          <p:cNvSpPr>
            <a:spLocks xmlns:a="http://schemas.openxmlformats.org/drawingml/2006/main" noGrp="1"/>
          </p:cNvSpPr>
          <p:nvPr/>
        </p:nvSpPr>
        <p:spPr>
          <a:xfrm xmlns:a="http://schemas.openxmlformats.org/drawingml/2006/main">
            <a:off x="3676650"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89" name="shape-225"/>
          <p:cNvSpPr>
            <a:spLocks xmlns:a="http://schemas.openxmlformats.org/drawingml/2006/main" noGrp="1"/>
          </p:cNvSpPr>
          <p:nvPr/>
        </p:nvSpPr>
        <p:spPr>
          <a:xfrm xmlns:a="http://schemas.openxmlformats.org/drawingml/2006/main">
            <a:off x="3914775" y="4933950"/>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0" name="shape-226"/>
          <p:cNvSpPr>
            <a:spLocks xmlns:a="http://schemas.openxmlformats.org/drawingml/2006/main" noGrp="1"/>
          </p:cNvSpPr>
          <p:nvPr/>
        </p:nvSpPr>
        <p:spPr>
          <a:xfrm xmlns:a="http://schemas.openxmlformats.org/drawingml/2006/main">
            <a:off x="81915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1" name="shape-227"/>
          <p:cNvSpPr>
            <a:spLocks xmlns:a="http://schemas.openxmlformats.org/drawingml/2006/main" noGrp="1"/>
          </p:cNvSpPr>
          <p:nvPr/>
        </p:nvSpPr>
        <p:spPr>
          <a:xfrm xmlns:a="http://schemas.openxmlformats.org/drawingml/2006/main">
            <a:off x="105727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2" name="shape-228"/>
          <p:cNvSpPr>
            <a:spLocks xmlns:a="http://schemas.openxmlformats.org/drawingml/2006/main" noGrp="1"/>
          </p:cNvSpPr>
          <p:nvPr/>
        </p:nvSpPr>
        <p:spPr>
          <a:xfrm xmlns:a="http://schemas.openxmlformats.org/drawingml/2006/main">
            <a:off x="129540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3" name="shape-229"/>
          <p:cNvSpPr>
            <a:spLocks xmlns:a="http://schemas.openxmlformats.org/drawingml/2006/main" noGrp="1"/>
          </p:cNvSpPr>
          <p:nvPr/>
        </p:nvSpPr>
        <p:spPr>
          <a:xfrm xmlns:a="http://schemas.openxmlformats.org/drawingml/2006/main">
            <a:off x="153352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4" name="shape-230"/>
          <p:cNvSpPr>
            <a:spLocks xmlns:a="http://schemas.openxmlformats.org/drawingml/2006/main" noGrp="1"/>
          </p:cNvSpPr>
          <p:nvPr/>
        </p:nvSpPr>
        <p:spPr>
          <a:xfrm xmlns:a="http://schemas.openxmlformats.org/drawingml/2006/main">
            <a:off x="177165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5" name="shape-231"/>
          <p:cNvSpPr>
            <a:spLocks xmlns:a="http://schemas.openxmlformats.org/drawingml/2006/main" noGrp="1"/>
          </p:cNvSpPr>
          <p:nvPr/>
        </p:nvSpPr>
        <p:spPr>
          <a:xfrm xmlns:a="http://schemas.openxmlformats.org/drawingml/2006/main">
            <a:off x="200977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6" name="shape-232"/>
          <p:cNvSpPr>
            <a:spLocks xmlns:a="http://schemas.openxmlformats.org/drawingml/2006/main" noGrp="1"/>
          </p:cNvSpPr>
          <p:nvPr/>
        </p:nvSpPr>
        <p:spPr>
          <a:xfrm xmlns:a="http://schemas.openxmlformats.org/drawingml/2006/main">
            <a:off x="224790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7" name="shape-233"/>
          <p:cNvSpPr>
            <a:spLocks xmlns:a="http://schemas.openxmlformats.org/drawingml/2006/main" noGrp="1"/>
          </p:cNvSpPr>
          <p:nvPr/>
        </p:nvSpPr>
        <p:spPr>
          <a:xfrm xmlns:a="http://schemas.openxmlformats.org/drawingml/2006/main">
            <a:off x="248602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8" name="shape-234"/>
          <p:cNvSpPr>
            <a:spLocks xmlns:a="http://schemas.openxmlformats.org/drawingml/2006/main" noGrp="1"/>
          </p:cNvSpPr>
          <p:nvPr/>
        </p:nvSpPr>
        <p:spPr>
          <a:xfrm xmlns:a="http://schemas.openxmlformats.org/drawingml/2006/main">
            <a:off x="272415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199" name="shape-235"/>
          <p:cNvSpPr>
            <a:spLocks xmlns:a="http://schemas.openxmlformats.org/drawingml/2006/main" noGrp="1"/>
          </p:cNvSpPr>
          <p:nvPr/>
        </p:nvSpPr>
        <p:spPr>
          <a:xfrm xmlns:a="http://schemas.openxmlformats.org/drawingml/2006/main">
            <a:off x="296227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00" name="shape-236"/>
          <p:cNvSpPr>
            <a:spLocks xmlns:a="http://schemas.openxmlformats.org/drawingml/2006/main" noGrp="1"/>
          </p:cNvSpPr>
          <p:nvPr/>
        </p:nvSpPr>
        <p:spPr>
          <a:xfrm xmlns:a="http://schemas.openxmlformats.org/drawingml/2006/main">
            <a:off x="320040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01" name="shape-237"/>
          <p:cNvSpPr>
            <a:spLocks xmlns:a="http://schemas.openxmlformats.org/drawingml/2006/main" noGrp="1"/>
          </p:cNvSpPr>
          <p:nvPr/>
        </p:nvSpPr>
        <p:spPr>
          <a:xfrm xmlns:a="http://schemas.openxmlformats.org/drawingml/2006/main">
            <a:off x="343852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02" name="shape-238"/>
          <p:cNvSpPr>
            <a:spLocks xmlns:a="http://schemas.openxmlformats.org/drawingml/2006/main" noGrp="1"/>
          </p:cNvSpPr>
          <p:nvPr/>
        </p:nvSpPr>
        <p:spPr>
          <a:xfrm xmlns:a="http://schemas.openxmlformats.org/drawingml/2006/main">
            <a:off x="3676650"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03" name="shape-239"/>
          <p:cNvSpPr>
            <a:spLocks xmlns:a="http://schemas.openxmlformats.org/drawingml/2006/main" noGrp="1"/>
          </p:cNvSpPr>
          <p:nvPr/>
        </p:nvSpPr>
        <p:spPr>
          <a:xfrm xmlns:a="http://schemas.openxmlformats.org/drawingml/2006/main">
            <a:off x="3914775" y="5172075"/>
            <a:ext cx="228600" cy="228600"/>
          </a:xfrm>
          <a:prstGeom xmlns:a="http://schemas.openxmlformats.org/drawingml/2006/main" prst="rect">
            <a:avLst/>
          </a:prstGeom>
          <a:solidFill xmlns:a="http://schemas.openxmlformats.org/drawingml/2006/main">
            <a:srgbClr val="547471"/>
          </a:solidFill>
          <a:ln xmlns:a="http://schemas.openxmlformats.org/drawingml/2006/main" w="0">
            <a:noFill/>
            <a:prstDash val="solid"/>
          </a:ln>
        </p:spPr>
      </p:sp>
      <p:sp>
        <p:nvSpPr>
          <p:cNvPr id="204" name="text-240"/>
          <p:cNvSpPr>
            <a:spLocks xmlns:a="http://schemas.openxmlformats.org/drawingml/2006/main" noGrp="1"/>
          </p:cNvSpPr>
          <p:nvPr/>
        </p:nvSpPr>
        <p:spPr>
          <a:xfrm xmlns:a="http://schemas.openxmlformats.org/drawingml/2006/main">
            <a:off x="819150" y="5562600"/>
            <a:ext cx="3429000" cy="361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224 × 224 píxeles</a:t>
            </a:r>
          </a:p>
        </p:txBody>
      </p:sp>
      <p:sp>
        <p:nvSpPr>
          <p:cNvPr id="205" name="text-241"/>
          <p:cNvSpPr>
            <a:spLocks xmlns:a="http://schemas.openxmlformats.org/drawingml/2006/main" noGrp="1"/>
          </p:cNvSpPr>
          <p:nvPr/>
        </p:nvSpPr>
        <p:spPr>
          <a:xfrm xmlns:a="http://schemas.openxmlformats.org/drawingml/2006/main">
            <a:off x="5391150" y="2209800"/>
            <a:ext cx="6000750" cy="857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5250" b="1">
                <a:solidFill>
                  <a:srgbClr val="2DD5B5"/>
                </a:solidFill>
                <a:latin typeface="Poppins"/>
                <a:ea typeface="Poppins"/>
                <a:cs typeface="Poppins"/>
              </a:defRPr>
            </a:pPr>
            <a:r>
              <a:rPr sz="5250" b="1">
                <a:solidFill>
                  <a:srgbClr val="2DD5B5"/>
                </a:solidFill>
                <a:latin typeface="Poppins"/>
                <a:ea typeface="Poppins"/>
                <a:cs typeface="Poppins"/>
              </a:rPr>
              <a:t>16 × 16</a:t>
            </a:r>
          </a:p>
        </p:txBody>
      </p:sp>
      <p:sp>
        <p:nvSpPr>
          <p:cNvPr id="206" name="text-242"/>
          <p:cNvSpPr>
            <a:spLocks xmlns:a="http://schemas.openxmlformats.org/drawingml/2006/main" noGrp="1"/>
          </p:cNvSpPr>
          <p:nvPr/>
        </p:nvSpPr>
        <p:spPr>
          <a:xfrm xmlns:a="http://schemas.openxmlformats.org/drawingml/2006/main">
            <a:off x="5429250" y="3067050"/>
            <a:ext cx="571500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0">
                <a:solidFill>
                  <a:srgbClr val="FFFFFF"/>
                </a:solidFill>
                <a:latin typeface="Poppins"/>
                <a:ea typeface="Poppins"/>
                <a:cs typeface="Poppins"/>
              </a:defRPr>
            </a:pPr>
            <a:r>
              <a:rPr sz="2100" b="0">
                <a:solidFill>
                  <a:srgbClr val="FFFFFF"/>
                </a:solidFill>
                <a:latin typeface="Poppins"/>
                <a:ea typeface="Poppins"/>
                <a:cs typeface="Poppins"/>
              </a:rPr>
              <a:t>píxeles por parche</a:t>
            </a:r>
          </a:p>
        </p:txBody>
      </p:sp>
      <p:sp>
        <p:nvSpPr>
          <p:cNvPr id="207" name="text-243"/>
          <p:cNvSpPr>
            <a:spLocks xmlns:a="http://schemas.openxmlformats.org/drawingml/2006/main" noGrp="1"/>
          </p:cNvSpPr>
          <p:nvPr/>
        </p:nvSpPr>
        <p:spPr>
          <a:xfrm xmlns:a="http://schemas.openxmlformats.org/drawingml/2006/main">
            <a:off x="5429250" y="3905250"/>
            <a:ext cx="571500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250" b="1">
                <a:solidFill>
                  <a:srgbClr val="BFA0FF"/>
                </a:solidFill>
                <a:latin typeface="Poppins"/>
                <a:ea typeface="Poppins"/>
                <a:cs typeface="Poppins"/>
              </a:defRPr>
            </a:pPr>
            <a:r>
              <a:rPr sz="2250" b="1">
                <a:solidFill>
                  <a:srgbClr val="BFA0FF"/>
                </a:solidFill>
                <a:latin typeface="Poppins"/>
                <a:ea typeface="Poppins"/>
                <a:cs typeface="Poppins"/>
              </a:rPr>
              <a:t>14 × 14 = 196 parches</a:t>
            </a:r>
          </a:p>
        </p:txBody>
      </p:sp>
      <p:sp>
        <p:nvSpPr>
          <p:cNvPr id="208" name="text-244"/>
          <p:cNvSpPr>
            <a:spLocks xmlns:a="http://schemas.openxmlformats.org/drawingml/2006/main" noGrp="1"/>
          </p:cNvSpPr>
          <p:nvPr/>
        </p:nvSpPr>
        <p:spPr>
          <a:xfrm xmlns:a="http://schemas.openxmlformats.org/drawingml/2006/main">
            <a:off x="5429250" y="4800600"/>
            <a:ext cx="5715000" cy="857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La cuadrícula muestra la entrada.</a:t>
            </a:r>
          </a:p>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No muestra detección ni atención.</a:t>
            </a:r>
          </a:p>
        </p:txBody>
      </p:sp>
      <p:sp>
        <p:nvSpPr>
          <p:cNvPr id="209"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05</a:t>
            </a:r>
          </a:p>
        </p:txBody>
      </p:sp>
    </p:spTree>
  </p:cSld>
</p:sld>
</file>

<file path=ppt/slides/slide6.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1" name=""/>
        <p:cNvGrpSpPr/>
        <p:nvPr/>
      </p:nvGrpSpPr>
      <p:grpSpPr>
        <a:xfrm xmlns:a="http://schemas.openxmlformats.org/drawingml/2006/main">
          <a:off x="0" y="0"/>
          <a:ext cx="0" cy="0"/>
          <a:chOff x="0" y="0"/>
          <a:chExt cx="0" cy="0"/>
        </a:xfrm>
      </p:grpSpPr>
      <p:sp>
        <p:nvSpPr>
          <p:cNvPr id="1" name="shape-245"/>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246"/>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EMBEDDINGS Y POSICIÓN</a:t>
            </a:r>
          </a:p>
        </p:txBody>
      </p:sp>
      <p:sp>
        <p:nvSpPr>
          <p:cNvPr id="3" name="text-247"/>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Cada parche recibe una representación y un lugar</a:t>
            </a:r>
          </a:p>
        </p:txBody>
      </p:sp>
      <p:sp>
        <p:nvSpPr>
          <p:cNvPr id="4" name="shape-248"/>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249"/>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251"/>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huggingface.co/docs/transformers/model_doc/vit</a:t>
            </a:r>
          </a:p>
        </p:txBody>
      </p:sp>
      <p:sp>
        <p:nvSpPr>
          <p:cNvPr id="8" name="shape-252"/>
          <p:cNvSpPr>
            <a:spLocks xmlns:a="http://schemas.openxmlformats.org/drawingml/2006/main" noGrp="1"/>
          </p:cNvSpPr>
          <p:nvPr/>
        </p:nvSpPr>
        <p:spPr>
          <a:xfrm xmlns:a="http://schemas.openxmlformats.org/drawingml/2006/main">
            <a:off x="609600" y="2524125"/>
            <a:ext cx="2333625" cy="119062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9" name="text-253"/>
          <p:cNvSpPr>
            <a:spLocks xmlns:a="http://schemas.openxmlformats.org/drawingml/2006/main" noGrp="1"/>
          </p:cNvSpPr>
          <p:nvPr/>
        </p:nvSpPr>
        <p:spPr>
          <a:xfrm xmlns:a="http://schemas.openxmlformats.org/drawingml/2006/main">
            <a:off x="762000" y="2695575"/>
            <a:ext cx="2028825" cy="8477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Parche</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16 × 16 × 3</a:t>
            </a:r>
          </a:p>
        </p:txBody>
      </p:sp>
      <p:sp>
        <p:nvSpPr>
          <p:cNvPr id="10" name="shape-254"/>
          <p:cNvSpPr>
            <a:spLocks xmlns:a="http://schemas.openxmlformats.org/drawingml/2006/main" noGrp="1"/>
          </p:cNvSpPr>
          <p:nvPr/>
        </p:nvSpPr>
        <p:spPr>
          <a:xfrm xmlns:a="http://schemas.openxmlformats.org/drawingml/2006/main">
            <a:off x="2943225" y="3009900"/>
            <a:ext cx="48577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1" name="shape-255"/>
          <p:cNvSpPr>
            <a:spLocks xmlns:a="http://schemas.openxmlformats.org/drawingml/2006/main" noGrp="1"/>
          </p:cNvSpPr>
          <p:nvPr/>
        </p:nvSpPr>
        <p:spPr>
          <a:xfrm xmlns:a="http://schemas.openxmlformats.org/drawingml/2006/main">
            <a:off x="3429000" y="2524125"/>
            <a:ext cx="2333625" cy="119062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2" name="text-256"/>
          <p:cNvSpPr>
            <a:spLocks xmlns:a="http://schemas.openxmlformats.org/drawingml/2006/main" noGrp="1"/>
          </p:cNvSpPr>
          <p:nvPr/>
        </p:nvSpPr>
        <p:spPr>
          <a:xfrm xmlns:a="http://schemas.openxmlformats.org/drawingml/2006/main">
            <a:off x="3581400" y="2695575"/>
            <a:ext cx="2028825" cy="8477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Proyección</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aprendida</a:t>
            </a:r>
          </a:p>
        </p:txBody>
      </p:sp>
      <p:sp>
        <p:nvSpPr>
          <p:cNvPr id="13" name="shape-257"/>
          <p:cNvSpPr>
            <a:spLocks xmlns:a="http://schemas.openxmlformats.org/drawingml/2006/main" noGrp="1"/>
          </p:cNvSpPr>
          <p:nvPr/>
        </p:nvSpPr>
        <p:spPr>
          <a:xfrm xmlns:a="http://schemas.openxmlformats.org/drawingml/2006/main">
            <a:off x="5762625" y="3009900"/>
            <a:ext cx="48577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4" name="shape-258"/>
          <p:cNvSpPr>
            <a:spLocks xmlns:a="http://schemas.openxmlformats.org/drawingml/2006/main" noGrp="1"/>
          </p:cNvSpPr>
          <p:nvPr/>
        </p:nvSpPr>
        <p:spPr>
          <a:xfrm xmlns:a="http://schemas.openxmlformats.org/drawingml/2006/main">
            <a:off x="6248400" y="2524125"/>
            <a:ext cx="2333625" cy="119062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5" name="text-259"/>
          <p:cNvSpPr>
            <a:spLocks xmlns:a="http://schemas.openxmlformats.org/drawingml/2006/main" noGrp="1"/>
          </p:cNvSpPr>
          <p:nvPr/>
        </p:nvSpPr>
        <p:spPr>
          <a:xfrm xmlns:a="http://schemas.openxmlformats.org/drawingml/2006/main">
            <a:off x="6400800" y="2695575"/>
            <a:ext cx="2028825" cy="8477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Vector +</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posición</a:t>
            </a:r>
          </a:p>
        </p:txBody>
      </p:sp>
      <p:sp>
        <p:nvSpPr>
          <p:cNvPr id="16" name="shape-260"/>
          <p:cNvSpPr>
            <a:spLocks xmlns:a="http://schemas.openxmlformats.org/drawingml/2006/main" noGrp="1"/>
          </p:cNvSpPr>
          <p:nvPr/>
        </p:nvSpPr>
        <p:spPr>
          <a:xfrm xmlns:a="http://schemas.openxmlformats.org/drawingml/2006/main">
            <a:off x="8582025" y="3009900"/>
            <a:ext cx="48577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7" name="shape-261"/>
          <p:cNvSpPr>
            <a:spLocks xmlns:a="http://schemas.openxmlformats.org/drawingml/2006/main" noGrp="1"/>
          </p:cNvSpPr>
          <p:nvPr/>
        </p:nvSpPr>
        <p:spPr>
          <a:xfrm xmlns:a="http://schemas.openxmlformats.org/drawingml/2006/main">
            <a:off x="9067800" y="2524125"/>
            <a:ext cx="2333625" cy="119062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8" name="text-262"/>
          <p:cNvSpPr>
            <a:spLocks xmlns:a="http://schemas.openxmlformats.org/drawingml/2006/main" noGrp="1"/>
          </p:cNvSpPr>
          <p:nvPr/>
        </p:nvSpPr>
        <p:spPr>
          <a:xfrm xmlns:a="http://schemas.openxmlformats.org/drawingml/2006/main">
            <a:off x="9220200" y="2695575"/>
            <a:ext cx="2028825" cy="8477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Encoder</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transformer</a:t>
            </a:r>
          </a:p>
        </p:txBody>
      </p:sp>
      <p:sp>
        <p:nvSpPr>
          <p:cNvPr id="19" name="text-263"/>
          <p:cNvSpPr>
            <a:spLocks xmlns:a="http://schemas.openxmlformats.org/drawingml/2006/main" noGrp="1"/>
          </p:cNvSpPr>
          <p:nvPr/>
        </p:nvSpPr>
        <p:spPr>
          <a:xfrm xmlns:a="http://schemas.openxmlformats.org/drawingml/2006/main">
            <a:off x="609600" y="4600575"/>
            <a:ext cx="10858500" cy="809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250" b="1">
                <a:solidFill>
                  <a:srgbClr val="BFA0FF"/>
                </a:solidFill>
                <a:latin typeface="Poppins"/>
                <a:ea typeface="Poppins"/>
                <a:cs typeface="Poppins"/>
              </a:defRPr>
            </a:pPr>
            <a:r>
              <a:rPr sz="2250" b="1">
                <a:solidFill>
                  <a:srgbClr val="BFA0FF"/>
                </a:solidFill>
                <a:latin typeface="Poppins"/>
                <a:ea typeface="Poppins"/>
                <a:cs typeface="Poppins"/>
              </a:rPr>
              <a:t>196 parches + token [CLS] → secuencia de 197 posiciones en este ViT</a:t>
            </a:r>
          </a:p>
        </p:txBody>
      </p:sp>
      <p:sp>
        <p:nvSpPr>
          <p:cNvPr id="20"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06</a:t>
            </a:r>
          </a:p>
        </p:txBody>
      </p:sp>
    </p:spTree>
  </p:cSld>
</p:sld>
</file>

<file path=ppt/slides/slide7.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45" name=""/>
        <p:cNvGrpSpPr/>
        <p:nvPr/>
      </p:nvGrpSpPr>
      <p:grpSpPr>
        <a:xfrm xmlns:a="http://schemas.openxmlformats.org/drawingml/2006/main">
          <a:off x="0" y="0"/>
          <a:ext cx="0" cy="0"/>
          <a:chOff x="0" y="0"/>
          <a:chExt cx="0" cy="0"/>
        </a:xfrm>
      </p:grpSpPr>
      <p:sp>
        <p:nvSpPr>
          <p:cNvPr id="1" name="shape-264"/>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265"/>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ATENCIÓN</a:t>
            </a:r>
          </a:p>
        </p:txBody>
      </p:sp>
      <p:sp>
        <p:nvSpPr>
          <p:cNvPr id="3" name="text-266"/>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Los parches intercambian información</a:t>
            </a:r>
          </a:p>
        </p:txBody>
      </p:sp>
      <p:sp>
        <p:nvSpPr>
          <p:cNvPr id="4" name="shape-267"/>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268"/>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270"/>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ViT: arxiv.org/abs/2010.11929</a:t>
            </a:r>
          </a:p>
        </p:txBody>
      </p:sp>
      <p:sp>
        <p:nvSpPr>
          <p:cNvPr id="8" name="text-271"/>
          <p:cNvSpPr>
            <a:spLocks xmlns:a="http://schemas.openxmlformats.org/drawingml/2006/main" noGrp="1"/>
          </p:cNvSpPr>
          <p:nvPr/>
        </p:nvSpPr>
        <p:spPr>
          <a:xfrm xmlns:a="http://schemas.openxmlformats.org/drawingml/2006/main">
            <a:off x="733425" y="2009775"/>
            <a:ext cx="495300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350" b="1">
                <a:solidFill>
                  <a:srgbClr val="2DD5B5"/>
                </a:solidFill>
                <a:latin typeface="Poppins"/>
                <a:ea typeface="Poppins"/>
                <a:cs typeface="Poppins"/>
              </a:defRPr>
            </a:pPr>
            <a:r>
              <a:rPr sz="1350" b="1">
                <a:solidFill>
                  <a:srgbClr val="2DD5B5"/>
                </a:solidFill>
                <a:latin typeface="Poppins"/>
                <a:ea typeface="Poppins"/>
                <a:cs typeface="Poppins"/>
              </a:rPr>
              <a:t>MATRIZ ILUSTRATIVA</a:t>
            </a:r>
          </a:p>
        </p:txBody>
      </p:sp>
      <p:sp>
        <p:nvSpPr>
          <p:cNvPr id="9" name="shape-272"/>
          <p:cNvSpPr>
            <a:spLocks xmlns:a="http://schemas.openxmlformats.org/drawingml/2006/main" noGrp="1"/>
          </p:cNvSpPr>
          <p:nvPr/>
        </p:nvSpPr>
        <p:spPr>
          <a:xfrm xmlns:a="http://schemas.openxmlformats.org/drawingml/2006/main">
            <a:off x="762000" y="2600325"/>
            <a:ext cx="809625" cy="647700"/>
          </a:xfrm>
          <a:prstGeom xmlns:a="http://schemas.openxmlformats.org/drawingml/2006/main" prst="rect">
            <a:avLst/>
          </a:prstGeom>
          <a:solidFill xmlns:a="http://schemas.openxmlformats.org/drawingml/2006/main">
            <a:srgbClr val="7865A5"/>
          </a:solidFill>
          <a:ln xmlns:a="http://schemas.openxmlformats.org/drawingml/2006/main" w="0">
            <a:noFill/>
            <a:prstDash val="solid"/>
          </a:ln>
        </p:spPr>
      </p:sp>
      <p:sp>
        <p:nvSpPr>
          <p:cNvPr id="10" name="text-273"/>
          <p:cNvSpPr>
            <a:spLocks xmlns:a="http://schemas.openxmlformats.org/drawingml/2006/main" noGrp="1"/>
          </p:cNvSpPr>
          <p:nvPr/>
        </p:nvSpPr>
        <p:spPr>
          <a:xfrm xmlns:a="http://schemas.openxmlformats.org/drawingml/2006/main">
            <a:off x="857250" y="27241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0.60</a:t>
            </a:r>
          </a:p>
        </p:txBody>
      </p:sp>
      <p:sp>
        <p:nvSpPr>
          <p:cNvPr id="11" name="shape-274"/>
          <p:cNvSpPr>
            <a:spLocks xmlns:a="http://schemas.openxmlformats.org/drawingml/2006/main" noGrp="1"/>
          </p:cNvSpPr>
          <p:nvPr/>
        </p:nvSpPr>
        <p:spPr>
          <a:xfrm xmlns:a="http://schemas.openxmlformats.org/drawingml/2006/main">
            <a:off x="1619250" y="2600325"/>
            <a:ext cx="809625" cy="647700"/>
          </a:xfrm>
          <a:prstGeom xmlns:a="http://schemas.openxmlformats.org/drawingml/2006/main" prst="rect">
            <a:avLst/>
          </a:prstGeom>
          <a:solidFill xmlns:a="http://schemas.openxmlformats.org/drawingml/2006/main">
            <a:srgbClr val="397571"/>
          </a:solidFill>
          <a:ln xmlns:a="http://schemas.openxmlformats.org/drawingml/2006/main" w="0">
            <a:noFill/>
            <a:prstDash val="solid"/>
          </a:ln>
        </p:spPr>
      </p:sp>
      <p:sp>
        <p:nvSpPr>
          <p:cNvPr id="12" name="text-275"/>
          <p:cNvSpPr>
            <a:spLocks xmlns:a="http://schemas.openxmlformats.org/drawingml/2006/main" noGrp="1"/>
          </p:cNvSpPr>
          <p:nvPr/>
        </p:nvSpPr>
        <p:spPr>
          <a:xfrm xmlns:a="http://schemas.openxmlformats.org/drawingml/2006/main">
            <a:off x="1714500" y="27241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0.20</a:t>
            </a:r>
          </a:p>
        </p:txBody>
      </p:sp>
      <p:sp>
        <p:nvSpPr>
          <p:cNvPr id="13" name="shape-276"/>
          <p:cNvSpPr>
            <a:spLocks xmlns:a="http://schemas.openxmlformats.org/drawingml/2006/main" noGrp="1"/>
          </p:cNvSpPr>
          <p:nvPr/>
        </p:nvSpPr>
        <p:spPr>
          <a:xfrm xmlns:a="http://schemas.openxmlformats.org/drawingml/2006/main">
            <a:off x="2476500" y="260032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14" name="text-277"/>
          <p:cNvSpPr>
            <a:spLocks xmlns:a="http://schemas.openxmlformats.org/drawingml/2006/main" noGrp="1"/>
          </p:cNvSpPr>
          <p:nvPr/>
        </p:nvSpPr>
        <p:spPr>
          <a:xfrm xmlns:a="http://schemas.openxmlformats.org/drawingml/2006/main">
            <a:off x="2571750" y="27241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0.10</a:t>
            </a:r>
          </a:p>
        </p:txBody>
      </p:sp>
      <p:sp>
        <p:nvSpPr>
          <p:cNvPr id="15" name="shape-278"/>
          <p:cNvSpPr>
            <a:spLocks xmlns:a="http://schemas.openxmlformats.org/drawingml/2006/main" noGrp="1"/>
          </p:cNvSpPr>
          <p:nvPr/>
        </p:nvSpPr>
        <p:spPr>
          <a:xfrm xmlns:a="http://schemas.openxmlformats.org/drawingml/2006/main">
            <a:off x="3333750" y="260032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16" name="text-279"/>
          <p:cNvSpPr>
            <a:spLocks xmlns:a="http://schemas.openxmlformats.org/drawingml/2006/main" noGrp="1"/>
          </p:cNvSpPr>
          <p:nvPr/>
        </p:nvSpPr>
        <p:spPr>
          <a:xfrm xmlns:a="http://schemas.openxmlformats.org/drawingml/2006/main">
            <a:off x="3429000" y="27241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0.10</a:t>
            </a:r>
          </a:p>
        </p:txBody>
      </p:sp>
      <p:sp>
        <p:nvSpPr>
          <p:cNvPr id="17" name="shape-280"/>
          <p:cNvSpPr>
            <a:spLocks xmlns:a="http://schemas.openxmlformats.org/drawingml/2006/main" noGrp="1"/>
          </p:cNvSpPr>
          <p:nvPr/>
        </p:nvSpPr>
        <p:spPr>
          <a:xfrm xmlns:a="http://schemas.openxmlformats.org/drawingml/2006/main">
            <a:off x="762000" y="330517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18" name="text-281"/>
          <p:cNvSpPr>
            <a:spLocks xmlns:a="http://schemas.openxmlformats.org/drawingml/2006/main" noGrp="1"/>
          </p:cNvSpPr>
          <p:nvPr/>
        </p:nvSpPr>
        <p:spPr>
          <a:xfrm xmlns:a="http://schemas.openxmlformats.org/drawingml/2006/main">
            <a:off x="857250" y="34290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0.15</a:t>
            </a:r>
          </a:p>
        </p:txBody>
      </p:sp>
      <p:sp>
        <p:nvSpPr>
          <p:cNvPr id="19" name="shape-282"/>
          <p:cNvSpPr>
            <a:spLocks xmlns:a="http://schemas.openxmlformats.org/drawingml/2006/main" noGrp="1"/>
          </p:cNvSpPr>
          <p:nvPr/>
        </p:nvSpPr>
        <p:spPr>
          <a:xfrm xmlns:a="http://schemas.openxmlformats.org/drawingml/2006/main">
            <a:off x="1619250" y="3305175"/>
            <a:ext cx="809625" cy="647700"/>
          </a:xfrm>
          <a:prstGeom xmlns:a="http://schemas.openxmlformats.org/drawingml/2006/main" prst="rect">
            <a:avLst/>
          </a:prstGeom>
          <a:solidFill xmlns:a="http://schemas.openxmlformats.org/drawingml/2006/main">
            <a:srgbClr val="7865A5"/>
          </a:solidFill>
          <a:ln xmlns:a="http://schemas.openxmlformats.org/drawingml/2006/main" w="0">
            <a:noFill/>
            <a:prstDash val="solid"/>
          </a:ln>
        </p:spPr>
      </p:sp>
      <p:sp>
        <p:nvSpPr>
          <p:cNvPr id="20" name="text-283"/>
          <p:cNvSpPr>
            <a:spLocks xmlns:a="http://schemas.openxmlformats.org/drawingml/2006/main" noGrp="1"/>
          </p:cNvSpPr>
          <p:nvPr/>
        </p:nvSpPr>
        <p:spPr>
          <a:xfrm xmlns:a="http://schemas.openxmlformats.org/drawingml/2006/main">
            <a:off x="1714500" y="34290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0.50</a:t>
            </a:r>
          </a:p>
        </p:txBody>
      </p:sp>
      <p:sp>
        <p:nvSpPr>
          <p:cNvPr id="21" name="shape-284"/>
          <p:cNvSpPr>
            <a:spLocks xmlns:a="http://schemas.openxmlformats.org/drawingml/2006/main" noGrp="1"/>
          </p:cNvSpPr>
          <p:nvPr/>
        </p:nvSpPr>
        <p:spPr>
          <a:xfrm xmlns:a="http://schemas.openxmlformats.org/drawingml/2006/main">
            <a:off x="2476500" y="3305175"/>
            <a:ext cx="809625" cy="647700"/>
          </a:xfrm>
          <a:prstGeom xmlns:a="http://schemas.openxmlformats.org/drawingml/2006/main" prst="rect">
            <a:avLst/>
          </a:prstGeom>
          <a:solidFill xmlns:a="http://schemas.openxmlformats.org/drawingml/2006/main">
            <a:srgbClr val="397571"/>
          </a:solidFill>
          <a:ln xmlns:a="http://schemas.openxmlformats.org/drawingml/2006/main" w="0">
            <a:noFill/>
            <a:prstDash val="solid"/>
          </a:ln>
        </p:spPr>
      </p:sp>
      <p:sp>
        <p:nvSpPr>
          <p:cNvPr id="22" name="text-285"/>
          <p:cNvSpPr>
            <a:spLocks xmlns:a="http://schemas.openxmlformats.org/drawingml/2006/main" noGrp="1"/>
          </p:cNvSpPr>
          <p:nvPr/>
        </p:nvSpPr>
        <p:spPr>
          <a:xfrm xmlns:a="http://schemas.openxmlformats.org/drawingml/2006/main">
            <a:off x="2571750" y="34290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0.25</a:t>
            </a:r>
          </a:p>
        </p:txBody>
      </p:sp>
      <p:sp>
        <p:nvSpPr>
          <p:cNvPr id="23" name="shape-286"/>
          <p:cNvSpPr>
            <a:spLocks xmlns:a="http://schemas.openxmlformats.org/drawingml/2006/main" noGrp="1"/>
          </p:cNvSpPr>
          <p:nvPr/>
        </p:nvSpPr>
        <p:spPr>
          <a:xfrm xmlns:a="http://schemas.openxmlformats.org/drawingml/2006/main">
            <a:off x="3333750" y="330517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24" name="text-287"/>
          <p:cNvSpPr>
            <a:spLocks xmlns:a="http://schemas.openxmlformats.org/drawingml/2006/main" noGrp="1"/>
          </p:cNvSpPr>
          <p:nvPr/>
        </p:nvSpPr>
        <p:spPr>
          <a:xfrm xmlns:a="http://schemas.openxmlformats.org/drawingml/2006/main">
            <a:off x="3429000" y="34290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0.10</a:t>
            </a:r>
          </a:p>
        </p:txBody>
      </p:sp>
      <p:sp>
        <p:nvSpPr>
          <p:cNvPr id="25" name="shape-288"/>
          <p:cNvSpPr>
            <a:spLocks xmlns:a="http://schemas.openxmlformats.org/drawingml/2006/main" noGrp="1"/>
          </p:cNvSpPr>
          <p:nvPr/>
        </p:nvSpPr>
        <p:spPr>
          <a:xfrm xmlns:a="http://schemas.openxmlformats.org/drawingml/2006/main">
            <a:off x="762000" y="401002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26" name="text-289"/>
          <p:cNvSpPr>
            <a:spLocks xmlns:a="http://schemas.openxmlformats.org/drawingml/2006/main" noGrp="1"/>
          </p:cNvSpPr>
          <p:nvPr/>
        </p:nvSpPr>
        <p:spPr>
          <a:xfrm xmlns:a="http://schemas.openxmlformats.org/drawingml/2006/main">
            <a:off x="857250" y="41338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0.05</a:t>
            </a:r>
          </a:p>
        </p:txBody>
      </p:sp>
      <p:sp>
        <p:nvSpPr>
          <p:cNvPr id="27" name="shape-290"/>
          <p:cNvSpPr>
            <a:spLocks xmlns:a="http://schemas.openxmlformats.org/drawingml/2006/main" noGrp="1"/>
          </p:cNvSpPr>
          <p:nvPr/>
        </p:nvSpPr>
        <p:spPr>
          <a:xfrm xmlns:a="http://schemas.openxmlformats.org/drawingml/2006/main">
            <a:off x="1619250" y="4010025"/>
            <a:ext cx="809625" cy="647700"/>
          </a:xfrm>
          <a:prstGeom xmlns:a="http://schemas.openxmlformats.org/drawingml/2006/main" prst="rect">
            <a:avLst/>
          </a:prstGeom>
          <a:solidFill xmlns:a="http://schemas.openxmlformats.org/drawingml/2006/main">
            <a:srgbClr val="397571"/>
          </a:solidFill>
          <a:ln xmlns:a="http://schemas.openxmlformats.org/drawingml/2006/main" w="0">
            <a:noFill/>
            <a:prstDash val="solid"/>
          </a:ln>
        </p:spPr>
      </p:sp>
      <p:sp>
        <p:nvSpPr>
          <p:cNvPr id="28" name="text-291"/>
          <p:cNvSpPr>
            <a:spLocks xmlns:a="http://schemas.openxmlformats.org/drawingml/2006/main" noGrp="1"/>
          </p:cNvSpPr>
          <p:nvPr/>
        </p:nvSpPr>
        <p:spPr>
          <a:xfrm xmlns:a="http://schemas.openxmlformats.org/drawingml/2006/main">
            <a:off x="1714500" y="41338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0.25</a:t>
            </a:r>
          </a:p>
        </p:txBody>
      </p:sp>
      <p:sp>
        <p:nvSpPr>
          <p:cNvPr id="29" name="shape-292"/>
          <p:cNvSpPr>
            <a:spLocks xmlns:a="http://schemas.openxmlformats.org/drawingml/2006/main" noGrp="1"/>
          </p:cNvSpPr>
          <p:nvPr/>
        </p:nvSpPr>
        <p:spPr>
          <a:xfrm xmlns:a="http://schemas.openxmlformats.org/drawingml/2006/main">
            <a:off x="2476500" y="4010025"/>
            <a:ext cx="809625" cy="647700"/>
          </a:xfrm>
          <a:prstGeom xmlns:a="http://schemas.openxmlformats.org/drawingml/2006/main" prst="rect">
            <a:avLst/>
          </a:prstGeom>
          <a:solidFill xmlns:a="http://schemas.openxmlformats.org/drawingml/2006/main">
            <a:srgbClr val="7865A5"/>
          </a:solidFill>
          <a:ln xmlns:a="http://schemas.openxmlformats.org/drawingml/2006/main" w="0">
            <a:noFill/>
            <a:prstDash val="solid"/>
          </a:ln>
        </p:spPr>
      </p:sp>
      <p:sp>
        <p:nvSpPr>
          <p:cNvPr id="30" name="text-293"/>
          <p:cNvSpPr>
            <a:spLocks xmlns:a="http://schemas.openxmlformats.org/drawingml/2006/main" noGrp="1"/>
          </p:cNvSpPr>
          <p:nvPr/>
        </p:nvSpPr>
        <p:spPr>
          <a:xfrm xmlns:a="http://schemas.openxmlformats.org/drawingml/2006/main">
            <a:off x="2571750" y="41338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0.60</a:t>
            </a:r>
          </a:p>
        </p:txBody>
      </p:sp>
      <p:sp>
        <p:nvSpPr>
          <p:cNvPr id="31" name="shape-294"/>
          <p:cNvSpPr>
            <a:spLocks xmlns:a="http://schemas.openxmlformats.org/drawingml/2006/main" noGrp="1"/>
          </p:cNvSpPr>
          <p:nvPr/>
        </p:nvSpPr>
        <p:spPr>
          <a:xfrm xmlns:a="http://schemas.openxmlformats.org/drawingml/2006/main">
            <a:off x="3333750" y="401002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32" name="text-295"/>
          <p:cNvSpPr>
            <a:spLocks xmlns:a="http://schemas.openxmlformats.org/drawingml/2006/main" noGrp="1"/>
          </p:cNvSpPr>
          <p:nvPr/>
        </p:nvSpPr>
        <p:spPr>
          <a:xfrm xmlns:a="http://schemas.openxmlformats.org/drawingml/2006/main">
            <a:off x="3429000" y="413385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0.10</a:t>
            </a:r>
          </a:p>
        </p:txBody>
      </p:sp>
      <p:sp>
        <p:nvSpPr>
          <p:cNvPr id="33" name="shape-296"/>
          <p:cNvSpPr>
            <a:spLocks xmlns:a="http://schemas.openxmlformats.org/drawingml/2006/main" noGrp="1"/>
          </p:cNvSpPr>
          <p:nvPr/>
        </p:nvSpPr>
        <p:spPr>
          <a:xfrm xmlns:a="http://schemas.openxmlformats.org/drawingml/2006/main">
            <a:off x="762000" y="471487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34" name="text-297"/>
          <p:cNvSpPr>
            <a:spLocks xmlns:a="http://schemas.openxmlformats.org/drawingml/2006/main" noGrp="1"/>
          </p:cNvSpPr>
          <p:nvPr/>
        </p:nvSpPr>
        <p:spPr>
          <a:xfrm xmlns:a="http://schemas.openxmlformats.org/drawingml/2006/main">
            <a:off x="857250" y="48387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0.10</a:t>
            </a:r>
          </a:p>
        </p:txBody>
      </p:sp>
      <p:sp>
        <p:nvSpPr>
          <p:cNvPr id="35" name="shape-298"/>
          <p:cNvSpPr>
            <a:spLocks xmlns:a="http://schemas.openxmlformats.org/drawingml/2006/main" noGrp="1"/>
          </p:cNvSpPr>
          <p:nvPr/>
        </p:nvSpPr>
        <p:spPr>
          <a:xfrm xmlns:a="http://schemas.openxmlformats.org/drawingml/2006/main">
            <a:off x="1619250" y="4714875"/>
            <a:ext cx="809625" cy="647700"/>
          </a:xfrm>
          <a:prstGeom xmlns:a="http://schemas.openxmlformats.org/drawingml/2006/main" prst="rect">
            <a:avLst/>
          </a:prstGeom>
          <a:solidFill xmlns:a="http://schemas.openxmlformats.org/drawingml/2006/main">
            <a:srgbClr val="334750"/>
          </a:solidFill>
          <a:ln xmlns:a="http://schemas.openxmlformats.org/drawingml/2006/main" w="0">
            <a:noFill/>
            <a:prstDash val="solid"/>
          </a:ln>
        </p:spPr>
      </p:sp>
      <p:sp>
        <p:nvSpPr>
          <p:cNvPr id="36" name="text-299"/>
          <p:cNvSpPr>
            <a:spLocks xmlns:a="http://schemas.openxmlformats.org/drawingml/2006/main" noGrp="1"/>
          </p:cNvSpPr>
          <p:nvPr/>
        </p:nvSpPr>
        <p:spPr>
          <a:xfrm xmlns:a="http://schemas.openxmlformats.org/drawingml/2006/main">
            <a:off x="1714500" y="48387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0.10</a:t>
            </a:r>
          </a:p>
        </p:txBody>
      </p:sp>
      <p:sp>
        <p:nvSpPr>
          <p:cNvPr id="37" name="shape-300"/>
          <p:cNvSpPr>
            <a:spLocks xmlns:a="http://schemas.openxmlformats.org/drawingml/2006/main" noGrp="1"/>
          </p:cNvSpPr>
          <p:nvPr/>
        </p:nvSpPr>
        <p:spPr>
          <a:xfrm xmlns:a="http://schemas.openxmlformats.org/drawingml/2006/main">
            <a:off x="2476500" y="4714875"/>
            <a:ext cx="809625" cy="647700"/>
          </a:xfrm>
          <a:prstGeom xmlns:a="http://schemas.openxmlformats.org/drawingml/2006/main" prst="rect">
            <a:avLst/>
          </a:prstGeom>
          <a:solidFill xmlns:a="http://schemas.openxmlformats.org/drawingml/2006/main">
            <a:srgbClr val="397571"/>
          </a:solidFill>
          <a:ln xmlns:a="http://schemas.openxmlformats.org/drawingml/2006/main" w="0">
            <a:noFill/>
            <a:prstDash val="solid"/>
          </a:ln>
        </p:spPr>
      </p:sp>
      <p:sp>
        <p:nvSpPr>
          <p:cNvPr id="38" name="text-301"/>
          <p:cNvSpPr>
            <a:spLocks xmlns:a="http://schemas.openxmlformats.org/drawingml/2006/main" noGrp="1"/>
          </p:cNvSpPr>
          <p:nvPr/>
        </p:nvSpPr>
        <p:spPr>
          <a:xfrm xmlns:a="http://schemas.openxmlformats.org/drawingml/2006/main">
            <a:off x="2571750" y="48387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0.20</a:t>
            </a:r>
          </a:p>
        </p:txBody>
      </p:sp>
      <p:sp>
        <p:nvSpPr>
          <p:cNvPr id="39" name="shape-302"/>
          <p:cNvSpPr>
            <a:spLocks xmlns:a="http://schemas.openxmlformats.org/drawingml/2006/main" noGrp="1"/>
          </p:cNvSpPr>
          <p:nvPr/>
        </p:nvSpPr>
        <p:spPr>
          <a:xfrm xmlns:a="http://schemas.openxmlformats.org/drawingml/2006/main">
            <a:off x="3333750" y="4714875"/>
            <a:ext cx="809625" cy="647700"/>
          </a:xfrm>
          <a:prstGeom xmlns:a="http://schemas.openxmlformats.org/drawingml/2006/main" prst="rect">
            <a:avLst/>
          </a:prstGeom>
          <a:solidFill xmlns:a="http://schemas.openxmlformats.org/drawingml/2006/main">
            <a:srgbClr val="7865A5"/>
          </a:solidFill>
          <a:ln xmlns:a="http://schemas.openxmlformats.org/drawingml/2006/main" w="0">
            <a:noFill/>
            <a:prstDash val="solid"/>
          </a:ln>
        </p:spPr>
      </p:sp>
      <p:sp>
        <p:nvSpPr>
          <p:cNvPr id="40" name="text-303"/>
          <p:cNvSpPr>
            <a:spLocks xmlns:a="http://schemas.openxmlformats.org/drawingml/2006/main" noGrp="1"/>
          </p:cNvSpPr>
          <p:nvPr/>
        </p:nvSpPr>
        <p:spPr>
          <a:xfrm xmlns:a="http://schemas.openxmlformats.org/drawingml/2006/main">
            <a:off x="3429000" y="4838700"/>
            <a:ext cx="638175" cy="3524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0.60</a:t>
            </a:r>
          </a:p>
        </p:txBody>
      </p:sp>
      <p:sp>
        <p:nvSpPr>
          <p:cNvPr id="41" name="text-304"/>
          <p:cNvSpPr>
            <a:spLocks xmlns:a="http://schemas.openxmlformats.org/drawingml/2006/main" noGrp="1"/>
          </p:cNvSpPr>
          <p:nvPr/>
        </p:nvSpPr>
        <p:spPr>
          <a:xfrm xmlns:a="http://schemas.openxmlformats.org/drawingml/2006/main">
            <a:off x="5429250" y="2447925"/>
            <a:ext cx="5905500" cy="952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325" b="1">
                <a:solidFill>
                  <a:srgbClr val="FFFFFF"/>
                </a:solidFill>
                <a:latin typeface="Poppins"/>
                <a:ea typeface="Poppins"/>
                <a:cs typeface="Poppins"/>
              </a:defRPr>
            </a:pPr>
            <a:r>
              <a:rPr sz="2325" b="1">
                <a:solidFill>
                  <a:srgbClr val="FFFFFF"/>
                </a:solidFill>
                <a:latin typeface="Poppins"/>
                <a:ea typeface="Poppins"/>
                <a:cs typeface="Poppins"/>
              </a:rPr>
              <a:t>Una pieza ambigua puede</a:t>
            </a:r>
          </a:p>
          <a:p xmlns:a="http://schemas.openxmlformats.org/drawingml/2006/main">
            <a:pPr>
              <a:buNone/>
              <a:defRPr sz="2325" b="1">
                <a:solidFill>
                  <a:srgbClr val="FFFFFF"/>
                </a:solidFill>
                <a:latin typeface="Poppins"/>
                <a:ea typeface="Poppins"/>
                <a:cs typeface="Poppins"/>
              </a:defRPr>
            </a:pPr>
            <a:r>
              <a:rPr sz="2325" b="1">
                <a:solidFill>
                  <a:srgbClr val="FFFFFF"/>
                </a:solidFill>
                <a:latin typeface="Poppins"/>
                <a:ea typeface="Poppins"/>
                <a:cs typeface="Poppins"/>
              </a:rPr>
              <a:t>apoyarse en otras piezas.</a:t>
            </a:r>
          </a:p>
        </p:txBody>
      </p:sp>
      <p:sp>
        <p:nvSpPr>
          <p:cNvPr id="42" name="text-305"/>
          <p:cNvSpPr>
            <a:spLocks xmlns:a="http://schemas.openxmlformats.org/drawingml/2006/main" noGrp="1"/>
          </p:cNvSpPr>
          <p:nvPr/>
        </p:nvSpPr>
        <p:spPr>
          <a:xfrm xmlns:a="http://schemas.openxmlformats.org/drawingml/2006/main">
            <a:off x="5429250" y="3743325"/>
            <a:ext cx="5905500" cy="952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950" b="0">
                <a:solidFill>
                  <a:srgbClr val="D0C9DB"/>
                </a:solidFill>
                <a:latin typeface="Poppins"/>
                <a:ea typeface="Poppins"/>
                <a:cs typeface="Poppins"/>
              </a:defRPr>
            </a:pPr>
            <a:r>
              <a:rPr sz="1950" b="0">
                <a:solidFill>
                  <a:srgbClr val="D0C9DB"/>
                </a:solidFill>
                <a:latin typeface="Poppins"/>
                <a:ea typeface="Poppins"/>
                <a:cs typeface="Poppins"/>
              </a:rPr>
              <a:t>Atención = combinación de información.</a:t>
            </a:r>
          </a:p>
          <a:p xmlns:a="http://schemas.openxmlformats.org/drawingml/2006/main">
            <a:pPr>
              <a:buNone/>
              <a:defRPr sz="1950" b="0">
                <a:solidFill>
                  <a:srgbClr val="D0C9DB"/>
                </a:solidFill>
                <a:latin typeface="Poppins"/>
                <a:ea typeface="Poppins"/>
                <a:cs typeface="Poppins"/>
              </a:defRPr>
            </a:pPr>
            <a:r>
              <a:rPr sz="1950" b="0">
                <a:solidFill>
                  <a:srgbClr val="D0C9DB"/>
                </a:solidFill>
                <a:latin typeface="Poppins"/>
                <a:ea typeface="Poppins"/>
                <a:cs typeface="Poppins"/>
              </a:rPr>
              <a:t>No es una mirada consciente.</a:t>
            </a:r>
          </a:p>
        </p:txBody>
      </p:sp>
      <p:sp>
        <p:nvSpPr>
          <p:cNvPr id="43" name="text-306"/>
          <p:cNvSpPr>
            <a:spLocks xmlns:a="http://schemas.openxmlformats.org/drawingml/2006/main" noGrp="1"/>
          </p:cNvSpPr>
          <p:nvPr/>
        </p:nvSpPr>
        <p:spPr>
          <a:xfrm xmlns:a="http://schemas.openxmlformats.org/drawingml/2006/main">
            <a:off x="5429250" y="5124450"/>
            <a:ext cx="5953125"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BFA0FF"/>
                </a:solidFill>
                <a:latin typeface="Poppins"/>
                <a:ea typeface="Poppins"/>
                <a:cs typeface="Poppins"/>
              </a:defRPr>
            </a:pPr>
            <a:r>
              <a:rPr sz="1650" b="0">
                <a:solidFill>
                  <a:srgbClr val="BFA0FF"/>
                </a:solidFill>
                <a:latin typeface="Poppins"/>
                <a:ea typeface="Poppins"/>
                <a:cs typeface="Poppins"/>
              </a:rPr>
              <a:t>En OF, P dibuja parches: no esta matriz.</a:t>
            </a:r>
          </a:p>
        </p:txBody>
      </p:sp>
      <p:sp>
        <p:nvSpPr>
          <p:cNvPr id="44"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07</a:t>
            </a:r>
          </a:p>
        </p:txBody>
      </p:sp>
    </p:spTree>
  </p:cSld>
</p:sld>
</file>

<file path=ppt/slides/slide8.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4" name=""/>
        <p:cNvGrpSpPr/>
        <p:nvPr/>
      </p:nvGrpSpPr>
      <p:grpSpPr>
        <a:xfrm xmlns:a="http://schemas.openxmlformats.org/drawingml/2006/main">
          <a:off x="0" y="0"/>
          <a:ext cx="0" cy="0"/>
          <a:chOff x="0" y="0"/>
          <a:chExt cx="0" cy="0"/>
        </a:xfrm>
      </p:grpSpPr>
      <p:sp>
        <p:nvSpPr>
          <p:cNvPr id="1" name="kicker-marker"/>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ln>
        </p:spPr>
      </p:sp>
      <p:sp>
        <p:nvSpPr>
          <p:cNvPr id="2" name="kicker-label"/>
          <p:cNvSpPr>
            <a:spLocks xmlns:a="http://schemas.openxmlformats.org/drawingml/2006/main" noGrp="1"/>
          </p:cNvSpPr>
          <p:nvPr/>
        </p:nvSpPr>
        <p:spPr>
          <a:xfrm xmlns:a="http://schemas.openxmlformats.org/drawingml/2006/main">
            <a:off x="714375" y="352425"/>
            <a:ext cx="10763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125" b="1">
                <a:solidFill>
                  <a:srgbClr val="2DD5B5"/>
                </a:solidFill>
                <a:latin typeface="Poppins"/>
                <a:ea typeface="Poppins"/>
                <a:cs typeface="Poppins"/>
              </a:defRPr>
            </a:pPr>
            <a:r>
              <a:rPr sz="1125" b="1">
                <a:solidFill>
                  <a:srgbClr val="2DD5B5"/>
                </a:solidFill>
                <a:latin typeface="Poppins"/>
                <a:ea typeface="Poppins"/>
                <a:cs typeface="Poppins"/>
              </a:rPr>
              <a:t>ATENCIÓN POR DENTRO</a:t>
            </a:r>
          </a:p>
        </p:txBody>
      </p:sp>
      <p:sp>
        <p:nvSpPr>
          <p:cNvPr id="3" name=""/>
          <p:cNvSpPr>
            <a:spLocks xmlns:a="http://schemas.openxmlformats.org/drawingml/2006/main" noGrp="1"/>
          </p:cNvSpPr>
          <p:nvPr/>
        </p:nvSpPr>
        <p:spPr>
          <a:xfrm xmlns:a="http://schemas.openxmlformats.org/drawingml/2006/main">
            <a:off x="609600" y="866775"/>
            <a:ext cx="10953750" cy="590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La atención calcula cuánto aporta cada representación</a:t>
            </a:r>
          </a:p>
        </p:txBody>
      </p:sp>
      <p:sp>
        <p:nvSpPr>
          <p:cNvPr id="4" name=""/>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EA2FF"/>
          </a:solidFill>
          <a:ln xmlns:a="http://schemas.openxmlformats.org/drawingml/2006/main" w="0">
            <a:noFill/>
          </a:ln>
        </p:spPr>
      </p:sp>
      <p:sp>
        <p:nvSpPr>
          <p:cNvPr id="5" name=""/>
          <p:cNvSpPr>
            <a:spLocks xmlns:a="http://schemas.openxmlformats.org/drawingml/2006/main" noGrp="1"/>
          </p:cNvSpPr>
          <p:nvPr/>
        </p:nvSpPr>
        <p:spPr>
          <a:xfrm xmlns:a="http://schemas.openxmlformats.org/drawingml/2006/main">
            <a:off x="609600" y="6162675"/>
            <a:ext cx="10763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Esquema de una cabeza · ViT: arxiv.org/abs/2010.11929</a:t>
            </a:r>
          </a:p>
        </p:txBody>
      </p:sp>
      <p:sp>
        <p:nvSpPr>
          <p:cNvPr id="6" name=""/>
          <p:cNvSpPr>
            <a:spLocks xmlns:a="http://schemas.openxmlformats.org/drawingml/2006/main" noGrp="1"/>
          </p:cNvSpPr>
          <p:nvPr/>
        </p:nvSpPr>
        <p:spPr>
          <a:xfrm xmlns:a="http://schemas.openxmlformats.org/drawingml/2006/main">
            <a:off x="609600" y="6457950"/>
            <a:ext cx="100012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IA · Visión, transformers y openFrameworks  |  Informática Aplicada II · UNA</a:t>
            </a:r>
          </a:p>
        </p:txBody>
      </p:sp>
      <p:sp>
        <p:nvSpPr>
          <p:cNvPr id="7" name=""/>
          <p:cNvSpPr>
            <a:spLocks xmlns:a="http://schemas.openxmlformats.org/drawingml/2006/main" noGrp="1"/>
          </p:cNvSpPr>
          <p:nvPr/>
        </p:nvSpPr>
        <p:spPr>
          <a:xfrm xmlns:a="http://schemas.openxmlformats.org/drawingml/2006/main">
            <a:off x="609600" y="2076450"/>
            <a:ext cx="340995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175" b="1">
                <a:solidFill>
                  <a:srgbClr val="2DD5B5"/>
                </a:solidFill>
                <a:latin typeface="Poppins"/>
                <a:ea typeface="Poppins"/>
                <a:cs typeface="Poppins"/>
              </a:defRPr>
            </a:pPr>
            <a:r>
              <a:rPr sz="2175" b="1">
                <a:solidFill>
                  <a:srgbClr val="2DD5B5"/>
                </a:solidFill>
                <a:latin typeface="Poppins"/>
                <a:ea typeface="Poppins"/>
                <a:cs typeface="Poppins"/>
              </a:rPr>
              <a:t>Q · consulta</a:t>
            </a:r>
          </a:p>
        </p:txBody>
      </p:sp>
      <p:sp>
        <p:nvSpPr>
          <p:cNvPr id="8" name=""/>
          <p:cNvSpPr>
            <a:spLocks xmlns:a="http://schemas.openxmlformats.org/drawingml/2006/main" noGrp="1"/>
          </p:cNvSpPr>
          <p:nvPr/>
        </p:nvSpPr>
        <p:spPr>
          <a:xfrm xmlns:a="http://schemas.openxmlformats.org/drawingml/2006/main">
            <a:off x="609600" y="2714625"/>
            <a:ext cx="3409950" cy="742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¿Con qué información</a:t>
            </a:r>
          </a:p>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conviene relacionarme?</a:t>
            </a:r>
          </a:p>
        </p:txBody>
      </p:sp>
      <p:sp>
        <p:nvSpPr>
          <p:cNvPr id="9" name=""/>
          <p:cNvSpPr>
            <a:spLocks xmlns:a="http://schemas.openxmlformats.org/drawingml/2006/main" noGrp="1"/>
          </p:cNvSpPr>
          <p:nvPr/>
        </p:nvSpPr>
        <p:spPr>
          <a:xfrm xmlns:a="http://schemas.openxmlformats.org/drawingml/2006/main">
            <a:off x="4391025" y="2076450"/>
            <a:ext cx="340995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175" b="1">
                <a:solidFill>
                  <a:srgbClr val="2DD5B5"/>
                </a:solidFill>
                <a:latin typeface="Poppins"/>
                <a:ea typeface="Poppins"/>
                <a:cs typeface="Poppins"/>
              </a:defRPr>
            </a:pPr>
            <a:r>
              <a:rPr sz="2175" b="1">
                <a:solidFill>
                  <a:srgbClr val="2DD5B5"/>
                </a:solidFill>
                <a:latin typeface="Poppins"/>
                <a:ea typeface="Poppins"/>
                <a:cs typeface="Poppins"/>
              </a:rPr>
              <a:t>K · clave</a:t>
            </a:r>
          </a:p>
        </p:txBody>
      </p:sp>
      <p:sp>
        <p:nvSpPr>
          <p:cNvPr id="10" name=""/>
          <p:cNvSpPr>
            <a:spLocks xmlns:a="http://schemas.openxmlformats.org/drawingml/2006/main" noGrp="1"/>
          </p:cNvSpPr>
          <p:nvPr/>
        </p:nvSpPr>
        <p:spPr>
          <a:xfrm xmlns:a="http://schemas.openxmlformats.org/drawingml/2006/main">
            <a:off x="4391025" y="2714625"/>
            <a:ext cx="3409950" cy="742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¿Cómo se compara</a:t>
            </a:r>
          </a:p>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mi representación?</a:t>
            </a:r>
          </a:p>
        </p:txBody>
      </p:sp>
      <p:sp>
        <p:nvSpPr>
          <p:cNvPr id="11" name=""/>
          <p:cNvSpPr>
            <a:spLocks xmlns:a="http://schemas.openxmlformats.org/drawingml/2006/main" noGrp="1"/>
          </p:cNvSpPr>
          <p:nvPr/>
        </p:nvSpPr>
        <p:spPr>
          <a:xfrm xmlns:a="http://schemas.openxmlformats.org/drawingml/2006/main">
            <a:off x="8172450" y="2076450"/>
            <a:ext cx="340995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175" b="1">
                <a:solidFill>
                  <a:srgbClr val="BEA2FF"/>
                </a:solidFill>
                <a:latin typeface="Poppins"/>
                <a:ea typeface="Poppins"/>
                <a:cs typeface="Poppins"/>
              </a:defRPr>
            </a:pPr>
            <a:r>
              <a:rPr sz="2175" b="1">
                <a:solidFill>
                  <a:srgbClr val="BEA2FF"/>
                </a:solidFill>
                <a:latin typeface="Poppins"/>
                <a:ea typeface="Poppins"/>
                <a:cs typeface="Poppins"/>
              </a:rPr>
              <a:t>V · contenido</a:t>
            </a:r>
          </a:p>
        </p:txBody>
      </p:sp>
      <p:sp>
        <p:nvSpPr>
          <p:cNvPr id="12" name=""/>
          <p:cNvSpPr>
            <a:spLocks xmlns:a="http://schemas.openxmlformats.org/drawingml/2006/main" noGrp="1"/>
          </p:cNvSpPr>
          <p:nvPr/>
        </p:nvSpPr>
        <p:spPr>
          <a:xfrm xmlns:a="http://schemas.openxmlformats.org/drawingml/2006/main">
            <a:off x="8172450" y="2714625"/>
            <a:ext cx="3409950" cy="742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¿Qué información</a:t>
            </a:r>
          </a:p>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puedo aportar?</a:t>
            </a:r>
          </a:p>
        </p:txBody>
      </p:sp>
      <p:sp>
        <p:nvSpPr>
          <p:cNvPr id="13" name=""/>
          <p:cNvSpPr>
            <a:spLocks xmlns:a="http://schemas.openxmlformats.org/drawingml/2006/main" noGrp="1"/>
          </p:cNvSpPr>
          <p:nvPr/>
        </p:nvSpPr>
        <p:spPr>
          <a:xfrm xmlns:a="http://schemas.openxmlformats.org/drawingml/2006/main">
            <a:off x="609600" y="3638550"/>
            <a:ext cx="10972800" cy="3810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FFFFFF"/>
                </a:solidFill>
                <a:latin typeface="Poppins"/>
                <a:ea typeface="Poppins"/>
                <a:cs typeface="Poppins"/>
              </a:defRPr>
            </a:pPr>
            <a:r>
              <a:rPr sz="1725" b="0">
                <a:solidFill>
                  <a:srgbClr val="FFFFFF"/>
                </a:solidFill>
                <a:latin typeface="Poppins"/>
                <a:ea typeface="Poppins"/>
                <a:cs typeface="Poppins"/>
              </a:rPr>
              <a:t>Q, K y V son proyecciones aprendidas de los mismos tokens.</a:t>
            </a:r>
          </a:p>
        </p:txBody>
      </p:sp>
      <p:sp>
        <p:nvSpPr>
          <p:cNvPr id="14" name=""/>
          <p:cNvSpPr>
            <a:spLocks xmlns:a="http://schemas.openxmlformats.org/drawingml/2006/main" noGrp="1"/>
          </p:cNvSpPr>
          <p:nvPr/>
        </p:nvSpPr>
        <p:spPr>
          <a:xfrm xmlns:a="http://schemas.openxmlformats.org/drawingml/2006/main">
            <a:off x="609600" y="4324350"/>
            <a:ext cx="33147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5" name=""/>
          <p:cNvSpPr>
            <a:spLocks xmlns:a="http://schemas.openxmlformats.org/drawingml/2006/main" noGrp="1"/>
          </p:cNvSpPr>
          <p:nvPr/>
        </p:nvSpPr>
        <p:spPr>
          <a:xfrm xmlns:a="http://schemas.openxmlformats.org/drawingml/2006/main">
            <a:off x="781050" y="4476750"/>
            <a:ext cx="29718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Q × Kᵀ / √d</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Comparar y escalar</a:t>
            </a:r>
          </a:p>
        </p:txBody>
      </p:sp>
      <p:sp>
        <p:nvSpPr>
          <p:cNvPr id="16" name=""/>
          <p:cNvSpPr>
            <a:spLocks xmlns:a="http://schemas.openxmlformats.org/drawingml/2006/main" noGrp="1"/>
          </p:cNvSpPr>
          <p:nvPr/>
        </p:nvSpPr>
        <p:spPr>
          <a:xfrm xmlns:a="http://schemas.openxmlformats.org/drawingml/2006/main">
            <a:off x="3924300" y="4695825"/>
            <a:ext cx="457200"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17" name=""/>
          <p:cNvSpPr>
            <a:spLocks xmlns:a="http://schemas.openxmlformats.org/drawingml/2006/main" noGrp="1"/>
          </p:cNvSpPr>
          <p:nvPr/>
        </p:nvSpPr>
        <p:spPr>
          <a:xfrm xmlns:a="http://schemas.openxmlformats.org/drawingml/2006/main">
            <a:off x="4381500" y="4324350"/>
            <a:ext cx="33147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8" name=""/>
          <p:cNvSpPr>
            <a:spLocks xmlns:a="http://schemas.openxmlformats.org/drawingml/2006/main" noGrp="1"/>
          </p:cNvSpPr>
          <p:nvPr/>
        </p:nvSpPr>
        <p:spPr>
          <a:xfrm xmlns:a="http://schemas.openxmlformats.org/drawingml/2006/main">
            <a:off x="4552950" y="4476750"/>
            <a:ext cx="29718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softmax por fila</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Obtener pesos</a:t>
            </a:r>
          </a:p>
        </p:txBody>
      </p:sp>
      <p:sp>
        <p:nvSpPr>
          <p:cNvPr id="19" name=""/>
          <p:cNvSpPr>
            <a:spLocks xmlns:a="http://schemas.openxmlformats.org/drawingml/2006/main" noGrp="1"/>
          </p:cNvSpPr>
          <p:nvPr/>
        </p:nvSpPr>
        <p:spPr>
          <a:xfrm xmlns:a="http://schemas.openxmlformats.org/drawingml/2006/main">
            <a:off x="7696200" y="4695825"/>
            <a:ext cx="457200"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20" name=""/>
          <p:cNvSpPr>
            <a:spLocks xmlns:a="http://schemas.openxmlformats.org/drawingml/2006/main" noGrp="1"/>
          </p:cNvSpPr>
          <p:nvPr/>
        </p:nvSpPr>
        <p:spPr>
          <a:xfrm xmlns:a="http://schemas.openxmlformats.org/drawingml/2006/main">
            <a:off x="8153400" y="4324350"/>
            <a:ext cx="3429000" cy="9144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21" name=""/>
          <p:cNvSpPr>
            <a:spLocks xmlns:a="http://schemas.openxmlformats.org/drawingml/2006/main" noGrp="1"/>
          </p:cNvSpPr>
          <p:nvPr/>
        </p:nvSpPr>
        <p:spPr>
          <a:xfrm xmlns:a="http://schemas.openxmlformats.org/drawingml/2006/main">
            <a:off x="8324850" y="4476750"/>
            <a:ext cx="3086100" cy="609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Pesos × V</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Combinar información</a:t>
            </a:r>
          </a:p>
        </p:txBody>
      </p:sp>
      <p:sp>
        <p:nvSpPr>
          <p:cNvPr id="22" name=""/>
          <p:cNvSpPr>
            <a:spLocks xmlns:a="http://schemas.openxmlformats.org/drawingml/2006/main" noGrp="1"/>
          </p:cNvSpPr>
          <p:nvPr/>
        </p:nvSpPr>
        <p:spPr>
          <a:xfrm xmlns:a="http://schemas.openxmlformats.org/drawingml/2006/main">
            <a:off x="609600" y="5610225"/>
            <a:ext cx="10972800" cy="400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BEA2FF"/>
                </a:solidFill>
                <a:latin typeface="Poppins"/>
                <a:ea typeface="Poppins"/>
                <a:cs typeface="Poppins"/>
              </a:defRPr>
            </a:pPr>
            <a:r>
              <a:rPr sz="1650" b="0">
                <a:solidFill>
                  <a:srgbClr val="BEA2FF"/>
                </a:solidFill>
                <a:latin typeface="Poppins"/>
                <a:ea typeface="Poppins"/>
                <a:cs typeface="Poppins"/>
              </a:rPr>
              <a:t>Varias cabezas aprenden relaciones distintas. Atención ≠ explicación completa.</a:t>
            </a:r>
          </a:p>
        </p:txBody>
      </p:sp>
      <p:sp>
        <p:nvSpPr>
          <p:cNvPr id="23"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08</a:t>
            </a:r>
          </a:p>
        </p:txBody>
      </p:sp>
    </p:spTree>
  </p:cSld>
</p:sld>
</file>

<file path=ppt/slides/slide9.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5" name=""/>
        <p:cNvGrpSpPr/>
        <p:nvPr/>
      </p:nvGrpSpPr>
      <p:grpSpPr>
        <a:xfrm xmlns:a="http://schemas.openxmlformats.org/drawingml/2006/main">
          <a:off x="0" y="0"/>
          <a:ext cx="0" cy="0"/>
          <a:chOff x="0" y="0"/>
          <a:chExt cx="0" cy="0"/>
        </a:xfrm>
      </p:grpSpPr>
      <p:sp>
        <p:nvSpPr>
          <p:cNvPr id="1" name="kicker-marker"/>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ln>
        </p:spPr>
      </p:sp>
      <p:sp>
        <p:nvSpPr>
          <p:cNvPr id="2" name="kicker-label"/>
          <p:cNvSpPr>
            <a:spLocks xmlns:a="http://schemas.openxmlformats.org/drawingml/2006/main" noGrp="1"/>
          </p:cNvSpPr>
          <p:nvPr/>
        </p:nvSpPr>
        <p:spPr>
          <a:xfrm xmlns:a="http://schemas.openxmlformats.org/drawingml/2006/main">
            <a:off x="714375" y="352425"/>
            <a:ext cx="10763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125" b="1">
                <a:solidFill>
                  <a:srgbClr val="2DD5B5"/>
                </a:solidFill>
                <a:latin typeface="Poppins"/>
                <a:ea typeface="Poppins"/>
                <a:cs typeface="Poppins"/>
              </a:defRPr>
            </a:pPr>
            <a:r>
              <a:rPr sz="1125" b="1">
                <a:solidFill>
                  <a:srgbClr val="2DD5B5"/>
                </a:solidFill>
                <a:latin typeface="Poppins"/>
                <a:ea typeface="Poppins"/>
                <a:cs typeface="Poppins"/>
              </a:rPr>
              <a:t>DENTRO DE VIT BASE</a:t>
            </a:r>
          </a:p>
        </p:txBody>
      </p:sp>
      <p:sp>
        <p:nvSpPr>
          <p:cNvPr id="3" name=""/>
          <p:cNvSpPr>
            <a:spLocks xmlns:a="http://schemas.openxmlformats.org/drawingml/2006/main" noGrp="1"/>
          </p:cNvSpPr>
          <p:nvPr/>
        </p:nvSpPr>
        <p:spPr>
          <a:xfrm xmlns:a="http://schemas.openxmlformats.org/drawingml/2006/main">
            <a:off x="609600" y="866775"/>
            <a:ext cx="10953750" cy="590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El encoder repite atención y transformación por token</a:t>
            </a:r>
          </a:p>
        </p:txBody>
      </p:sp>
      <p:sp>
        <p:nvSpPr>
          <p:cNvPr id="4" name=""/>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EA2FF"/>
          </a:solidFill>
          <a:ln xmlns:a="http://schemas.openxmlformats.org/drawingml/2006/main" w="0">
            <a:noFill/>
          </a:ln>
        </p:spPr>
      </p:sp>
      <p:sp>
        <p:nvSpPr>
          <p:cNvPr id="5" name=""/>
          <p:cNvSpPr>
            <a:spLocks xmlns:a="http://schemas.openxmlformats.org/drawingml/2006/main" noGrp="1"/>
          </p:cNvSpPr>
          <p:nvPr/>
        </p:nvSpPr>
        <p:spPr>
          <a:xfrm xmlns:a="http://schemas.openxmlformats.org/drawingml/2006/main">
            <a:off x="609600" y="6162675"/>
            <a:ext cx="10763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Parámetros verificados en models/vit-base-patch16-224/config.json · Esquema pre-LayerNorm</a:t>
            </a:r>
          </a:p>
        </p:txBody>
      </p:sp>
      <p:sp>
        <p:nvSpPr>
          <p:cNvPr id="6" name=""/>
          <p:cNvSpPr>
            <a:spLocks xmlns:a="http://schemas.openxmlformats.org/drawingml/2006/main" noGrp="1"/>
          </p:cNvSpPr>
          <p:nvPr/>
        </p:nvSpPr>
        <p:spPr>
          <a:xfrm xmlns:a="http://schemas.openxmlformats.org/drawingml/2006/main">
            <a:off x="609600" y="6457950"/>
            <a:ext cx="100012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IA · Visión, transformers y openFrameworks  |  Informática Aplicada II · UNA</a:t>
            </a:r>
          </a:p>
        </p:txBody>
      </p:sp>
      <p:sp>
        <p:nvSpPr>
          <p:cNvPr id="7" name=""/>
          <p:cNvSpPr>
            <a:spLocks xmlns:a="http://schemas.openxmlformats.org/drawingml/2006/main" noGrp="1"/>
          </p:cNvSpPr>
          <p:nvPr/>
        </p:nvSpPr>
        <p:spPr>
          <a:xfrm xmlns:a="http://schemas.openxmlformats.org/drawingml/2006/main">
            <a:off x="609600" y="1971675"/>
            <a:ext cx="533400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250" b="1">
                <a:solidFill>
                  <a:srgbClr val="2DD5B5"/>
                </a:solidFill>
                <a:latin typeface="Poppins"/>
                <a:ea typeface="Poppins"/>
                <a:cs typeface="Poppins"/>
              </a:defRPr>
            </a:pPr>
            <a:r>
              <a:rPr sz="2250" b="1">
                <a:solidFill>
                  <a:srgbClr val="2DD5B5"/>
                </a:solidFill>
                <a:latin typeface="Poppins"/>
                <a:ea typeface="Poppins"/>
                <a:cs typeface="Poppins"/>
              </a:rPr>
              <a:t>196 parches + [CLS]</a:t>
            </a:r>
          </a:p>
        </p:txBody>
      </p:sp>
      <p:sp>
        <p:nvSpPr>
          <p:cNvPr id="8" name=""/>
          <p:cNvSpPr>
            <a:spLocks xmlns:a="http://schemas.openxmlformats.org/drawingml/2006/main" noGrp="1"/>
          </p:cNvSpPr>
          <p:nvPr/>
        </p:nvSpPr>
        <p:spPr>
          <a:xfrm xmlns:a="http://schemas.openxmlformats.org/drawingml/2006/main">
            <a:off x="6238875" y="1971675"/>
            <a:ext cx="533400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250" b="1">
                <a:solidFill>
                  <a:srgbClr val="BEA2FF"/>
                </a:solidFill>
                <a:latin typeface="Poppins"/>
                <a:ea typeface="Poppins"/>
                <a:cs typeface="Poppins"/>
              </a:defRPr>
            </a:pPr>
            <a:r>
              <a:rPr sz="2250" b="1">
                <a:solidFill>
                  <a:srgbClr val="BEA2FF"/>
                </a:solidFill>
                <a:latin typeface="Poppins"/>
                <a:ea typeface="Poppins"/>
                <a:cs typeface="Poppins"/>
              </a:rPr>
              <a:t>197 tokens × 768 valores</a:t>
            </a:r>
          </a:p>
        </p:txBody>
      </p:sp>
      <p:sp>
        <p:nvSpPr>
          <p:cNvPr id="9" name=""/>
          <p:cNvSpPr>
            <a:spLocks xmlns:a="http://schemas.openxmlformats.org/drawingml/2006/main" noGrp="1"/>
          </p:cNvSpPr>
          <p:nvPr/>
        </p:nvSpPr>
        <p:spPr>
          <a:xfrm xmlns:a="http://schemas.openxmlformats.org/drawingml/2006/main">
            <a:off x="609600" y="2752725"/>
            <a:ext cx="9525000" cy="304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200" b="1">
                <a:solidFill>
                  <a:srgbClr val="CBC5D8"/>
                </a:solidFill>
                <a:latin typeface="Poppins"/>
                <a:ea typeface="Poppins"/>
                <a:cs typeface="Poppins"/>
              </a:defRPr>
            </a:pPr>
            <a:r>
              <a:rPr sz="1200" b="1">
                <a:solidFill>
                  <a:srgbClr val="CBC5D8"/>
                </a:solidFill>
                <a:latin typeface="Poppins"/>
                <a:ea typeface="Poppins"/>
                <a:cs typeface="Poppins"/>
              </a:rPr>
              <a:t>UN BLOQUE DEL ENCODER</a:t>
            </a:r>
          </a:p>
        </p:txBody>
      </p:sp>
      <p:sp>
        <p:nvSpPr>
          <p:cNvPr id="10" name=""/>
          <p:cNvSpPr>
            <a:spLocks xmlns:a="http://schemas.openxmlformats.org/drawingml/2006/main" noGrp="1"/>
          </p:cNvSpPr>
          <p:nvPr/>
        </p:nvSpPr>
        <p:spPr>
          <a:xfrm xmlns:a="http://schemas.openxmlformats.org/drawingml/2006/main">
            <a:off x="609600" y="3267075"/>
            <a:ext cx="2600325" cy="9906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1" name=""/>
          <p:cNvSpPr>
            <a:spLocks xmlns:a="http://schemas.openxmlformats.org/drawingml/2006/main" noGrp="1"/>
          </p:cNvSpPr>
          <p:nvPr/>
        </p:nvSpPr>
        <p:spPr>
          <a:xfrm xmlns:a="http://schemas.openxmlformats.org/drawingml/2006/main">
            <a:off x="781050" y="3419475"/>
            <a:ext cx="2257425" cy="685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Normalizar</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 atención</a:t>
            </a:r>
          </a:p>
        </p:txBody>
      </p:sp>
      <p:sp>
        <p:nvSpPr>
          <p:cNvPr id="12" name=""/>
          <p:cNvSpPr>
            <a:spLocks xmlns:a="http://schemas.openxmlformats.org/drawingml/2006/main" noGrp="1"/>
          </p:cNvSpPr>
          <p:nvPr/>
        </p:nvSpPr>
        <p:spPr>
          <a:xfrm xmlns:a="http://schemas.openxmlformats.org/drawingml/2006/main">
            <a:off x="3209925" y="3676650"/>
            <a:ext cx="190500"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13" name=""/>
          <p:cNvSpPr>
            <a:spLocks xmlns:a="http://schemas.openxmlformats.org/drawingml/2006/main" noGrp="1"/>
          </p:cNvSpPr>
          <p:nvPr/>
        </p:nvSpPr>
        <p:spPr>
          <a:xfrm xmlns:a="http://schemas.openxmlformats.org/drawingml/2006/main">
            <a:off x="3400425" y="3267075"/>
            <a:ext cx="2600325" cy="9906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4" name=""/>
          <p:cNvSpPr>
            <a:spLocks xmlns:a="http://schemas.openxmlformats.org/drawingml/2006/main" noGrp="1"/>
          </p:cNvSpPr>
          <p:nvPr/>
        </p:nvSpPr>
        <p:spPr>
          <a:xfrm xmlns:a="http://schemas.openxmlformats.org/drawingml/2006/main">
            <a:off x="3571875" y="3419475"/>
            <a:ext cx="2257425" cy="685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Sumar entrada</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(residual)</a:t>
            </a:r>
          </a:p>
        </p:txBody>
      </p:sp>
      <p:sp>
        <p:nvSpPr>
          <p:cNvPr id="15" name=""/>
          <p:cNvSpPr>
            <a:spLocks xmlns:a="http://schemas.openxmlformats.org/drawingml/2006/main" noGrp="1"/>
          </p:cNvSpPr>
          <p:nvPr/>
        </p:nvSpPr>
        <p:spPr>
          <a:xfrm xmlns:a="http://schemas.openxmlformats.org/drawingml/2006/main">
            <a:off x="6000750" y="3676650"/>
            <a:ext cx="190500"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16" name=""/>
          <p:cNvSpPr>
            <a:spLocks xmlns:a="http://schemas.openxmlformats.org/drawingml/2006/main" noGrp="1"/>
          </p:cNvSpPr>
          <p:nvPr/>
        </p:nvSpPr>
        <p:spPr>
          <a:xfrm xmlns:a="http://schemas.openxmlformats.org/drawingml/2006/main">
            <a:off x="6191250" y="3267075"/>
            <a:ext cx="2600325" cy="9906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17" name=""/>
          <p:cNvSpPr>
            <a:spLocks xmlns:a="http://schemas.openxmlformats.org/drawingml/2006/main" noGrp="1"/>
          </p:cNvSpPr>
          <p:nvPr/>
        </p:nvSpPr>
        <p:spPr>
          <a:xfrm xmlns:a="http://schemas.openxmlformats.org/drawingml/2006/main">
            <a:off x="6362700" y="3419475"/>
            <a:ext cx="2257425" cy="685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Normalizar</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 MLP</a:t>
            </a:r>
          </a:p>
        </p:txBody>
      </p:sp>
      <p:sp>
        <p:nvSpPr>
          <p:cNvPr id="18" name=""/>
          <p:cNvSpPr>
            <a:spLocks xmlns:a="http://schemas.openxmlformats.org/drawingml/2006/main" noGrp="1"/>
          </p:cNvSpPr>
          <p:nvPr/>
        </p:nvSpPr>
        <p:spPr>
          <a:xfrm xmlns:a="http://schemas.openxmlformats.org/drawingml/2006/main">
            <a:off x="8791575" y="3676650"/>
            <a:ext cx="190500" cy="171450"/>
          </a:xfrm>
          <a:prstGeom xmlns:a="http://schemas.openxmlformats.org/drawingml/2006/main" prst="rightArrow">
            <a:avLst/>
          </a:prstGeom>
          <a:solidFill xmlns:a="http://schemas.openxmlformats.org/drawingml/2006/main">
            <a:srgbClr val="2DD5B5"/>
          </a:solidFill>
          <a:ln xmlns:a="http://schemas.openxmlformats.org/drawingml/2006/main" w="0">
            <a:noFill/>
          </a:ln>
        </p:spPr>
      </p:sp>
      <p:sp>
        <p:nvSpPr>
          <p:cNvPr id="19" name=""/>
          <p:cNvSpPr>
            <a:spLocks xmlns:a="http://schemas.openxmlformats.org/drawingml/2006/main" noGrp="1"/>
          </p:cNvSpPr>
          <p:nvPr/>
        </p:nvSpPr>
        <p:spPr>
          <a:xfrm xmlns:a="http://schemas.openxmlformats.org/drawingml/2006/main">
            <a:off x="8982075" y="3267075"/>
            <a:ext cx="2600325" cy="990600"/>
          </a:xfrm>
          <a:prstGeom xmlns:a="http://schemas.openxmlformats.org/drawingml/2006/main" prst="rect">
            <a:avLst/>
          </a:prstGeom>
          <a:solidFill xmlns:a="http://schemas.openxmlformats.org/drawingml/2006/main">
            <a:srgbClr val="342C4B"/>
          </a:solidFill>
          <a:ln xmlns:a="http://schemas.openxmlformats.org/drawingml/2006/main" w="0">
            <a:noFill/>
          </a:ln>
        </p:spPr>
      </p:sp>
      <p:sp>
        <p:nvSpPr>
          <p:cNvPr id="20" name=""/>
          <p:cNvSpPr>
            <a:spLocks xmlns:a="http://schemas.openxmlformats.org/drawingml/2006/main" noGrp="1"/>
          </p:cNvSpPr>
          <p:nvPr/>
        </p:nvSpPr>
        <p:spPr>
          <a:xfrm xmlns:a="http://schemas.openxmlformats.org/drawingml/2006/main">
            <a:off x="9153525" y="3419475"/>
            <a:ext cx="2257425" cy="6858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Sumar entrada</a:t>
            </a:r>
          </a:p>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(residual)</a:t>
            </a:r>
          </a:p>
        </p:txBody>
      </p:sp>
      <p:sp>
        <p:nvSpPr>
          <p:cNvPr id="21" name=""/>
          <p:cNvSpPr>
            <a:spLocks xmlns:a="http://schemas.openxmlformats.org/drawingml/2006/main" noGrp="1"/>
          </p:cNvSpPr>
          <p:nvPr/>
        </p:nvSpPr>
        <p:spPr>
          <a:xfrm xmlns:a="http://schemas.openxmlformats.org/drawingml/2006/main">
            <a:off x="609600" y="4524375"/>
            <a:ext cx="10972800" cy="400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0">
                <a:solidFill>
                  <a:srgbClr val="CBC5D8"/>
                </a:solidFill>
                <a:latin typeface="Poppins"/>
                <a:ea typeface="Poppins"/>
                <a:cs typeface="Poppins"/>
              </a:defRPr>
            </a:pPr>
            <a:r>
              <a:rPr sz="1725" b="0">
                <a:solidFill>
                  <a:srgbClr val="CBC5D8"/>
                </a:solidFill>
                <a:latin typeface="Poppins"/>
                <a:ea typeface="Poppins"/>
                <a:cs typeface="Poppins"/>
              </a:rPr>
              <a:t>Cada suma conserva también la entrada de su subbloque.</a:t>
            </a:r>
          </a:p>
        </p:txBody>
      </p:sp>
      <p:sp>
        <p:nvSpPr>
          <p:cNvPr id="22" name=""/>
          <p:cNvSpPr>
            <a:spLocks xmlns:a="http://schemas.openxmlformats.org/drawingml/2006/main" noGrp="1"/>
          </p:cNvSpPr>
          <p:nvPr/>
        </p:nvSpPr>
        <p:spPr>
          <a:xfrm xmlns:a="http://schemas.openxmlformats.org/drawingml/2006/main">
            <a:off x="609600" y="5257800"/>
            <a:ext cx="3190875"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700" b="1">
                <a:solidFill>
                  <a:srgbClr val="2DD5B5"/>
                </a:solidFill>
                <a:latin typeface="Poppins"/>
                <a:ea typeface="Poppins"/>
                <a:cs typeface="Poppins"/>
              </a:defRPr>
            </a:pPr>
            <a:r>
              <a:rPr sz="2700" b="1">
                <a:solidFill>
                  <a:srgbClr val="2DD5B5"/>
                </a:solidFill>
                <a:latin typeface="Poppins"/>
                <a:ea typeface="Poppins"/>
                <a:cs typeface="Poppins"/>
              </a:rPr>
              <a:t>12 bloques</a:t>
            </a:r>
          </a:p>
        </p:txBody>
      </p:sp>
      <p:sp>
        <p:nvSpPr>
          <p:cNvPr id="23" name=""/>
          <p:cNvSpPr>
            <a:spLocks xmlns:a="http://schemas.openxmlformats.org/drawingml/2006/main" noGrp="1"/>
          </p:cNvSpPr>
          <p:nvPr/>
        </p:nvSpPr>
        <p:spPr>
          <a:xfrm xmlns:a="http://schemas.openxmlformats.org/drawingml/2006/main">
            <a:off x="4286250" y="5257800"/>
            <a:ext cx="49530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400" b="1">
                <a:solidFill>
                  <a:srgbClr val="BEA2FF"/>
                </a:solidFill>
                <a:latin typeface="Poppins"/>
                <a:ea typeface="Poppins"/>
                <a:cs typeface="Poppins"/>
              </a:defRPr>
            </a:pPr>
            <a:r>
              <a:rPr sz="2400" b="1">
                <a:solidFill>
                  <a:srgbClr val="BEA2FF"/>
                </a:solidFill>
                <a:latin typeface="Poppins"/>
                <a:ea typeface="Poppins"/>
                <a:cs typeface="Poppins"/>
              </a:rPr>
              <a:t>12 cabezas / bloque</a:t>
            </a:r>
          </a:p>
        </p:txBody>
      </p:sp>
      <p:sp>
        <p:nvSpPr>
          <p:cNvPr id="24"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09</a:t>
            </a:r>
          </a:p>
        </p:txBody>
      </p:sp>
    </p:spTree>
  </p:cSld>
</p:sld>
</file>

<file path=ppt/slides/slide10.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6" name=""/>
        <p:cNvGrpSpPr/>
        <p:nvPr/>
      </p:nvGrpSpPr>
      <p:grpSpPr>
        <a:xfrm xmlns:a="http://schemas.openxmlformats.org/drawingml/2006/main">
          <a:off x="0" y="0"/>
          <a:ext cx="0" cy="0"/>
          <a:chOff x="0" y="0"/>
          <a:chExt cx="0" cy="0"/>
        </a:xfrm>
      </p:grpSpPr>
      <p:sp>
        <p:nvSpPr>
          <p:cNvPr id="1" name="shape-307"/>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08"/>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DEL ENCODER A LA CLASE</a:t>
            </a:r>
          </a:p>
        </p:txBody>
      </p:sp>
      <p:sp>
        <p:nvSpPr>
          <p:cNvPr id="3" name="text-309"/>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El clasificador elige dentro de su vocabulario</a:t>
            </a:r>
          </a:p>
        </p:txBody>
      </p:sp>
      <p:sp>
        <p:nvSpPr>
          <p:cNvPr id="4" name="shape-310"/>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311"/>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313"/>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google/vit-base-patch16-224 · clasificación ImageNet</a:t>
            </a:r>
          </a:p>
        </p:txBody>
      </p:sp>
      <p:sp>
        <p:nvSpPr>
          <p:cNvPr id="8" name="text-314"/>
          <p:cNvSpPr>
            <a:spLocks xmlns:a="http://schemas.openxmlformats.org/drawingml/2006/main" noGrp="1"/>
          </p:cNvSpPr>
          <p:nvPr/>
        </p:nvSpPr>
        <p:spPr>
          <a:xfrm xmlns:a="http://schemas.openxmlformats.org/drawingml/2006/main">
            <a:off x="609600" y="1981200"/>
            <a:ext cx="10953750" cy="714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1">
                <a:solidFill>
                  <a:srgbClr val="FFFFFF"/>
                </a:solidFill>
                <a:latin typeface="Poppins"/>
                <a:ea typeface="Poppins"/>
                <a:cs typeface="Poppins"/>
              </a:defRPr>
            </a:pPr>
            <a:r>
              <a:rPr sz="2025" b="1">
                <a:solidFill>
                  <a:srgbClr val="FFFFFF"/>
                </a:solidFill>
                <a:latin typeface="Poppins"/>
                <a:ea typeface="Poppins"/>
                <a:cs typeface="Poppins"/>
              </a:rPr>
              <a:t>[CLS] → cabeza de clasificación → logits → softmax</a:t>
            </a:r>
          </a:p>
        </p:txBody>
      </p:sp>
      <p:sp>
        <p:nvSpPr>
          <p:cNvPr id="9" name="text-315"/>
          <p:cNvSpPr>
            <a:spLocks xmlns:a="http://schemas.openxmlformats.org/drawingml/2006/main" noGrp="1"/>
          </p:cNvSpPr>
          <p:nvPr/>
        </p:nvSpPr>
        <p:spPr>
          <a:xfrm xmlns:a="http://schemas.openxmlformats.org/drawingml/2006/main">
            <a:off x="609600" y="3067050"/>
            <a:ext cx="18097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Clase A</a:t>
            </a:r>
          </a:p>
        </p:txBody>
      </p:sp>
      <p:sp>
        <p:nvSpPr>
          <p:cNvPr id="10" name="shape-316"/>
          <p:cNvSpPr>
            <a:spLocks xmlns:a="http://schemas.openxmlformats.org/drawingml/2006/main" noGrp="1"/>
          </p:cNvSpPr>
          <p:nvPr/>
        </p:nvSpPr>
        <p:spPr>
          <a:xfrm xmlns:a="http://schemas.openxmlformats.org/drawingml/2006/main">
            <a:off x="2524125" y="3124200"/>
            <a:ext cx="2440305" cy="20955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1" name="text-317"/>
          <p:cNvSpPr>
            <a:spLocks xmlns:a="http://schemas.openxmlformats.org/drawingml/2006/main" noGrp="1"/>
          </p:cNvSpPr>
          <p:nvPr/>
        </p:nvSpPr>
        <p:spPr>
          <a:xfrm xmlns:a="http://schemas.openxmlformats.org/drawingml/2006/main">
            <a:off x="8858250" y="3067050"/>
            <a:ext cx="12382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42%</a:t>
            </a:r>
          </a:p>
        </p:txBody>
      </p:sp>
      <p:sp>
        <p:nvSpPr>
          <p:cNvPr id="12" name="text-318"/>
          <p:cNvSpPr>
            <a:spLocks xmlns:a="http://schemas.openxmlformats.org/drawingml/2006/main" noGrp="1"/>
          </p:cNvSpPr>
          <p:nvPr/>
        </p:nvSpPr>
        <p:spPr>
          <a:xfrm xmlns:a="http://schemas.openxmlformats.org/drawingml/2006/main">
            <a:off x="609600" y="3533775"/>
            <a:ext cx="18097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Clase B</a:t>
            </a:r>
          </a:p>
        </p:txBody>
      </p:sp>
      <p:sp>
        <p:nvSpPr>
          <p:cNvPr id="13" name="shape-319"/>
          <p:cNvSpPr>
            <a:spLocks xmlns:a="http://schemas.openxmlformats.org/drawingml/2006/main" noGrp="1"/>
          </p:cNvSpPr>
          <p:nvPr/>
        </p:nvSpPr>
        <p:spPr>
          <a:xfrm xmlns:a="http://schemas.openxmlformats.org/drawingml/2006/main">
            <a:off x="2524125" y="3590925"/>
            <a:ext cx="1336358" cy="209550"/>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14" name="text-320"/>
          <p:cNvSpPr>
            <a:spLocks xmlns:a="http://schemas.openxmlformats.org/drawingml/2006/main" noGrp="1"/>
          </p:cNvSpPr>
          <p:nvPr/>
        </p:nvSpPr>
        <p:spPr>
          <a:xfrm xmlns:a="http://schemas.openxmlformats.org/drawingml/2006/main">
            <a:off x="8858250" y="3533775"/>
            <a:ext cx="12382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23%</a:t>
            </a:r>
          </a:p>
        </p:txBody>
      </p:sp>
      <p:sp>
        <p:nvSpPr>
          <p:cNvPr id="15" name="text-321"/>
          <p:cNvSpPr>
            <a:spLocks xmlns:a="http://schemas.openxmlformats.org/drawingml/2006/main" noGrp="1"/>
          </p:cNvSpPr>
          <p:nvPr/>
        </p:nvSpPr>
        <p:spPr>
          <a:xfrm xmlns:a="http://schemas.openxmlformats.org/drawingml/2006/main">
            <a:off x="609600" y="4000500"/>
            <a:ext cx="18097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Clase C</a:t>
            </a:r>
          </a:p>
        </p:txBody>
      </p:sp>
      <p:sp>
        <p:nvSpPr>
          <p:cNvPr id="16" name="shape-322"/>
          <p:cNvSpPr>
            <a:spLocks xmlns:a="http://schemas.openxmlformats.org/drawingml/2006/main" noGrp="1"/>
          </p:cNvSpPr>
          <p:nvPr/>
        </p:nvSpPr>
        <p:spPr>
          <a:xfrm xmlns:a="http://schemas.openxmlformats.org/drawingml/2006/main">
            <a:off x="2524125" y="4057650"/>
            <a:ext cx="581025" cy="209550"/>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17" name="text-323"/>
          <p:cNvSpPr>
            <a:spLocks xmlns:a="http://schemas.openxmlformats.org/drawingml/2006/main" noGrp="1"/>
          </p:cNvSpPr>
          <p:nvPr/>
        </p:nvSpPr>
        <p:spPr>
          <a:xfrm xmlns:a="http://schemas.openxmlformats.org/drawingml/2006/main">
            <a:off x="8858250" y="4000500"/>
            <a:ext cx="12382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10%</a:t>
            </a:r>
          </a:p>
        </p:txBody>
      </p:sp>
      <p:sp>
        <p:nvSpPr>
          <p:cNvPr id="18" name="text-324"/>
          <p:cNvSpPr>
            <a:spLocks xmlns:a="http://schemas.openxmlformats.org/drawingml/2006/main" noGrp="1"/>
          </p:cNvSpPr>
          <p:nvPr/>
        </p:nvSpPr>
        <p:spPr>
          <a:xfrm xmlns:a="http://schemas.openxmlformats.org/drawingml/2006/main">
            <a:off x="609600" y="4467225"/>
            <a:ext cx="18097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Clase D</a:t>
            </a:r>
          </a:p>
        </p:txBody>
      </p:sp>
      <p:sp>
        <p:nvSpPr>
          <p:cNvPr id="19" name="shape-325"/>
          <p:cNvSpPr>
            <a:spLocks xmlns:a="http://schemas.openxmlformats.org/drawingml/2006/main" noGrp="1"/>
          </p:cNvSpPr>
          <p:nvPr/>
        </p:nvSpPr>
        <p:spPr>
          <a:xfrm xmlns:a="http://schemas.openxmlformats.org/drawingml/2006/main">
            <a:off x="2524125" y="4524375"/>
            <a:ext cx="464820" cy="209550"/>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20" name="text-326"/>
          <p:cNvSpPr>
            <a:spLocks xmlns:a="http://schemas.openxmlformats.org/drawingml/2006/main" noGrp="1"/>
          </p:cNvSpPr>
          <p:nvPr/>
        </p:nvSpPr>
        <p:spPr>
          <a:xfrm xmlns:a="http://schemas.openxmlformats.org/drawingml/2006/main">
            <a:off x="8858250" y="4467225"/>
            <a:ext cx="12382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8%</a:t>
            </a:r>
          </a:p>
        </p:txBody>
      </p:sp>
      <p:sp>
        <p:nvSpPr>
          <p:cNvPr id="21" name="text-327"/>
          <p:cNvSpPr>
            <a:spLocks xmlns:a="http://schemas.openxmlformats.org/drawingml/2006/main" noGrp="1"/>
          </p:cNvSpPr>
          <p:nvPr/>
        </p:nvSpPr>
        <p:spPr>
          <a:xfrm xmlns:a="http://schemas.openxmlformats.org/drawingml/2006/main">
            <a:off x="609600" y="4933950"/>
            <a:ext cx="18097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FFFFFF"/>
                </a:solidFill>
                <a:latin typeface="Poppins"/>
                <a:ea typeface="Poppins"/>
                <a:cs typeface="Poppins"/>
              </a:defRPr>
            </a:pPr>
            <a:r>
              <a:rPr sz="1725" b="0">
                <a:solidFill>
                  <a:srgbClr val="FFFFFF"/>
                </a:solidFill>
                <a:latin typeface="Poppins"/>
                <a:ea typeface="Poppins"/>
                <a:cs typeface="Poppins"/>
              </a:rPr>
              <a:t>Clase E</a:t>
            </a:r>
          </a:p>
        </p:txBody>
      </p:sp>
      <p:sp>
        <p:nvSpPr>
          <p:cNvPr id="22" name="shape-328"/>
          <p:cNvSpPr>
            <a:spLocks xmlns:a="http://schemas.openxmlformats.org/drawingml/2006/main" noGrp="1"/>
          </p:cNvSpPr>
          <p:nvPr/>
        </p:nvSpPr>
        <p:spPr>
          <a:xfrm xmlns:a="http://schemas.openxmlformats.org/drawingml/2006/main">
            <a:off x="2524125" y="4991100"/>
            <a:ext cx="232410" cy="209550"/>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23" name="text-329"/>
          <p:cNvSpPr>
            <a:spLocks xmlns:a="http://schemas.openxmlformats.org/drawingml/2006/main" noGrp="1"/>
          </p:cNvSpPr>
          <p:nvPr/>
        </p:nvSpPr>
        <p:spPr>
          <a:xfrm xmlns:a="http://schemas.openxmlformats.org/drawingml/2006/main">
            <a:off x="8858250" y="4933950"/>
            <a:ext cx="12382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4%</a:t>
            </a:r>
          </a:p>
        </p:txBody>
      </p:sp>
      <p:sp>
        <p:nvSpPr>
          <p:cNvPr id="24" name="text-330"/>
          <p:cNvSpPr>
            <a:spLocks xmlns:a="http://schemas.openxmlformats.org/drawingml/2006/main" noGrp="1"/>
          </p:cNvSpPr>
          <p:nvPr/>
        </p:nvSpPr>
        <p:spPr>
          <a:xfrm xmlns:a="http://schemas.openxmlformats.org/drawingml/2006/main">
            <a:off x="609600" y="5600700"/>
            <a:ext cx="10477500" cy="3619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Datos didácticos. El top 5 no incluye todas las clases.</a:t>
            </a:r>
          </a:p>
        </p:txBody>
      </p:sp>
      <p:sp>
        <p:nvSpPr>
          <p:cNvPr id="25"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10</a:t>
            </a:r>
          </a:p>
        </p:txBody>
      </p:sp>
    </p:spTree>
  </p:cSld>
</p:sld>
</file>

<file path=ppt/slides/slide11.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4" name=""/>
        <p:cNvGrpSpPr/>
        <p:nvPr/>
      </p:nvGrpSpPr>
      <p:grpSpPr>
        <a:xfrm xmlns:a="http://schemas.openxmlformats.org/drawingml/2006/main">
          <a:off x="0" y="0"/>
          <a:ext cx="0" cy="0"/>
          <a:chOff x="0" y="0"/>
          <a:chExt cx="0" cy="0"/>
        </a:xfrm>
      </p:grpSpPr>
      <p:sp>
        <p:nvSpPr>
          <p:cNvPr id="1" name="shape-331"/>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32"/>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PESOS PREENTRENADOS</a:t>
            </a:r>
          </a:p>
        </p:txBody>
      </p:sp>
      <p:sp>
        <p:nvSpPr>
          <p:cNvPr id="3" name="text-333"/>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Descargamos lo aprendido; hacemos inferencia</a:t>
            </a:r>
          </a:p>
        </p:txBody>
      </p:sp>
      <p:sp>
        <p:nvSpPr>
          <p:cNvPr id="4" name="shape-334"/>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335"/>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337"/>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huggingface.co/google/vit-base-patch16-224</a:t>
            </a:r>
          </a:p>
        </p:txBody>
      </p:sp>
      <p:sp>
        <p:nvSpPr>
          <p:cNvPr id="8" name="text-338"/>
          <p:cNvSpPr>
            <a:spLocks xmlns:a="http://schemas.openxmlformats.org/drawingml/2006/main" noGrp="1"/>
          </p:cNvSpPr>
          <p:nvPr/>
        </p:nvSpPr>
        <p:spPr>
          <a:xfrm xmlns:a="http://schemas.openxmlformats.org/drawingml/2006/main">
            <a:off x="609600" y="2076450"/>
            <a:ext cx="52387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2DD5B5"/>
                </a:solidFill>
                <a:latin typeface="Poppins"/>
                <a:ea typeface="Poppins"/>
                <a:cs typeface="Poppins"/>
              </a:defRPr>
            </a:pPr>
            <a:r>
              <a:rPr sz="1875" b="1">
                <a:solidFill>
                  <a:srgbClr val="2DD5B5"/>
                </a:solidFill>
                <a:latin typeface="Poppins"/>
                <a:ea typeface="Poppins"/>
                <a:cs typeface="Poppins"/>
              </a:rPr>
              <a:t>ANTES · ENTRENAMIENTO</a:t>
            </a:r>
          </a:p>
        </p:txBody>
      </p:sp>
      <p:sp>
        <p:nvSpPr>
          <p:cNvPr id="9" name="text-339"/>
          <p:cNvSpPr>
            <a:spLocks xmlns:a="http://schemas.openxmlformats.org/drawingml/2006/main" noGrp="1"/>
          </p:cNvSpPr>
          <p:nvPr/>
        </p:nvSpPr>
        <p:spPr>
          <a:xfrm xmlns:a="http://schemas.openxmlformats.org/drawingml/2006/main">
            <a:off x="6515100" y="2076450"/>
            <a:ext cx="5048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BFA0FF"/>
                </a:solidFill>
                <a:latin typeface="Poppins"/>
                <a:ea typeface="Poppins"/>
                <a:cs typeface="Poppins"/>
              </a:defRPr>
            </a:pPr>
            <a:r>
              <a:rPr sz="1875" b="1">
                <a:solidFill>
                  <a:srgbClr val="BFA0FF"/>
                </a:solidFill>
                <a:latin typeface="Poppins"/>
                <a:ea typeface="Poppins"/>
                <a:cs typeface="Poppins"/>
              </a:rPr>
              <a:t>AHORA · NUESTRA CLASE</a:t>
            </a:r>
          </a:p>
        </p:txBody>
      </p:sp>
      <p:sp>
        <p:nvSpPr>
          <p:cNvPr id="10" name="text-340"/>
          <p:cNvSpPr>
            <a:spLocks xmlns:a="http://schemas.openxmlformats.org/drawingml/2006/main" noGrp="1"/>
          </p:cNvSpPr>
          <p:nvPr/>
        </p:nvSpPr>
        <p:spPr>
          <a:xfrm xmlns:a="http://schemas.openxmlformats.org/drawingml/2006/main">
            <a:off x="609600" y="2857500"/>
            <a:ext cx="5238750" cy="2447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Imágenes + objetivos de aprendizaje</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Ajuste de millones de parámetros</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Resultado: pesos del modelo</a:t>
            </a:r>
          </a:p>
        </p:txBody>
      </p:sp>
      <p:sp>
        <p:nvSpPr>
          <p:cNvPr id="11" name="text-341"/>
          <p:cNvSpPr>
            <a:spLocks xmlns:a="http://schemas.openxmlformats.org/drawingml/2006/main" noGrp="1"/>
          </p:cNvSpPr>
          <p:nvPr/>
        </p:nvSpPr>
        <p:spPr>
          <a:xfrm xmlns:a="http://schemas.openxmlformats.org/drawingml/2006/main">
            <a:off x="6515100" y="2857500"/>
            <a:ext cx="5048250" cy="2447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Descargar pesos y preprocesador</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Enviar una imagen nueva</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Usar la respuesta en OF</a:t>
            </a:r>
          </a:p>
        </p:txBody>
      </p:sp>
      <p:sp>
        <p:nvSpPr>
          <p:cNvPr id="12" name="text-342"/>
          <p:cNvSpPr>
            <a:spLocks xmlns:a="http://schemas.openxmlformats.org/drawingml/2006/main" noGrp="1"/>
          </p:cNvSpPr>
          <p:nvPr/>
        </p:nvSpPr>
        <p:spPr>
          <a:xfrm xmlns:a="http://schemas.openxmlformats.org/drawingml/2006/main">
            <a:off x="609600" y="5600700"/>
            <a:ext cx="10953750" cy="4953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No entrenamos ViT ni Qwen durante esta práctica.</a:t>
            </a:r>
          </a:p>
        </p:txBody>
      </p:sp>
      <p:sp>
        <p:nvSpPr>
          <p:cNvPr id="13"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11</a:t>
            </a:r>
          </a:p>
        </p:txBody>
      </p:sp>
    </p:spTree>
  </p:cSld>
</p:sld>
</file>

<file path=ppt/slides/slide12.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1" name=""/>
        <p:cNvGrpSpPr/>
        <p:nvPr/>
      </p:nvGrpSpPr>
      <p:grpSpPr>
        <a:xfrm xmlns:a="http://schemas.openxmlformats.org/drawingml/2006/main">
          <a:off x="0" y="0"/>
          <a:ext cx="0" cy="0"/>
          <a:chOff x="0" y="0"/>
          <a:chExt cx="0" cy="0"/>
        </a:xfrm>
      </p:grpSpPr>
      <p:sp>
        <p:nvSpPr>
          <p:cNvPr id="1" name="shape-343"/>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44"/>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EJEMPLO 01 · visionViT</a:t>
            </a:r>
          </a:p>
        </p:txBody>
      </p:sp>
      <p:sp>
        <p:nvSpPr>
          <p:cNvPr id="3" name="text-345"/>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Una captura produce categorías, no coordenadas</a:t>
            </a:r>
          </a:p>
        </p:txBody>
      </p:sp>
      <p:sp>
        <p:nvSpPr>
          <p:cNvPr id="4" name="shape-346"/>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347"/>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pic>
        <p:nvPicPr>
          <p:cNvPr id="6" name="image-349"/>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1339308" y="1943100"/>
            <a:ext cx="6408234" cy="4105275"/>
          </a:xfrm>
          <a:prstGeom xmlns:a="http://schemas.openxmlformats.org/drawingml/2006/main" prst="rect">
            <a:avLst/>
          </a:prstGeom>
        </p:spPr>
      </p:pic>
      <p:sp>
        <p:nvSpPr>
          <p:cNvPr id="8" name="text-350"/>
          <p:cNvSpPr>
            <a:spLocks xmlns:a="http://schemas.openxmlformats.org/drawingml/2006/main" noGrp="1"/>
          </p:cNvSpPr>
          <p:nvPr/>
        </p:nvSpPr>
        <p:spPr>
          <a:xfrm xmlns:a="http://schemas.openxmlformats.org/drawingml/2006/main">
            <a:off x="609600" y="6086475"/>
            <a:ext cx="8096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75" b="0">
                <a:solidFill>
                  <a:srgbClr val="D0C9DB"/>
                </a:solidFill>
                <a:latin typeface="Poppins"/>
                <a:ea typeface="Poppins"/>
                <a:cs typeface="Poppins"/>
              </a:defRPr>
            </a:pPr>
            <a:r>
              <a:rPr sz="975" b="0">
                <a:solidFill>
                  <a:srgbClr val="D0C9DB"/>
                </a:solidFill>
                <a:latin typeface="Poppins"/>
                <a:ea typeface="Poppins"/>
                <a:cs typeface="Poppins"/>
              </a:rPr>
              <a:t>Interfaz real · datos grabados didácticos, sin inferencia</a:t>
            </a:r>
          </a:p>
        </p:txBody>
      </p:sp>
      <p:sp>
        <p:nvSpPr>
          <p:cNvPr id="9" name="text-351"/>
          <p:cNvSpPr>
            <a:spLocks xmlns:a="http://schemas.openxmlformats.org/drawingml/2006/main" noGrp="1"/>
          </p:cNvSpPr>
          <p:nvPr/>
        </p:nvSpPr>
        <p:spPr>
          <a:xfrm xmlns:a="http://schemas.openxmlformats.org/drawingml/2006/main">
            <a:off x="8791575" y="2124075"/>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01</a:t>
            </a:r>
          </a:p>
        </p:txBody>
      </p:sp>
      <p:sp>
        <p:nvSpPr>
          <p:cNvPr id="10" name="text-352"/>
          <p:cNvSpPr>
            <a:spLocks xmlns:a="http://schemas.openxmlformats.org/drawingml/2006/main" noGrp="1"/>
          </p:cNvSpPr>
          <p:nvPr/>
        </p:nvSpPr>
        <p:spPr>
          <a:xfrm xmlns:a="http://schemas.openxmlformats.org/drawingml/2006/main">
            <a:off x="9305925" y="2095500"/>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O / arrastrar: foto</a:t>
            </a:r>
          </a:p>
        </p:txBody>
      </p:sp>
      <p:sp>
        <p:nvSpPr>
          <p:cNvPr id="11" name="text-353"/>
          <p:cNvSpPr>
            <a:spLocks xmlns:a="http://schemas.openxmlformats.org/drawingml/2006/main" noGrp="1"/>
          </p:cNvSpPr>
          <p:nvPr/>
        </p:nvSpPr>
        <p:spPr>
          <a:xfrm xmlns:a="http://schemas.openxmlformats.org/drawingml/2006/main">
            <a:off x="8791575" y="2857500"/>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02</a:t>
            </a:r>
          </a:p>
        </p:txBody>
      </p:sp>
      <p:sp>
        <p:nvSpPr>
          <p:cNvPr id="12" name="text-354"/>
          <p:cNvSpPr>
            <a:spLocks xmlns:a="http://schemas.openxmlformats.org/drawingml/2006/main" noGrp="1"/>
          </p:cNvSpPr>
          <p:nvPr/>
        </p:nvSpPr>
        <p:spPr>
          <a:xfrm xmlns:a="http://schemas.openxmlformats.org/drawingml/2006/main">
            <a:off x="9305925" y="2828925"/>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C: activar webcam</a:t>
            </a:r>
          </a:p>
        </p:txBody>
      </p:sp>
      <p:sp>
        <p:nvSpPr>
          <p:cNvPr id="13" name="text-355"/>
          <p:cNvSpPr>
            <a:spLocks xmlns:a="http://schemas.openxmlformats.org/drawingml/2006/main" noGrp="1"/>
          </p:cNvSpPr>
          <p:nvPr/>
        </p:nvSpPr>
        <p:spPr>
          <a:xfrm xmlns:a="http://schemas.openxmlformats.org/drawingml/2006/main">
            <a:off x="8791575" y="3590925"/>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03</a:t>
            </a:r>
          </a:p>
        </p:txBody>
      </p:sp>
      <p:sp>
        <p:nvSpPr>
          <p:cNvPr id="14" name="text-356"/>
          <p:cNvSpPr>
            <a:spLocks xmlns:a="http://schemas.openxmlformats.org/drawingml/2006/main" noGrp="1"/>
          </p:cNvSpPr>
          <p:nvPr/>
        </p:nvSpPr>
        <p:spPr>
          <a:xfrm xmlns:a="http://schemas.openxmlformats.org/drawingml/2006/main">
            <a:off x="9305925" y="3562350"/>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Enter: capturar y analizar</a:t>
            </a:r>
          </a:p>
        </p:txBody>
      </p:sp>
      <p:sp>
        <p:nvSpPr>
          <p:cNvPr id="15" name="text-357"/>
          <p:cNvSpPr>
            <a:spLocks xmlns:a="http://schemas.openxmlformats.org/drawingml/2006/main" noGrp="1"/>
          </p:cNvSpPr>
          <p:nvPr/>
        </p:nvSpPr>
        <p:spPr>
          <a:xfrm xmlns:a="http://schemas.openxmlformats.org/drawingml/2006/main">
            <a:off x="8791575" y="4324350"/>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04</a:t>
            </a:r>
          </a:p>
        </p:txBody>
      </p:sp>
      <p:sp>
        <p:nvSpPr>
          <p:cNvPr id="16" name="text-358"/>
          <p:cNvSpPr>
            <a:spLocks xmlns:a="http://schemas.openxmlformats.org/drawingml/2006/main" noGrp="1"/>
          </p:cNvSpPr>
          <p:nvPr/>
        </p:nvSpPr>
        <p:spPr>
          <a:xfrm xmlns:a="http://schemas.openxmlformats.org/drawingml/2006/main">
            <a:off x="9305925" y="4295775"/>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P: mostrar parches</a:t>
            </a:r>
          </a:p>
        </p:txBody>
      </p:sp>
      <p:sp>
        <p:nvSpPr>
          <p:cNvPr id="17" name="text-359"/>
          <p:cNvSpPr>
            <a:spLocks xmlns:a="http://schemas.openxmlformats.org/drawingml/2006/main" noGrp="1"/>
          </p:cNvSpPr>
          <p:nvPr/>
        </p:nvSpPr>
        <p:spPr>
          <a:xfrm xmlns:a="http://schemas.openxmlformats.org/drawingml/2006/main">
            <a:off x="8791575" y="5057775"/>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05</a:t>
            </a:r>
          </a:p>
        </p:txBody>
      </p:sp>
      <p:sp>
        <p:nvSpPr>
          <p:cNvPr id="18" name="text-360"/>
          <p:cNvSpPr>
            <a:spLocks xmlns:a="http://schemas.openxmlformats.org/drawingml/2006/main" noGrp="1"/>
          </p:cNvSpPr>
          <p:nvPr/>
        </p:nvSpPr>
        <p:spPr>
          <a:xfrm xmlns:a="http://schemas.openxmlformats.org/drawingml/2006/main">
            <a:off x="9305925" y="5029200"/>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Top 5: comparar scores</a:t>
            </a:r>
          </a:p>
        </p:txBody>
      </p:sp>
      <p:sp>
        <p:nvSpPr>
          <p:cNvPr id="20"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12</a:t>
            </a:r>
          </a:p>
        </p:txBody>
      </p:sp>
    </p:spTree>
  </p:cSld>
</p:sld>
</file>

<file path=ppt/slides/slide13.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8" name=""/>
        <p:cNvGrpSpPr/>
        <p:nvPr/>
      </p:nvGrpSpPr>
      <p:grpSpPr>
        <a:xfrm xmlns:a="http://schemas.openxmlformats.org/drawingml/2006/main">
          <a:off x="0" y="0"/>
          <a:ext cx="0" cy="0"/>
          <a:chOff x="0" y="0"/>
          <a:chExt cx="0" cy="0"/>
        </a:xfrm>
      </p:grpSpPr>
      <p:sp>
        <p:nvSpPr>
          <p:cNvPr id="1" name="shape-361"/>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62"/>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MIRADA CRÍTICA</a:t>
            </a:r>
          </a:p>
        </p:txBody>
      </p:sp>
      <p:sp>
        <p:nvSpPr>
          <p:cNvPr id="3" name="text-363"/>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El encuadre también modifica la respuesta</a:t>
            </a:r>
          </a:p>
        </p:txBody>
      </p:sp>
      <p:sp>
        <p:nvSpPr>
          <p:cNvPr id="4" name="shape-364"/>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365"/>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367"/>
          <p:cNvSpPr>
            <a:spLocks xmlns:a="http://schemas.openxmlformats.org/drawingml/2006/main" noGrp="1"/>
          </p:cNvSpPr>
          <p:nvPr/>
        </p:nvSpPr>
        <p:spPr>
          <a:xfrm xmlns:a="http://schemas.openxmlformats.org/drawingml/2006/main">
            <a:off x="609600" y="2143125"/>
            <a:ext cx="3333750" cy="952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5550" b="1">
                <a:solidFill>
                  <a:srgbClr val="2DD5B5"/>
                </a:solidFill>
                <a:latin typeface="Poppins"/>
                <a:ea typeface="Poppins"/>
                <a:cs typeface="Poppins"/>
              </a:defRPr>
            </a:pPr>
            <a:r>
              <a:rPr sz="5550" b="1">
                <a:solidFill>
                  <a:srgbClr val="2DD5B5"/>
                </a:solidFill>
                <a:latin typeface="Poppins"/>
                <a:ea typeface="Poppins"/>
                <a:cs typeface="Poppins"/>
              </a:rPr>
              <a:t>01</a:t>
            </a:r>
          </a:p>
        </p:txBody>
      </p:sp>
      <p:sp>
        <p:nvSpPr>
          <p:cNvPr id="8" name="text-368"/>
          <p:cNvSpPr>
            <a:spLocks xmlns:a="http://schemas.openxmlformats.org/drawingml/2006/main" noGrp="1"/>
          </p:cNvSpPr>
          <p:nvPr/>
        </p:nvSpPr>
        <p:spPr>
          <a:xfrm xmlns:a="http://schemas.openxmlformats.org/drawingml/2006/main">
            <a:off x="609600" y="3314700"/>
            <a:ext cx="3381375"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250" b="1">
                <a:solidFill>
                  <a:srgbClr val="FFFFFF"/>
                </a:solidFill>
                <a:latin typeface="Poppins"/>
                <a:ea typeface="Poppins"/>
                <a:cs typeface="Poppins"/>
              </a:defRPr>
            </a:pPr>
            <a:r>
              <a:rPr sz="2250" b="1">
                <a:solidFill>
                  <a:srgbClr val="FFFFFF"/>
                </a:solidFill>
                <a:latin typeface="Poppins"/>
                <a:ea typeface="Poppins"/>
                <a:cs typeface="Poppins"/>
              </a:rPr>
              <a:t>Mismo objeto</a:t>
            </a:r>
          </a:p>
        </p:txBody>
      </p:sp>
      <p:sp>
        <p:nvSpPr>
          <p:cNvPr id="9" name="text-369"/>
          <p:cNvSpPr>
            <a:spLocks xmlns:a="http://schemas.openxmlformats.org/drawingml/2006/main" noGrp="1"/>
          </p:cNvSpPr>
          <p:nvPr/>
        </p:nvSpPr>
        <p:spPr>
          <a:xfrm xmlns:a="http://schemas.openxmlformats.org/drawingml/2006/main">
            <a:off x="609600" y="4143375"/>
            <a:ext cx="3381375" cy="857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Fotografiar un objeto.</a:t>
            </a:r>
          </a:p>
        </p:txBody>
      </p:sp>
      <p:sp>
        <p:nvSpPr>
          <p:cNvPr id="10" name="text-370"/>
          <p:cNvSpPr>
            <a:spLocks xmlns:a="http://schemas.openxmlformats.org/drawingml/2006/main" noGrp="1"/>
          </p:cNvSpPr>
          <p:nvPr/>
        </p:nvSpPr>
        <p:spPr>
          <a:xfrm xmlns:a="http://schemas.openxmlformats.org/drawingml/2006/main">
            <a:off x="4391025" y="2143125"/>
            <a:ext cx="3333750" cy="952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5550" b="1">
                <a:solidFill>
                  <a:srgbClr val="BFA0FF"/>
                </a:solidFill>
                <a:latin typeface="Poppins"/>
                <a:ea typeface="Poppins"/>
                <a:cs typeface="Poppins"/>
              </a:defRPr>
            </a:pPr>
            <a:r>
              <a:rPr sz="5550" b="1">
                <a:solidFill>
                  <a:srgbClr val="BFA0FF"/>
                </a:solidFill>
                <a:latin typeface="Poppins"/>
                <a:ea typeface="Poppins"/>
                <a:cs typeface="Poppins"/>
              </a:rPr>
              <a:t>02</a:t>
            </a:r>
          </a:p>
        </p:txBody>
      </p:sp>
      <p:sp>
        <p:nvSpPr>
          <p:cNvPr id="11" name="text-371"/>
          <p:cNvSpPr>
            <a:spLocks xmlns:a="http://schemas.openxmlformats.org/drawingml/2006/main" noGrp="1"/>
          </p:cNvSpPr>
          <p:nvPr/>
        </p:nvSpPr>
        <p:spPr>
          <a:xfrm xmlns:a="http://schemas.openxmlformats.org/drawingml/2006/main">
            <a:off x="4391025" y="3314700"/>
            <a:ext cx="3381375"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250" b="1">
                <a:solidFill>
                  <a:srgbClr val="FFFFFF"/>
                </a:solidFill>
                <a:latin typeface="Poppins"/>
                <a:ea typeface="Poppins"/>
                <a:cs typeface="Poppins"/>
              </a:defRPr>
            </a:pPr>
            <a:r>
              <a:rPr sz="2250" b="1">
                <a:solidFill>
                  <a:srgbClr val="FFFFFF"/>
                </a:solidFill>
                <a:latin typeface="Poppins"/>
                <a:ea typeface="Poppins"/>
                <a:cs typeface="Poppins"/>
              </a:rPr>
              <a:t>Otro fondo</a:t>
            </a:r>
          </a:p>
        </p:txBody>
      </p:sp>
      <p:sp>
        <p:nvSpPr>
          <p:cNvPr id="12" name="text-372"/>
          <p:cNvSpPr>
            <a:spLocks xmlns:a="http://schemas.openxmlformats.org/drawingml/2006/main" noGrp="1"/>
          </p:cNvSpPr>
          <p:nvPr/>
        </p:nvSpPr>
        <p:spPr>
          <a:xfrm xmlns:a="http://schemas.openxmlformats.org/drawingml/2006/main">
            <a:off x="4391025" y="4143375"/>
            <a:ext cx="3381375" cy="857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Mantener el objeto.</a:t>
            </a:r>
          </a:p>
        </p:txBody>
      </p:sp>
      <p:sp>
        <p:nvSpPr>
          <p:cNvPr id="13" name="text-373"/>
          <p:cNvSpPr>
            <a:spLocks xmlns:a="http://schemas.openxmlformats.org/drawingml/2006/main" noGrp="1"/>
          </p:cNvSpPr>
          <p:nvPr/>
        </p:nvSpPr>
        <p:spPr>
          <a:xfrm xmlns:a="http://schemas.openxmlformats.org/drawingml/2006/main">
            <a:off x="8172450" y="2143125"/>
            <a:ext cx="3333750" cy="952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5550" b="1">
                <a:solidFill>
                  <a:srgbClr val="2DD5B5"/>
                </a:solidFill>
                <a:latin typeface="Poppins"/>
                <a:ea typeface="Poppins"/>
                <a:cs typeface="Poppins"/>
              </a:defRPr>
            </a:pPr>
            <a:r>
              <a:rPr sz="5550" b="1">
                <a:solidFill>
                  <a:srgbClr val="2DD5B5"/>
                </a:solidFill>
                <a:latin typeface="Poppins"/>
                <a:ea typeface="Poppins"/>
                <a:cs typeface="Poppins"/>
              </a:rPr>
              <a:t>03</a:t>
            </a:r>
          </a:p>
        </p:txBody>
      </p:sp>
      <p:sp>
        <p:nvSpPr>
          <p:cNvPr id="14" name="text-374"/>
          <p:cNvSpPr>
            <a:spLocks xmlns:a="http://schemas.openxmlformats.org/drawingml/2006/main" noGrp="1"/>
          </p:cNvSpPr>
          <p:nvPr/>
        </p:nvSpPr>
        <p:spPr>
          <a:xfrm xmlns:a="http://schemas.openxmlformats.org/drawingml/2006/main">
            <a:off x="8172450" y="3314700"/>
            <a:ext cx="3381375"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250" b="1">
                <a:solidFill>
                  <a:srgbClr val="FFFFFF"/>
                </a:solidFill>
                <a:latin typeface="Poppins"/>
                <a:ea typeface="Poppins"/>
                <a:cs typeface="Poppins"/>
              </a:defRPr>
            </a:pPr>
            <a:r>
              <a:rPr sz="2250" b="1">
                <a:solidFill>
                  <a:srgbClr val="FFFFFF"/>
                </a:solidFill>
                <a:latin typeface="Poppins"/>
                <a:ea typeface="Poppins"/>
                <a:cs typeface="Poppins"/>
              </a:rPr>
              <a:t>Otro encuadre</a:t>
            </a:r>
          </a:p>
        </p:txBody>
      </p:sp>
      <p:sp>
        <p:nvSpPr>
          <p:cNvPr id="15" name="text-375"/>
          <p:cNvSpPr>
            <a:spLocks xmlns:a="http://schemas.openxmlformats.org/drawingml/2006/main" noGrp="1"/>
          </p:cNvSpPr>
          <p:nvPr/>
        </p:nvSpPr>
        <p:spPr>
          <a:xfrm xmlns:a="http://schemas.openxmlformats.org/drawingml/2006/main">
            <a:off x="8172450" y="4143375"/>
            <a:ext cx="3381375" cy="857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Cambiar distancia y recorte.</a:t>
            </a:r>
          </a:p>
        </p:txBody>
      </p:sp>
      <p:sp>
        <p:nvSpPr>
          <p:cNvPr id="16" name="text-376"/>
          <p:cNvSpPr>
            <a:spLocks xmlns:a="http://schemas.openxmlformats.org/drawingml/2006/main" noGrp="1"/>
          </p:cNvSpPr>
          <p:nvPr/>
        </p:nvSpPr>
        <p:spPr>
          <a:xfrm xmlns:a="http://schemas.openxmlformats.org/drawingml/2006/main">
            <a:off x="609600" y="5495925"/>
            <a:ext cx="1095375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BFA0FF"/>
                </a:solidFill>
                <a:latin typeface="Poppins"/>
                <a:ea typeface="Poppins"/>
                <a:cs typeface="Poppins"/>
              </a:defRPr>
            </a:pPr>
            <a:r>
              <a:rPr sz="1875" b="1">
                <a:solidFill>
                  <a:srgbClr val="BFA0FF"/>
                </a:solidFill>
                <a:latin typeface="Poppins"/>
                <a:ea typeface="Poppins"/>
                <a:cs typeface="Poppins"/>
              </a:rPr>
              <a:t>¿Cambió el objeto o cambiaron las pistas que usa el modelo?</a:t>
            </a:r>
          </a:p>
        </p:txBody>
      </p:sp>
      <p:sp>
        <p:nvSpPr>
          <p:cNvPr id="17"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13</a:t>
            </a:r>
          </a:p>
        </p:txBody>
      </p:sp>
    </p:spTree>
  </p:cSld>
</p:sld>
</file>

<file path=ppt/slides/slide14.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3" name=""/>
        <p:cNvGrpSpPr/>
        <p:nvPr/>
      </p:nvGrpSpPr>
      <p:grpSpPr>
        <a:xfrm xmlns:a="http://schemas.openxmlformats.org/drawingml/2006/main">
          <a:off x="0" y="0"/>
          <a:ext cx="0" cy="0"/>
          <a:chOff x="0" y="0"/>
          <a:chExt cx="0" cy="0"/>
        </a:xfrm>
      </p:grpSpPr>
      <p:sp>
        <p:nvSpPr>
          <p:cNvPr id="1" name="shape-377"/>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78"/>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VISIÓN + LENGUAJE</a:t>
            </a:r>
          </a:p>
        </p:txBody>
      </p:sp>
      <p:sp>
        <p:nvSpPr>
          <p:cNvPr id="3" name="text-379"/>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Un modelo multimodal combina imagen y pregunta</a:t>
            </a:r>
          </a:p>
        </p:txBody>
      </p:sp>
      <p:sp>
        <p:nvSpPr>
          <p:cNvPr id="4" name="shape-380"/>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381"/>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383"/>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Qwen/Qwen3-VL-2B-Instruct · ficha del modelo</a:t>
            </a:r>
          </a:p>
        </p:txBody>
      </p:sp>
      <p:sp>
        <p:nvSpPr>
          <p:cNvPr id="8" name="shape-384"/>
          <p:cNvSpPr>
            <a:spLocks xmlns:a="http://schemas.openxmlformats.org/drawingml/2006/main" noGrp="1"/>
          </p:cNvSpPr>
          <p:nvPr/>
        </p:nvSpPr>
        <p:spPr>
          <a:xfrm xmlns:a="http://schemas.openxmlformats.org/drawingml/2006/main">
            <a:off x="609600" y="2095500"/>
            <a:ext cx="2857500" cy="1143000"/>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9" name="text-385"/>
          <p:cNvSpPr>
            <a:spLocks xmlns:a="http://schemas.openxmlformats.org/drawingml/2006/main" noGrp="1"/>
          </p:cNvSpPr>
          <p:nvPr/>
        </p:nvSpPr>
        <p:spPr>
          <a:xfrm xmlns:a="http://schemas.openxmlformats.org/drawingml/2006/main">
            <a:off x="762000" y="2266950"/>
            <a:ext cx="2552700" cy="8001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Imagen</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 encoder visual</a:t>
            </a:r>
          </a:p>
        </p:txBody>
      </p:sp>
      <p:sp>
        <p:nvSpPr>
          <p:cNvPr id="10" name="shape-386"/>
          <p:cNvSpPr>
            <a:spLocks xmlns:a="http://schemas.openxmlformats.org/drawingml/2006/main" noGrp="1"/>
          </p:cNvSpPr>
          <p:nvPr/>
        </p:nvSpPr>
        <p:spPr>
          <a:xfrm xmlns:a="http://schemas.openxmlformats.org/drawingml/2006/main">
            <a:off x="609600" y="3943350"/>
            <a:ext cx="2857500" cy="1143000"/>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1" name="text-387"/>
          <p:cNvSpPr>
            <a:spLocks xmlns:a="http://schemas.openxmlformats.org/drawingml/2006/main" noGrp="1"/>
          </p:cNvSpPr>
          <p:nvPr/>
        </p:nvSpPr>
        <p:spPr>
          <a:xfrm xmlns:a="http://schemas.openxmlformats.org/drawingml/2006/main">
            <a:off x="762000" y="4114800"/>
            <a:ext cx="2552700" cy="8001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Pregunta</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 tokens de texto</a:t>
            </a:r>
          </a:p>
        </p:txBody>
      </p:sp>
      <p:sp>
        <p:nvSpPr>
          <p:cNvPr id="12" name="shape-388"/>
          <p:cNvSpPr>
            <a:spLocks xmlns:a="http://schemas.openxmlformats.org/drawingml/2006/main" noGrp="1"/>
          </p:cNvSpPr>
          <p:nvPr/>
        </p:nvSpPr>
        <p:spPr>
          <a:xfrm xmlns:a="http://schemas.openxmlformats.org/drawingml/2006/main">
            <a:off x="3467100" y="2657475"/>
            <a:ext cx="333375" cy="1905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3" name="shape-389"/>
          <p:cNvSpPr>
            <a:spLocks xmlns:a="http://schemas.openxmlformats.org/drawingml/2006/main" noGrp="1"/>
          </p:cNvSpPr>
          <p:nvPr/>
        </p:nvSpPr>
        <p:spPr>
          <a:xfrm xmlns:a="http://schemas.openxmlformats.org/drawingml/2006/main">
            <a:off x="3467100" y="4505325"/>
            <a:ext cx="333375" cy="1905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4" name="shape-390"/>
          <p:cNvSpPr>
            <a:spLocks xmlns:a="http://schemas.openxmlformats.org/drawingml/2006/main" noGrp="1"/>
          </p:cNvSpPr>
          <p:nvPr/>
        </p:nvSpPr>
        <p:spPr>
          <a:xfrm xmlns:a="http://schemas.openxmlformats.org/drawingml/2006/main">
            <a:off x="3781425" y="2657475"/>
            <a:ext cx="19050" cy="18669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5" name="shape-391"/>
          <p:cNvSpPr>
            <a:spLocks xmlns:a="http://schemas.openxmlformats.org/drawingml/2006/main" noGrp="1"/>
          </p:cNvSpPr>
          <p:nvPr/>
        </p:nvSpPr>
        <p:spPr>
          <a:xfrm xmlns:a="http://schemas.openxmlformats.org/drawingml/2006/main">
            <a:off x="3800475" y="3390900"/>
            <a:ext cx="75247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6" name="shape-392"/>
          <p:cNvSpPr>
            <a:spLocks xmlns:a="http://schemas.openxmlformats.org/drawingml/2006/main" noGrp="1"/>
          </p:cNvSpPr>
          <p:nvPr/>
        </p:nvSpPr>
        <p:spPr>
          <a:xfrm xmlns:a="http://schemas.openxmlformats.org/drawingml/2006/main">
            <a:off x="4552950" y="2876550"/>
            <a:ext cx="2905125" cy="1238250"/>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7" name="text-393"/>
          <p:cNvSpPr>
            <a:spLocks xmlns:a="http://schemas.openxmlformats.org/drawingml/2006/main" noGrp="1"/>
          </p:cNvSpPr>
          <p:nvPr/>
        </p:nvSpPr>
        <p:spPr>
          <a:xfrm xmlns:a="http://schemas.openxmlformats.org/drawingml/2006/main">
            <a:off x="4705350" y="3048000"/>
            <a:ext cx="2600325" cy="8953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Representaciones</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combinadas</a:t>
            </a:r>
          </a:p>
        </p:txBody>
      </p:sp>
      <p:sp>
        <p:nvSpPr>
          <p:cNvPr id="18" name="shape-394"/>
          <p:cNvSpPr>
            <a:spLocks xmlns:a="http://schemas.openxmlformats.org/drawingml/2006/main" noGrp="1"/>
          </p:cNvSpPr>
          <p:nvPr/>
        </p:nvSpPr>
        <p:spPr>
          <a:xfrm xmlns:a="http://schemas.openxmlformats.org/drawingml/2006/main">
            <a:off x="7458075" y="3371850"/>
            <a:ext cx="69532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9" name="shape-395"/>
          <p:cNvSpPr>
            <a:spLocks xmlns:a="http://schemas.openxmlformats.org/drawingml/2006/main" noGrp="1"/>
          </p:cNvSpPr>
          <p:nvPr/>
        </p:nvSpPr>
        <p:spPr>
          <a:xfrm xmlns:a="http://schemas.openxmlformats.org/drawingml/2006/main">
            <a:off x="8153400" y="2876550"/>
            <a:ext cx="3333750" cy="1238250"/>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20" name="text-396"/>
          <p:cNvSpPr>
            <a:spLocks xmlns:a="http://schemas.openxmlformats.org/drawingml/2006/main" noGrp="1"/>
          </p:cNvSpPr>
          <p:nvPr/>
        </p:nvSpPr>
        <p:spPr>
          <a:xfrm xmlns:a="http://schemas.openxmlformats.org/drawingml/2006/main">
            <a:off x="8305800" y="3048000"/>
            <a:ext cx="3028950" cy="8953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Modelo de lenguaje</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 respuesta</a:t>
            </a:r>
          </a:p>
        </p:txBody>
      </p:sp>
      <p:sp>
        <p:nvSpPr>
          <p:cNvPr id="21" name="text-397"/>
          <p:cNvSpPr>
            <a:spLocks xmlns:a="http://schemas.openxmlformats.org/drawingml/2006/main" noGrp="1"/>
          </p:cNvSpPr>
          <p:nvPr/>
        </p:nvSpPr>
        <p:spPr>
          <a:xfrm xmlns:a="http://schemas.openxmlformats.org/drawingml/2006/main">
            <a:off x="609600" y="5600700"/>
            <a:ext cx="10763250" cy="4476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BFA0FF"/>
                </a:solidFill>
                <a:latin typeface="Poppins"/>
                <a:ea typeface="Poppins"/>
                <a:cs typeface="Poppins"/>
              </a:defRPr>
            </a:pPr>
            <a:r>
              <a:rPr sz="2100" b="1">
                <a:solidFill>
                  <a:srgbClr val="BFA0FF"/>
                </a:solidFill>
                <a:latin typeface="Poppins"/>
                <a:ea typeface="Poppins"/>
                <a:cs typeface="Poppins"/>
              </a:rPr>
              <a:t>La pregunta modifica qué pedimos sobre la imagen.</a:t>
            </a:r>
          </a:p>
        </p:txBody>
      </p:sp>
      <p:sp>
        <p:nvSpPr>
          <p:cNvPr id="22"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14</a:t>
            </a:r>
          </a:p>
        </p:txBody>
      </p:sp>
    </p:spTree>
  </p:cSld>
</p:sld>
</file>

<file path=ppt/slides/slide15.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8" name=""/>
        <p:cNvGrpSpPr/>
        <p:nvPr/>
      </p:nvGrpSpPr>
      <p:grpSpPr>
        <a:xfrm xmlns:a="http://schemas.openxmlformats.org/drawingml/2006/main">
          <a:off x="0" y="0"/>
          <a:ext cx="0" cy="0"/>
          <a:chOff x="0" y="0"/>
          <a:chExt cx="0" cy="0"/>
        </a:xfrm>
      </p:grpSpPr>
      <p:sp>
        <p:nvSpPr>
          <p:cNvPr id="1" name="kicker-marker"/>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ln>
        </p:spPr>
      </p:sp>
      <p:sp>
        <p:nvSpPr>
          <p:cNvPr id="2" name="kicker-label"/>
          <p:cNvSpPr>
            <a:spLocks xmlns:a="http://schemas.openxmlformats.org/drawingml/2006/main" noGrp="1"/>
          </p:cNvSpPr>
          <p:nvPr/>
        </p:nvSpPr>
        <p:spPr>
          <a:xfrm xmlns:a="http://schemas.openxmlformats.org/drawingml/2006/main">
            <a:off x="714375" y="352425"/>
            <a:ext cx="1076325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125" b="1">
                <a:solidFill>
                  <a:srgbClr val="2DD5B5"/>
                </a:solidFill>
                <a:latin typeface="Poppins"/>
                <a:ea typeface="Poppins"/>
                <a:cs typeface="Poppins"/>
              </a:defRPr>
            </a:pPr>
            <a:r>
              <a:rPr sz="1125" b="1">
                <a:solidFill>
                  <a:srgbClr val="2DD5B5"/>
                </a:solidFill>
                <a:latin typeface="Poppins"/>
                <a:ea typeface="Poppins"/>
                <a:cs typeface="Poppins"/>
              </a:rPr>
              <a:t>DOS EJEMPLOS, DOS SALIDAS</a:t>
            </a:r>
          </a:p>
        </p:txBody>
      </p:sp>
      <p:sp>
        <p:nvSpPr>
          <p:cNvPr id="3" name=""/>
          <p:cNvSpPr>
            <a:spLocks xmlns:a="http://schemas.openxmlformats.org/drawingml/2006/main" noGrp="1"/>
          </p:cNvSpPr>
          <p:nvPr/>
        </p:nvSpPr>
        <p:spPr>
          <a:xfrm xmlns:a="http://schemas.openxmlformats.org/drawingml/2006/main">
            <a:off x="609600" y="866775"/>
            <a:ext cx="10953750" cy="590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2400" b="1">
                <a:solidFill>
                  <a:srgbClr val="FFFFFF"/>
                </a:solidFill>
                <a:latin typeface="Poppins"/>
                <a:ea typeface="Poppins"/>
                <a:cs typeface="Poppins"/>
              </a:defRPr>
            </a:pPr>
            <a:r>
              <a:rPr sz="2400" b="1">
                <a:solidFill>
                  <a:srgbClr val="FFFFFF"/>
                </a:solidFill>
                <a:latin typeface="Poppins"/>
                <a:ea typeface="Poppins"/>
                <a:cs typeface="Poppins"/>
              </a:rPr>
              <a:t>ViT y Qwen3-VL responden contratos diferentes</a:t>
            </a:r>
          </a:p>
        </p:txBody>
      </p:sp>
      <p:sp>
        <p:nvSpPr>
          <p:cNvPr id="4" name=""/>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EA2FF"/>
          </a:solidFill>
          <a:ln xmlns:a="http://schemas.openxmlformats.org/drawingml/2006/main" w="0">
            <a:noFill/>
          </a:ln>
        </p:spPr>
      </p:sp>
      <p:sp>
        <p:nvSpPr>
          <p:cNvPr id="5" name=""/>
          <p:cNvSpPr>
            <a:spLocks xmlns:a="http://schemas.openxmlformats.org/drawingml/2006/main" noGrp="1"/>
          </p:cNvSpPr>
          <p:nvPr/>
        </p:nvSpPr>
        <p:spPr>
          <a:xfrm xmlns:a="http://schemas.openxmlformats.org/drawingml/2006/main">
            <a:off x="609600" y="6162675"/>
            <a:ext cx="10763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Checkpoints: google/vit-base-patch16-224 · Qwen/Qwen3-VL-2B-Instruct</a:t>
            </a:r>
          </a:p>
        </p:txBody>
      </p:sp>
      <p:sp>
        <p:nvSpPr>
          <p:cNvPr id="6" name=""/>
          <p:cNvSpPr>
            <a:spLocks xmlns:a="http://schemas.openxmlformats.org/drawingml/2006/main" noGrp="1"/>
          </p:cNvSpPr>
          <p:nvPr/>
        </p:nvSpPr>
        <p:spPr>
          <a:xfrm xmlns:a="http://schemas.openxmlformats.org/drawingml/2006/main">
            <a:off x="609600" y="6457950"/>
            <a:ext cx="100012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900" b="0">
                <a:solidFill>
                  <a:srgbClr val="CBC5D8"/>
                </a:solidFill>
                <a:latin typeface="Poppins"/>
                <a:ea typeface="Poppins"/>
                <a:cs typeface="Poppins"/>
              </a:defRPr>
            </a:pPr>
            <a:r>
              <a:rPr sz="900" b="0">
                <a:solidFill>
                  <a:srgbClr val="CBC5D8"/>
                </a:solidFill>
                <a:latin typeface="Poppins"/>
                <a:ea typeface="Poppins"/>
                <a:cs typeface="Poppins"/>
              </a:rPr>
              <a:t>IA · Visión, transformers y openFrameworks  |  Informática Aplicada II · UNA</a:t>
            </a:r>
          </a:p>
        </p:txBody>
      </p:sp>
      <p:sp>
        <p:nvSpPr>
          <p:cNvPr id="7" name=""/>
          <p:cNvSpPr>
            <a:spLocks xmlns:a="http://schemas.openxmlformats.org/drawingml/2006/main" noGrp="1"/>
          </p:cNvSpPr>
          <p:nvPr/>
        </p:nvSpPr>
        <p:spPr>
          <a:xfrm xmlns:a="http://schemas.openxmlformats.org/drawingml/2006/main">
            <a:off x="609600" y="1924050"/>
            <a:ext cx="238125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200" b="1">
                <a:solidFill>
                  <a:srgbClr val="CBC5D8"/>
                </a:solidFill>
                <a:latin typeface="Poppins"/>
                <a:ea typeface="Poppins"/>
                <a:cs typeface="Poppins"/>
              </a:defRPr>
            </a:pPr>
            <a:r>
              <a:rPr sz="1200" b="1">
                <a:solidFill>
                  <a:srgbClr val="CBC5D8"/>
                </a:solidFill>
                <a:latin typeface="Poppins"/>
                <a:ea typeface="Poppins"/>
                <a:cs typeface="Poppins"/>
              </a:rPr>
              <a:t>EN ESTA CLASE</a:t>
            </a:r>
          </a:p>
        </p:txBody>
      </p:sp>
      <p:sp>
        <p:nvSpPr>
          <p:cNvPr id="8" name=""/>
          <p:cNvSpPr>
            <a:spLocks xmlns:a="http://schemas.openxmlformats.org/drawingml/2006/main" noGrp="1"/>
          </p:cNvSpPr>
          <p:nvPr/>
        </p:nvSpPr>
        <p:spPr>
          <a:xfrm xmlns:a="http://schemas.openxmlformats.org/drawingml/2006/main">
            <a:off x="3095625" y="1924050"/>
            <a:ext cx="4048125"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875" b="1">
                <a:solidFill>
                  <a:srgbClr val="2DD5B5"/>
                </a:solidFill>
                <a:latin typeface="Poppins"/>
                <a:ea typeface="Poppins"/>
                <a:cs typeface="Poppins"/>
              </a:defRPr>
            </a:pPr>
            <a:r>
              <a:rPr sz="1875" b="1">
                <a:solidFill>
                  <a:srgbClr val="2DD5B5"/>
                </a:solidFill>
                <a:latin typeface="Poppins"/>
                <a:ea typeface="Poppins"/>
                <a:cs typeface="Poppins"/>
              </a:rPr>
              <a:t>visionViT</a:t>
            </a:r>
          </a:p>
        </p:txBody>
      </p:sp>
      <p:sp>
        <p:nvSpPr>
          <p:cNvPr id="9" name=""/>
          <p:cNvSpPr>
            <a:spLocks xmlns:a="http://schemas.openxmlformats.org/drawingml/2006/main" noGrp="1"/>
          </p:cNvSpPr>
          <p:nvPr/>
        </p:nvSpPr>
        <p:spPr>
          <a:xfrm xmlns:a="http://schemas.openxmlformats.org/drawingml/2006/main">
            <a:off x="7362825" y="1924050"/>
            <a:ext cx="4191000" cy="3333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875" b="1">
                <a:solidFill>
                  <a:srgbClr val="BEA2FF"/>
                </a:solidFill>
                <a:latin typeface="Poppins"/>
                <a:ea typeface="Poppins"/>
                <a:cs typeface="Poppins"/>
              </a:defRPr>
            </a:pPr>
            <a:r>
              <a:rPr sz="1875" b="1">
                <a:solidFill>
                  <a:srgbClr val="BEA2FF"/>
                </a:solidFill>
                <a:latin typeface="Poppins"/>
                <a:ea typeface="Poppins"/>
                <a:cs typeface="Poppins"/>
              </a:rPr>
              <a:t>visionChat</a:t>
            </a:r>
          </a:p>
        </p:txBody>
      </p:sp>
      <p:sp>
        <p:nvSpPr>
          <p:cNvPr id="10" name=""/>
          <p:cNvSpPr>
            <a:spLocks xmlns:a="http://schemas.openxmlformats.org/drawingml/2006/main" noGrp="1"/>
          </p:cNvSpPr>
          <p:nvPr/>
        </p:nvSpPr>
        <p:spPr>
          <a:xfrm xmlns:a="http://schemas.openxmlformats.org/drawingml/2006/main">
            <a:off x="609600" y="2400300"/>
            <a:ext cx="10972800" cy="9525"/>
          </a:xfrm>
          <a:prstGeom xmlns:a="http://schemas.openxmlformats.org/drawingml/2006/main" prst="rect">
            <a:avLst/>
          </a:prstGeom>
          <a:solidFill xmlns:a="http://schemas.openxmlformats.org/drawingml/2006/main">
            <a:srgbClr val="76658E"/>
          </a:solidFill>
          <a:ln xmlns:a="http://schemas.openxmlformats.org/drawingml/2006/main" w="0">
            <a:noFill/>
          </a:ln>
        </p:spPr>
      </p:sp>
      <p:sp>
        <p:nvSpPr>
          <p:cNvPr id="11" name=""/>
          <p:cNvSpPr>
            <a:spLocks xmlns:a="http://schemas.openxmlformats.org/drawingml/2006/main" noGrp="1"/>
          </p:cNvSpPr>
          <p:nvPr/>
        </p:nvSpPr>
        <p:spPr>
          <a:xfrm xmlns:a="http://schemas.openxmlformats.org/drawingml/2006/main">
            <a:off x="609600" y="2495550"/>
            <a:ext cx="23336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Entrada</a:t>
            </a:r>
          </a:p>
        </p:txBody>
      </p:sp>
      <p:sp>
        <p:nvSpPr>
          <p:cNvPr id="12" name=""/>
          <p:cNvSpPr>
            <a:spLocks xmlns:a="http://schemas.openxmlformats.org/drawingml/2006/main" noGrp="1"/>
          </p:cNvSpPr>
          <p:nvPr/>
        </p:nvSpPr>
        <p:spPr>
          <a:xfrm xmlns:a="http://schemas.openxmlformats.org/drawingml/2006/main">
            <a:off x="3095625" y="2495550"/>
            <a:ext cx="40481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Una imagen</a:t>
            </a:r>
          </a:p>
        </p:txBody>
      </p:sp>
      <p:sp>
        <p:nvSpPr>
          <p:cNvPr id="13" name=""/>
          <p:cNvSpPr>
            <a:spLocks xmlns:a="http://schemas.openxmlformats.org/drawingml/2006/main" noGrp="1"/>
          </p:cNvSpPr>
          <p:nvPr/>
        </p:nvSpPr>
        <p:spPr>
          <a:xfrm xmlns:a="http://schemas.openxmlformats.org/drawingml/2006/main">
            <a:off x="7362825" y="2495550"/>
            <a:ext cx="421957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Imagen + pregunta</a:t>
            </a:r>
          </a:p>
        </p:txBody>
      </p:sp>
      <p:sp>
        <p:nvSpPr>
          <p:cNvPr id="14" name=""/>
          <p:cNvSpPr>
            <a:spLocks xmlns:a="http://schemas.openxmlformats.org/drawingml/2006/main" noGrp="1"/>
          </p:cNvSpPr>
          <p:nvPr/>
        </p:nvSpPr>
        <p:spPr>
          <a:xfrm xmlns:a="http://schemas.openxmlformats.org/drawingml/2006/main">
            <a:off x="609600" y="3152775"/>
            <a:ext cx="10972800" cy="9525"/>
          </a:xfrm>
          <a:prstGeom xmlns:a="http://schemas.openxmlformats.org/drawingml/2006/main" prst="rect">
            <a:avLst/>
          </a:prstGeom>
          <a:solidFill xmlns:a="http://schemas.openxmlformats.org/drawingml/2006/main">
            <a:srgbClr val="76658E"/>
          </a:solidFill>
          <a:ln xmlns:a="http://schemas.openxmlformats.org/drawingml/2006/main" w="0">
            <a:noFill/>
          </a:ln>
        </p:spPr>
      </p:sp>
      <p:sp>
        <p:nvSpPr>
          <p:cNvPr id="15" name=""/>
          <p:cNvSpPr>
            <a:spLocks xmlns:a="http://schemas.openxmlformats.org/drawingml/2006/main" noGrp="1"/>
          </p:cNvSpPr>
          <p:nvPr/>
        </p:nvSpPr>
        <p:spPr>
          <a:xfrm xmlns:a="http://schemas.openxmlformats.org/drawingml/2006/main">
            <a:off x="609600" y="3248025"/>
            <a:ext cx="23336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Procesamiento</a:t>
            </a:r>
          </a:p>
        </p:txBody>
      </p:sp>
      <p:sp>
        <p:nvSpPr>
          <p:cNvPr id="16" name=""/>
          <p:cNvSpPr>
            <a:spLocks xmlns:a="http://schemas.openxmlformats.org/drawingml/2006/main" noGrp="1"/>
          </p:cNvSpPr>
          <p:nvPr/>
        </p:nvSpPr>
        <p:spPr>
          <a:xfrm xmlns:a="http://schemas.openxmlformats.org/drawingml/2006/main">
            <a:off x="3095625" y="3248025"/>
            <a:ext cx="40481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Encoder visual +</a:t>
            </a:r>
          </a:p>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cabeza de clasificación</a:t>
            </a:r>
          </a:p>
        </p:txBody>
      </p:sp>
      <p:sp>
        <p:nvSpPr>
          <p:cNvPr id="17" name=""/>
          <p:cNvSpPr>
            <a:spLocks xmlns:a="http://schemas.openxmlformats.org/drawingml/2006/main" noGrp="1"/>
          </p:cNvSpPr>
          <p:nvPr/>
        </p:nvSpPr>
        <p:spPr>
          <a:xfrm xmlns:a="http://schemas.openxmlformats.org/drawingml/2006/main">
            <a:off x="7362825" y="3248025"/>
            <a:ext cx="421957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Encoder visual + integración</a:t>
            </a:r>
          </a:p>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con el modelo de lenguaje</a:t>
            </a:r>
          </a:p>
        </p:txBody>
      </p:sp>
      <p:sp>
        <p:nvSpPr>
          <p:cNvPr id="18" name=""/>
          <p:cNvSpPr>
            <a:spLocks xmlns:a="http://schemas.openxmlformats.org/drawingml/2006/main" noGrp="1"/>
          </p:cNvSpPr>
          <p:nvPr/>
        </p:nvSpPr>
        <p:spPr>
          <a:xfrm xmlns:a="http://schemas.openxmlformats.org/drawingml/2006/main">
            <a:off x="609600" y="3905250"/>
            <a:ext cx="10972800" cy="9525"/>
          </a:xfrm>
          <a:prstGeom xmlns:a="http://schemas.openxmlformats.org/drawingml/2006/main" prst="rect">
            <a:avLst/>
          </a:prstGeom>
          <a:solidFill xmlns:a="http://schemas.openxmlformats.org/drawingml/2006/main">
            <a:srgbClr val="76658E"/>
          </a:solidFill>
          <a:ln xmlns:a="http://schemas.openxmlformats.org/drawingml/2006/main" w="0">
            <a:noFill/>
          </a:ln>
        </p:spPr>
      </p:sp>
      <p:sp>
        <p:nvSpPr>
          <p:cNvPr id="19" name=""/>
          <p:cNvSpPr>
            <a:spLocks xmlns:a="http://schemas.openxmlformats.org/drawingml/2006/main" noGrp="1"/>
          </p:cNvSpPr>
          <p:nvPr/>
        </p:nvSpPr>
        <p:spPr>
          <a:xfrm xmlns:a="http://schemas.openxmlformats.org/drawingml/2006/main">
            <a:off x="609600" y="4000500"/>
            <a:ext cx="23336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Salida</a:t>
            </a:r>
          </a:p>
        </p:txBody>
      </p:sp>
      <p:sp>
        <p:nvSpPr>
          <p:cNvPr id="20" name=""/>
          <p:cNvSpPr>
            <a:spLocks xmlns:a="http://schemas.openxmlformats.org/drawingml/2006/main" noGrp="1"/>
          </p:cNvSpPr>
          <p:nvPr/>
        </p:nvSpPr>
        <p:spPr>
          <a:xfrm xmlns:a="http://schemas.openxmlformats.org/drawingml/2006/main">
            <a:off x="3095625" y="4000500"/>
            <a:ext cx="40481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Scores de categorías fijas</a:t>
            </a:r>
          </a:p>
        </p:txBody>
      </p:sp>
      <p:sp>
        <p:nvSpPr>
          <p:cNvPr id="21" name=""/>
          <p:cNvSpPr>
            <a:spLocks xmlns:a="http://schemas.openxmlformats.org/drawingml/2006/main" noGrp="1"/>
          </p:cNvSpPr>
          <p:nvPr/>
        </p:nvSpPr>
        <p:spPr>
          <a:xfrm xmlns:a="http://schemas.openxmlformats.org/drawingml/2006/main">
            <a:off x="7362825" y="4000500"/>
            <a:ext cx="421957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Texto generado</a:t>
            </a:r>
          </a:p>
        </p:txBody>
      </p:sp>
      <p:sp>
        <p:nvSpPr>
          <p:cNvPr id="22" name=""/>
          <p:cNvSpPr>
            <a:spLocks xmlns:a="http://schemas.openxmlformats.org/drawingml/2006/main" noGrp="1"/>
          </p:cNvSpPr>
          <p:nvPr/>
        </p:nvSpPr>
        <p:spPr>
          <a:xfrm xmlns:a="http://schemas.openxmlformats.org/drawingml/2006/main">
            <a:off x="609600" y="4657725"/>
            <a:ext cx="10972800" cy="9525"/>
          </a:xfrm>
          <a:prstGeom xmlns:a="http://schemas.openxmlformats.org/drawingml/2006/main" prst="rect">
            <a:avLst/>
          </a:prstGeom>
          <a:solidFill xmlns:a="http://schemas.openxmlformats.org/drawingml/2006/main">
            <a:srgbClr val="76658E"/>
          </a:solidFill>
          <a:ln xmlns:a="http://schemas.openxmlformats.org/drawingml/2006/main" w="0">
            <a:noFill/>
          </a:ln>
        </p:spPr>
      </p:sp>
      <p:sp>
        <p:nvSpPr>
          <p:cNvPr id="23" name=""/>
          <p:cNvSpPr>
            <a:spLocks xmlns:a="http://schemas.openxmlformats.org/drawingml/2006/main" noGrp="1"/>
          </p:cNvSpPr>
          <p:nvPr/>
        </p:nvSpPr>
        <p:spPr>
          <a:xfrm xmlns:a="http://schemas.openxmlformats.org/drawingml/2006/main">
            <a:off x="609600" y="4752975"/>
            <a:ext cx="23336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FFFFFF"/>
                </a:solidFill>
                <a:latin typeface="Poppins"/>
                <a:ea typeface="Poppins"/>
                <a:cs typeface="Poppins"/>
              </a:defRPr>
            </a:pPr>
            <a:r>
              <a:rPr sz="1725" b="1">
                <a:solidFill>
                  <a:srgbClr val="FFFFFF"/>
                </a:solidFill>
                <a:latin typeface="Poppins"/>
                <a:ea typeface="Poppins"/>
                <a:cs typeface="Poppins"/>
              </a:rPr>
              <a:t>Uso desde OF</a:t>
            </a:r>
          </a:p>
        </p:txBody>
      </p:sp>
      <p:sp>
        <p:nvSpPr>
          <p:cNvPr id="24" name=""/>
          <p:cNvSpPr>
            <a:spLocks xmlns:a="http://schemas.openxmlformats.org/drawingml/2006/main" noGrp="1"/>
          </p:cNvSpPr>
          <p:nvPr/>
        </p:nvSpPr>
        <p:spPr>
          <a:xfrm xmlns:a="http://schemas.openxmlformats.org/drawingml/2006/main">
            <a:off x="3095625" y="4752975"/>
            <a:ext cx="404812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Mapear clase y score</a:t>
            </a:r>
          </a:p>
        </p:txBody>
      </p:sp>
      <p:sp>
        <p:nvSpPr>
          <p:cNvPr id="25" name=""/>
          <p:cNvSpPr>
            <a:spLocks xmlns:a="http://schemas.openxmlformats.org/drawingml/2006/main" noGrp="1"/>
          </p:cNvSpPr>
          <p:nvPr/>
        </p:nvSpPr>
        <p:spPr>
          <a:xfrm xmlns:a="http://schemas.openxmlformats.org/drawingml/2006/main">
            <a:off x="7362825" y="4752975"/>
            <a:ext cx="4219575" cy="5619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Interpretar texto; validar</a:t>
            </a:r>
          </a:p>
          <a:p xmlns:a="http://schemas.openxmlformats.org/drawingml/2006/main">
            <a:pPr>
              <a:defRPr sz="1650" b="0">
                <a:solidFill>
                  <a:srgbClr val="CBC5D8"/>
                </a:solidFill>
                <a:latin typeface="Poppins"/>
                <a:ea typeface="Poppins"/>
                <a:cs typeface="Poppins"/>
              </a:defRPr>
            </a:pPr>
            <a:r>
              <a:rPr sz="1650" b="0">
                <a:solidFill>
                  <a:srgbClr val="CBC5D8"/>
                </a:solidFill>
                <a:latin typeface="Poppins"/>
                <a:ea typeface="Poppins"/>
                <a:cs typeface="Poppins"/>
              </a:rPr>
              <a:t>un contrato si controla acciones</a:t>
            </a:r>
          </a:p>
        </p:txBody>
      </p:sp>
      <p:sp>
        <p:nvSpPr>
          <p:cNvPr id="26" name=""/>
          <p:cNvSpPr>
            <a:spLocks xmlns:a="http://schemas.openxmlformats.org/drawingml/2006/main" noGrp="1"/>
          </p:cNvSpPr>
          <p:nvPr/>
        </p:nvSpPr>
        <p:spPr>
          <a:xfrm xmlns:a="http://schemas.openxmlformats.org/drawingml/2006/main">
            <a:off x="609600" y="5676900"/>
            <a:ext cx="10972800" cy="400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725" b="1">
                <a:solidFill>
                  <a:srgbClr val="BEA2FF"/>
                </a:solidFill>
                <a:latin typeface="Poppins"/>
                <a:ea typeface="Poppins"/>
                <a:cs typeface="Poppins"/>
              </a:defRPr>
            </a:pPr>
            <a:r>
              <a:rPr sz="1725" b="1">
                <a:solidFill>
                  <a:srgbClr val="BEA2FF"/>
                </a:solidFill>
                <a:latin typeface="Poppins"/>
                <a:ea typeface="Poppins"/>
                <a:cs typeface="Poppins"/>
              </a:rPr>
              <a:t>Un VLM puede usar un transformer visual: no son familias excluyentes.</a:t>
            </a:r>
          </a:p>
        </p:txBody>
      </p:sp>
      <p:sp>
        <p:nvSpPr>
          <p:cNvPr id="27"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15</a:t>
            </a:r>
          </a:p>
        </p:txBody>
      </p:sp>
    </p:spTree>
  </p:cSld>
</p:sld>
</file>

<file path=ppt/slides/slide16.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7" name=""/>
        <p:cNvGrpSpPr/>
        <p:nvPr/>
      </p:nvGrpSpPr>
      <p:grpSpPr>
        <a:xfrm xmlns:a="http://schemas.openxmlformats.org/drawingml/2006/main">
          <a:off x="0" y="0"/>
          <a:ext cx="0" cy="0"/>
          <a:chOff x="0" y="0"/>
          <a:chExt cx="0" cy="0"/>
        </a:xfrm>
      </p:grpSpPr>
      <p:sp>
        <p:nvSpPr>
          <p:cNvPr id="1" name="shape-398"/>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399"/>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NO SON SINÓNIMOS</a:t>
            </a:r>
          </a:p>
        </p:txBody>
      </p:sp>
      <p:sp>
        <p:nvSpPr>
          <p:cNvPr id="3" name="text-400"/>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Multimodal, cadena y generación son cosas distintas</a:t>
            </a:r>
          </a:p>
        </p:txBody>
      </p:sp>
      <p:sp>
        <p:nvSpPr>
          <p:cNvPr id="4" name="shape-401"/>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402"/>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404"/>
          <p:cNvSpPr>
            <a:spLocks xmlns:a="http://schemas.openxmlformats.org/drawingml/2006/main" noGrp="1"/>
          </p:cNvSpPr>
          <p:nvPr/>
        </p:nvSpPr>
        <p:spPr>
          <a:xfrm xmlns:a="http://schemas.openxmlformats.org/drawingml/2006/main">
            <a:off x="609600" y="1876425"/>
            <a:ext cx="295275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00" b="1">
                <a:solidFill>
                  <a:srgbClr val="2DD5B5"/>
                </a:solidFill>
                <a:latin typeface="Poppins"/>
                <a:ea typeface="Poppins"/>
                <a:cs typeface="Poppins"/>
              </a:defRPr>
            </a:pPr>
            <a:r>
              <a:rPr sz="1200" b="1">
                <a:solidFill>
                  <a:srgbClr val="2DD5B5"/>
                </a:solidFill>
                <a:latin typeface="Poppins"/>
                <a:ea typeface="Poppins"/>
                <a:cs typeface="Poppins"/>
              </a:rPr>
              <a:t>SISTEMA</a:t>
            </a:r>
          </a:p>
        </p:txBody>
      </p:sp>
      <p:sp>
        <p:nvSpPr>
          <p:cNvPr id="8" name="text-405"/>
          <p:cNvSpPr>
            <a:spLocks xmlns:a="http://schemas.openxmlformats.org/drawingml/2006/main" noGrp="1"/>
          </p:cNvSpPr>
          <p:nvPr/>
        </p:nvSpPr>
        <p:spPr>
          <a:xfrm xmlns:a="http://schemas.openxmlformats.org/drawingml/2006/main">
            <a:off x="3810000" y="1876425"/>
            <a:ext cx="4000500"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00" b="1">
                <a:solidFill>
                  <a:srgbClr val="BFA0FF"/>
                </a:solidFill>
                <a:latin typeface="Poppins"/>
                <a:ea typeface="Poppins"/>
                <a:cs typeface="Poppins"/>
              </a:defRPr>
            </a:pPr>
            <a:r>
              <a:rPr sz="1200" b="1">
                <a:solidFill>
                  <a:srgbClr val="BFA0FF"/>
                </a:solidFill>
                <a:latin typeface="Poppins"/>
                <a:ea typeface="Poppins"/>
                <a:cs typeface="Poppins"/>
              </a:rPr>
              <a:t>QUÉ COMBINA</a:t>
            </a:r>
          </a:p>
        </p:txBody>
      </p:sp>
      <p:sp>
        <p:nvSpPr>
          <p:cNvPr id="9" name="text-406"/>
          <p:cNvSpPr>
            <a:spLocks xmlns:a="http://schemas.openxmlformats.org/drawingml/2006/main" noGrp="1"/>
          </p:cNvSpPr>
          <p:nvPr/>
        </p:nvSpPr>
        <p:spPr>
          <a:xfrm xmlns:a="http://schemas.openxmlformats.org/drawingml/2006/main">
            <a:off x="8143875" y="1876425"/>
            <a:ext cx="3381375" cy="285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200" b="1">
                <a:solidFill>
                  <a:srgbClr val="BFA0FF"/>
                </a:solidFill>
                <a:latin typeface="Poppins"/>
                <a:ea typeface="Poppins"/>
                <a:cs typeface="Poppins"/>
              </a:defRPr>
            </a:pPr>
            <a:r>
              <a:rPr sz="1200" b="1">
                <a:solidFill>
                  <a:srgbClr val="BFA0FF"/>
                </a:solidFill>
                <a:latin typeface="Poppins"/>
                <a:ea typeface="Poppins"/>
                <a:cs typeface="Poppins"/>
              </a:rPr>
              <a:t>EJEMPLO</a:t>
            </a:r>
          </a:p>
        </p:txBody>
      </p:sp>
      <p:sp>
        <p:nvSpPr>
          <p:cNvPr id="10" name="shape-407"/>
          <p:cNvSpPr>
            <a:spLocks xmlns:a="http://schemas.openxmlformats.org/drawingml/2006/main" noGrp="1"/>
          </p:cNvSpPr>
          <p:nvPr/>
        </p:nvSpPr>
        <p:spPr>
          <a:xfrm xmlns:a="http://schemas.openxmlformats.org/drawingml/2006/main">
            <a:off x="609600" y="223837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1" name="text-408"/>
          <p:cNvSpPr>
            <a:spLocks xmlns:a="http://schemas.openxmlformats.org/drawingml/2006/main" noGrp="1"/>
          </p:cNvSpPr>
          <p:nvPr/>
        </p:nvSpPr>
        <p:spPr>
          <a:xfrm xmlns:a="http://schemas.openxmlformats.org/drawingml/2006/main">
            <a:off x="609600" y="2314575"/>
            <a:ext cx="278130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Modelo multimodal</a:t>
            </a:r>
          </a:p>
        </p:txBody>
      </p:sp>
      <p:sp>
        <p:nvSpPr>
          <p:cNvPr id="12" name="text-409"/>
          <p:cNvSpPr>
            <a:spLocks xmlns:a="http://schemas.openxmlformats.org/drawingml/2006/main" noGrp="1"/>
          </p:cNvSpPr>
          <p:nvPr/>
        </p:nvSpPr>
        <p:spPr>
          <a:xfrm xmlns:a="http://schemas.openxmlformats.org/drawingml/2006/main">
            <a:off x="3810000" y="2314575"/>
            <a:ext cx="382905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Representaciones de varias modalidades</a:t>
            </a:r>
          </a:p>
        </p:txBody>
      </p:sp>
      <p:sp>
        <p:nvSpPr>
          <p:cNvPr id="13" name="text-410"/>
          <p:cNvSpPr>
            <a:spLocks xmlns:a="http://schemas.openxmlformats.org/drawingml/2006/main" noGrp="1"/>
          </p:cNvSpPr>
          <p:nvPr/>
        </p:nvSpPr>
        <p:spPr>
          <a:xfrm xmlns:a="http://schemas.openxmlformats.org/drawingml/2006/main">
            <a:off x="8143875" y="2314575"/>
            <a:ext cx="3209925"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Imagen + pregunta → texto</a:t>
            </a:r>
          </a:p>
        </p:txBody>
      </p:sp>
      <p:sp>
        <p:nvSpPr>
          <p:cNvPr id="14" name="shape-411"/>
          <p:cNvSpPr>
            <a:spLocks xmlns:a="http://schemas.openxmlformats.org/drawingml/2006/main" noGrp="1"/>
          </p:cNvSpPr>
          <p:nvPr/>
        </p:nvSpPr>
        <p:spPr>
          <a:xfrm xmlns:a="http://schemas.openxmlformats.org/drawingml/2006/main">
            <a:off x="609600" y="313372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5" name="text-412"/>
          <p:cNvSpPr>
            <a:spLocks xmlns:a="http://schemas.openxmlformats.org/drawingml/2006/main" noGrp="1"/>
          </p:cNvSpPr>
          <p:nvPr/>
        </p:nvSpPr>
        <p:spPr>
          <a:xfrm xmlns:a="http://schemas.openxmlformats.org/drawingml/2006/main">
            <a:off x="609600" y="3209925"/>
            <a:ext cx="278130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Cadena de modelos</a:t>
            </a:r>
          </a:p>
        </p:txBody>
      </p:sp>
      <p:sp>
        <p:nvSpPr>
          <p:cNvPr id="16" name="text-413"/>
          <p:cNvSpPr>
            <a:spLocks xmlns:a="http://schemas.openxmlformats.org/drawingml/2006/main" noGrp="1"/>
          </p:cNvSpPr>
          <p:nvPr/>
        </p:nvSpPr>
        <p:spPr>
          <a:xfrm xmlns:a="http://schemas.openxmlformats.org/drawingml/2006/main">
            <a:off x="3810000" y="3209925"/>
            <a:ext cx="382905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Salidas de modelos independientes</a:t>
            </a:r>
          </a:p>
        </p:txBody>
      </p:sp>
      <p:sp>
        <p:nvSpPr>
          <p:cNvPr id="17" name="text-414"/>
          <p:cNvSpPr>
            <a:spLocks xmlns:a="http://schemas.openxmlformats.org/drawingml/2006/main" noGrp="1"/>
          </p:cNvSpPr>
          <p:nvPr/>
        </p:nvSpPr>
        <p:spPr>
          <a:xfrm xmlns:a="http://schemas.openxmlformats.org/drawingml/2006/main">
            <a:off x="8143875" y="3209925"/>
            <a:ext cx="3209925"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Voz → transcripción → LLM</a:t>
            </a:r>
          </a:p>
        </p:txBody>
      </p:sp>
      <p:sp>
        <p:nvSpPr>
          <p:cNvPr id="18" name="shape-415"/>
          <p:cNvSpPr>
            <a:spLocks xmlns:a="http://schemas.openxmlformats.org/drawingml/2006/main" noGrp="1"/>
          </p:cNvSpPr>
          <p:nvPr/>
        </p:nvSpPr>
        <p:spPr>
          <a:xfrm xmlns:a="http://schemas.openxmlformats.org/drawingml/2006/main">
            <a:off x="609600" y="402907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9" name="text-416"/>
          <p:cNvSpPr>
            <a:spLocks xmlns:a="http://schemas.openxmlformats.org/drawingml/2006/main" noGrp="1"/>
          </p:cNvSpPr>
          <p:nvPr/>
        </p:nvSpPr>
        <p:spPr>
          <a:xfrm xmlns:a="http://schemas.openxmlformats.org/drawingml/2006/main">
            <a:off x="609600" y="4105275"/>
            <a:ext cx="278130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Generador de imagen</a:t>
            </a:r>
          </a:p>
        </p:txBody>
      </p:sp>
      <p:sp>
        <p:nvSpPr>
          <p:cNvPr id="20" name="text-417"/>
          <p:cNvSpPr>
            <a:spLocks xmlns:a="http://schemas.openxmlformats.org/drawingml/2006/main" noGrp="1"/>
          </p:cNvSpPr>
          <p:nvPr/>
        </p:nvSpPr>
        <p:spPr>
          <a:xfrm xmlns:a="http://schemas.openxmlformats.org/drawingml/2006/main">
            <a:off x="3810000" y="4105275"/>
            <a:ext cx="382905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Condición → nuevos píxeles</a:t>
            </a:r>
          </a:p>
        </p:txBody>
      </p:sp>
      <p:sp>
        <p:nvSpPr>
          <p:cNvPr id="21" name="text-418"/>
          <p:cNvSpPr>
            <a:spLocks xmlns:a="http://schemas.openxmlformats.org/drawingml/2006/main" noGrp="1"/>
          </p:cNvSpPr>
          <p:nvPr/>
        </p:nvSpPr>
        <p:spPr>
          <a:xfrm xmlns:a="http://schemas.openxmlformats.org/drawingml/2006/main">
            <a:off x="8143875" y="4105275"/>
            <a:ext cx="3209925"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Texto → imagen</a:t>
            </a:r>
          </a:p>
        </p:txBody>
      </p:sp>
      <p:sp>
        <p:nvSpPr>
          <p:cNvPr id="22" name="shape-419"/>
          <p:cNvSpPr>
            <a:spLocks xmlns:a="http://schemas.openxmlformats.org/drawingml/2006/main" noGrp="1"/>
          </p:cNvSpPr>
          <p:nvPr/>
        </p:nvSpPr>
        <p:spPr>
          <a:xfrm xmlns:a="http://schemas.openxmlformats.org/drawingml/2006/main">
            <a:off x="609600" y="492442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23" name="text-420"/>
          <p:cNvSpPr>
            <a:spLocks xmlns:a="http://schemas.openxmlformats.org/drawingml/2006/main" noGrp="1"/>
          </p:cNvSpPr>
          <p:nvPr/>
        </p:nvSpPr>
        <p:spPr>
          <a:xfrm xmlns:a="http://schemas.openxmlformats.org/drawingml/2006/main">
            <a:off x="609600" y="5000625"/>
            <a:ext cx="278130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FFFFFF"/>
                </a:solidFill>
                <a:latin typeface="Poppins"/>
                <a:ea typeface="Poppins"/>
                <a:cs typeface="Poppins"/>
              </a:defRPr>
            </a:pPr>
            <a:r>
              <a:rPr sz="1575" b="1">
                <a:solidFill>
                  <a:srgbClr val="FFFFFF"/>
                </a:solidFill>
                <a:latin typeface="Poppins"/>
                <a:ea typeface="Poppins"/>
                <a:cs typeface="Poppins"/>
              </a:rPr>
              <a:t>Obra programada</a:t>
            </a:r>
          </a:p>
        </p:txBody>
      </p:sp>
      <p:sp>
        <p:nvSpPr>
          <p:cNvPr id="24" name="text-421"/>
          <p:cNvSpPr>
            <a:spLocks xmlns:a="http://schemas.openxmlformats.org/drawingml/2006/main" noGrp="1"/>
          </p:cNvSpPr>
          <p:nvPr/>
        </p:nvSpPr>
        <p:spPr>
          <a:xfrm xmlns:a="http://schemas.openxmlformats.org/drawingml/2006/main">
            <a:off x="3810000" y="5000625"/>
            <a:ext cx="3829050"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Datos del modelo + reglas propias</a:t>
            </a:r>
          </a:p>
        </p:txBody>
      </p:sp>
      <p:sp>
        <p:nvSpPr>
          <p:cNvPr id="25" name="text-422"/>
          <p:cNvSpPr>
            <a:spLocks xmlns:a="http://schemas.openxmlformats.org/drawingml/2006/main" noGrp="1"/>
          </p:cNvSpPr>
          <p:nvPr/>
        </p:nvSpPr>
        <p:spPr>
          <a:xfrm xmlns:a="http://schemas.openxmlformats.org/drawingml/2006/main">
            <a:off x="8143875" y="5000625"/>
            <a:ext cx="3209925" cy="781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Respuesta → escena OF / Box2D</a:t>
            </a:r>
          </a:p>
        </p:txBody>
      </p:sp>
      <p:sp>
        <p:nvSpPr>
          <p:cNvPr id="26"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16</a:t>
            </a:r>
          </a:p>
        </p:txBody>
      </p:sp>
    </p:spTree>
  </p:cSld>
</p:sld>
</file>

<file path=ppt/slides/slide17.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1" name=""/>
        <p:cNvGrpSpPr/>
        <p:nvPr/>
      </p:nvGrpSpPr>
      <p:grpSpPr>
        <a:xfrm xmlns:a="http://schemas.openxmlformats.org/drawingml/2006/main">
          <a:off x="0" y="0"/>
          <a:ext cx="0" cy="0"/>
          <a:chOff x="0" y="0"/>
          <a:chExt cx="0" cy="0"/>
        </a:xfrm>
      </p:grpSpPr>
      <p:sp>
        <p:nvSpPr>
          <p:cNvPr id="1" name="shape-423"/>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424"/>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EJEMPLO 02 · visionChat</a:t>
            </a:r>
          </a:p>
        </p:txBody>
      </p:sp>
      <p:sp>
        <p:nvSpPr>
          <p:cNvPr id="3" name="text-425"/>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La misma imagen admite preguntas diferentes</a:t>
            </a:r>
          </a:p>
        </p:txBody>
      </p:sp>
      <p:sp>
        <p:nvSpPr>
          <p:cNvPr id="4" name="shape-426"/>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427"/>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pic>
        <p:nvPicPr>
          <p:cNvPr id="6" name="image-429"/>
          <p:cNvPicPr>
            <a:picLocks xmlns:a="http://schemas.openxmlformats.org/drawingml/2006/main" noChangeAspect="1"/>
          </p:cNvPicPr>
          <p:nvPr/>
        </p:nvPicPr>
        <p:blipFill>
          <a:blip xmlns:r="http://schemas.openxmlformats.org/officeDocument/2006/relationships" xmlns:a="http://schemas.openxmlformats.org/drawingml/2006/main" r:embed="rId2"/>
          <a:stretch xmlns:a="http://schemas.openxmlformats.org/drawingml/2006/main"/>
        </p:blipFill>
        <p:spPr>
          <a:xfrm xmlns:a="http://schemas.openxmlformats.org/drawingml/2006/main">
            <a:off x="1339308" y="1943100"/>
            <a:ext cx="6408234" cy="4105275"/>
          </a:xfrm>
          <a:prstGeom xmlns:a="http://schemas.openxmlformats.org/drawingml/2006/main" prst="rect">
            <a:avLst/>
          </a:prstGeom>
        </p:spPr>
      </p:pic>
      <p:sp>
        <p:nvSpPr>
          <p:cNvPr id="8" name="text-430"/>
          <p:cNvSpPr>
            <a:spLocks xmlns:a="http://schemas.openxmlformats.org/drawingml/2006/main" noGrp="1"/>
          </p:cNvSpPr>
          <p:nvPr/>
        </p:nvSpPr>
        <p:spPr>
          <a:xfrm xmlns:a="http://schemas.openxmlformats.org/drawingml/2006/main">
            <a:off x="609600" y="6086475"/>
            <a:ext cx="8096250" cy="238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75" b="0">
                <a:solidFill>
                  <a:srgbClr val="D0C9DB"/>
                </a:solidFill>
                <a:latin typeface="Poppins"/>
                <a:ea typeface="Poppins"/>
                <a:cs typeface="Poppins"/>
              </a:defRPr>
            </a:pPr>
            <a:r>
              <a:rPr sz="975" b="0">
                <a:solidFill>
                  <a:srgbClr val="D0C9DB"/>
                </a:solidFill>
                <a:latin typeface="Poppins"/>
                <a:ea typeface="Poppins"/>
                <a:cs typeface="Poppins"/>
              </a:rPr>
              <a:t>Interfaz real · texto grabado para probar el diseño</a:t>
            </a:r>
          </a:p>
        </p:txBody>
      </p:sp>
      <p:sp>
        <p:nvSpPr>
          <p:cNvPr id="9" name="text-431"/>
          <p:cNvSpPr>
            <a:spLocks xmlns:a="http://schemas.openxmlformats.org/drawingml/2006/main" noGrp="1"/>
          </p:cNvSpPr>
          <p:nvPr/>
        </p:nvSpPr>
        <p:spPr>
          <a:xfrm xmlns:a="http://schemas.openxmlformats.org/drawingml/2006/main">
            <a:off x="8791575" y="2124075"/>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01</a:t>
            </a:r>
          </a:p>
        </p:txBody>
      </p:sp>
      <p:sp>
        <p:nvSpPr>
          <p:cNvPr id="10" name="text-432"/>
          <p:cNvSpPr>
            <a:spLocks xmlns:a="http://schemas.openxmlformats.org/drawingml/2006/main" noGrp="1"/>
          </p:cNvSpPr>
          <p:nvPr/>
        </p:nvSpPr>
        <p:spPr>
          <a:xfrm xmlns:a="http://schemas.openxmlformats.org/drawingml/2006/main">
            <a:off x="9305925" y="2095500"/>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¿Qué formas ves?</a:t>
            </a:r>
          </a:p>
        </p:txBody>
      </p:sp>
      <p:sp>
        <p:nvSpPr>
          <p:cNvPr id="11" name="text-433"/>
          <p:cNvSpPr>
            <a:spLocks xmlns:a="http://schemas.openxmlformats.org/drawingml/2006/main" noGrp="1"/>
          </p:cNvSpPr>
          <p:nvPr/>
        </p:nvSpPr>
        <p:spPr>
          <a:xfrm xmlns:a="http://schemas.openxmlformats.org/drawingml/2006/main">
            <a:off x="8791575" y="2857500"/>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02</a:t>
            </a:r>
          </a:p>
        </p:txBody>
      </p:sp>
      <p:sp>
        <p:nvSpPr>
          <p:cNvPr id="12" name="text-434"/>
          <p:cNvSpPr>
            <a:spLocks xmlns:a="http://schemas.openxmlformats.org/drawingml/2006/main" noGrp="1"/>
          </p:cNvSpPr>
          <p:nvPr/>
        </p:nvSpPr>
        <p:spPr>
          <a:xfrm xmlns:a="http://schemas.openxmlformats.org/drawingml/2006/main">
            <a:off x="9305925" y="2828925"/>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¿Qué texto aparece?</a:t>
            </a:r>
          </a:p>
        </p:txBody>
      </p:sp>
      <p:sp>
        <p:nvSpPr>
          <p:cNvPr id="13" name="text-435"/>
          <p:cNvSpPr>
            <a:spLocks xmlns:a="http://schemas.openxmlformats.org/drawingml/2006/main" noGrp="1"/>
          </p:cNvSpPr>
          <p:nvPr/>
        </p:nvSpPr>
        <p:spPr>
          <a:xfrm xmlns:a="http://schemas.openxmlformats.org/drawingml/2006/main">
            <a:off x="8791575" y="3590925"/>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03</a:t>
            </a:r>
          </a:p>
        </p:txBody>
      </p:sp>
      <p:sp>
        <p:nvSpPr>
          <p:cNvPr id="14" name="text-436"/>
          <p:cNvSpPr>
            <a:spLocks xmlns:a="http://schemas.openxmlformats.org/drawingml/2006/main" noGrp="1"/>
          </p:cNvSpPr>
          <p:nvPr/>
        </p:nvSpPr>
        <p:spPr>
          <a:xfrm xmlns:a="http://schemas.openxmlformats.org/drawingml/2006/main">
            <a:off x="9305925" y="3562350"/>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¿Qué no podés determinar?</a:t>
            </a:r>
          </a:p>
        </p:txBody>
      </p:sp>
      <p:sp>
        <p:nvSpPr>
          <p:cNvPr id="15" name="text-437"/>
          <p:cNvSpPr>
            <a:spLocks xmlns:a="http://schemas.openxmlformats.org/drawingml/2006/main" noGrp="1"/>
          </p:cNvSpPr>
          <p:nvPr/>
        </p:nvSpPr>
        <p:spPr>
          <a:xfrm xmlns:a="http://schemas.openxmlformats.org/drawingml/2006/main">
            <a:off x="8791575" y="4324350"/>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04</a:t>
            </a:r>
          </a:p>
        </p:txBody>
      </p:sp>
      <p:sp>
        <p:nvSpPr>
          <p:cNvPr id="16" name="text-438"/>
          <p:cNvSpPr>
            <a:spLocks xmlns:a="http://schemas.openxmlformats.org/drawingml/2006/main" noGrp="1"/>
          </p:cNvSpPr>
          <p:nvPr/>
        </p:nvSpPr>
        <p:spPr>
          <a:xfrm xmlns:a="http://schemas.openxmlformats.org/drawingml/2006/main">
            <a:off x="9305925" y="4295775"/>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Proponé un título</a:t>
            </a:r>
          </a:p>
        </p:txBody>
      </p:sp>
      <p:sp>
        <p:nvSpPr>
          <p:cNvPr id="17" name="text-439"/>
          <p:cNvSpPr>
            <a:spLocks xmlns:a="http://schemas.openxmlformats.org/drawingml/2006/main" noGrp="1"/>
          </p:cNvSpPr>
          <p:nvPr/>
        </p:nvSpPr>
        <p:spPr>
          <a:xfrm xmlns:a="http://schemas.openxmlformats.org/drawingml/2006/main">
            <a:off x="8791575" y="5057775"/>
            <a:ext cx="428625"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1">
                <a:solidFill>
                  <a:srgbClr val="2DD5B5"/>
                </a:solidFill>
                <a:latin typeface="Poppins"/>
                <a:ea typeface="Poppins"/>
                <a:cs typeface="Poppins"/>
              </a:defRPr>
            </a:pPr>
            <a:r>
              <a:rPr sz="1500" b="1">
                <a:solidFill>
                  <a:srgbClr val="2DD5B5"/>
                </a:solidFill>
                <a:latin typeface="Poppins"/>
                <a:ea typeface="Poppins"/>
                <a:cs typeface="Poppins"/>
              </a:rPr>
              <a:t>05</a:t>
            </a:r>
          </a:p>
        </p:txBody>
      </p:sp>
      <p:sp>
        <p:nvSpPr>
          <p:cNvPr id="18" name="text-440"/>
          <p:cNvSpPr>
            <a:spLocks xmlns:a="http://schemas.openxmlformats.org/drawingml/2006/main" noGrp="1"/>
          </p:cNvSpPr>
          <p:nvPr/>
        </p:nvSpPr>
        <p:spPr>
          <a:xfrm xmlns:a="http://schemas.openxmlformats.org/drawingml/2006/main">
            <a:off x="9305925" y="5029200"/>
            <a:ext cx="22860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00" b="0">
                <a:solidFill>
                  <a:srgbClr val="FFFFFF"/>
                </a:solidFill>
                <a:latin typeface="Poppins"/>
                <a:ea typeface="Poppins"/>
                <a:cs typeface="Poppins"/>
              </a:defRPr>
            </a:pPr>
            <a:r>
              <a:rPr sz="1500" b="0">
                <a:solidFill>
                  <a:srgbClr val="FFFFFF"/>
                </a:solidFill>
                <a:latin typeface="Poppins"/>
                <a:ea typeface="Poppins"/>
                <a:cs typeface="Poppins"/>
              </a:rPr>
              <a:t>Contrastá con la imagen</a:t>
            </a:r>
          </a:p>
        </p:txBody>
      </p:sp>
      <p:sp>
        <p:nvSpPr>
          <p:cNvPr id="20"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17</a:t>
            </a:r>
          </a:p>
        </p:txBody>
      </p:sp>
    </p:spTree>
  </p:cSld>
</p:sld>
</file>

<file path=ppt/slides/slide18.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26" name=""/>
        <p:cNvGrpSpPr/>
        <p:nvPr/>
      </p:nvGrpSpPr>
      <p:grpSpPr>
        <a:xfrm xmlns:a="http://schemas.openxmlformats.org/drawingml/2006/main">
          <a:off x="0" y="0"/>
          <a:ext cx="0" cy="0"/>
          <a:chOff x="0" y="0"/>
          <a:chExt cx="0" cy="0"/>
        </a:xfrm>
      </p:grpSpPr>
      <p:sp>
        <p:nvSpPr>
          <p:cNvPr id="1" name="shape-441"/>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442"/>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ARQUITECTURA LOCAL</a:t>
            </a:r>
          </a:p>
        </p:txBody>
      </p:sp>
      <p:sp>
        <p:nvSpPr>
          <p:cNvPr id="3" name="text-443"/>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Los ejemplos consultan servicios diferentes</a:t>
            </a:r>
          </a:p>
        </p:txBody>
      </p:sp>
      <p:sp>
        <p:nvSpPr>
          <p:cNvPr id="4" name="shape-444"/>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445"/>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447"/>
          <p:cNvSpPr>
            <a:spLocks xmlns:a="http://schemas.openxmlformats.org/drawingml/2006/main" noGrp="1"/>
          </p:cNvSpPr>
          <p:nvPr/>
        </p:nvSpPr>
        <p:spPr>
          <a:xfrm xmlns:a="http://schemas.openxmlformats.org/drawingml/2006/main">
            <a:off x="609600" y="2019300"/>
            <a:ext cx="2381250" cy="3810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1">
                <a:solidFill>
                  <a:srgbClr val="2DD5B5"/>
                </a:solidFill>
                <a:latin typeface="Poppins"/>
                <a:ea typeface="Poppins"/>
                <a:cs typeface="Poppins"/>
              </a:defRPr>
            </a:pPr>
            <a:r>
              <a:rPr sz="1800" b="1">
                <a:solidFill>
                  <a:srgbClr val="2DD5B5"/>
                </a:solidFill>
                <a:latin typeface="Poppins"/>
                <a:ea typeface="Poppins"/>
                <a:cs typeface="Poppins"/>
              </a:rPr>
              <a:t>ViT</a:t>
            </a:r>
          </a:p>
        </p:txBody>
      </p:sp>
      <p:sp>
        <p:nvSpPr>
          <p:cNvPr id="8" name="shape-448"/>
          <p:cNvSpPr>
            <a:spLocks xmlns:a="http://schemas.openxmlformats.org/drawingml/2006/main" noGrp="1"/>
          </p:cNvSpPr>
          <p:nvPr/>
        </p:nvSpPr>
        <p:spPr>
          <a:xfrm xmlns:a="http://schemas.openxmlformats.org/drawingml/2006/main">
            <a:off x="609600" y="2543175"/>
            <a:ext cx="2714625" cy="109537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9" name="text-449"/>
          <p:cNvSpPr>
            <a:spLocks xmlns:a="http://schemas.openxmlformats.org/drawingml/2006/main" noGrp="1"/>
          </p:cNvSpPr>
          <p:nvPr/>
        </p:nvSpPr>
        <p:spPr>
          <a:xfrm xmlns:a="http://schemas.openxmlformats.org/drawingml/2006/main">
            <a:off x="762000" y="2714625"/>
            <a:ext cx="2409825" cy="7524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visionViT</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OF + addon</a:t>
            </a:r>
          </a:p>
        </p:txBody>
      </p:sp>
      <p:sp>
        <p:nvSpPr>
          <p:cNvPr id="10" name="shape-450"/>
          <p:cNvSpPr>
            <a:spLocks xmlns:a="http://schemas.openxmlformats.org/drawingml/2006/main" noGrp="1"/>
          </p:cNvSpPr>
          <p:nvPr/>
        </p:nvSpPr>
        <p:spPr>
          <a:xfrm xmlns:a="http://schemas.openxmlformats.org/drawingml/2006/main">
            <a:off x="3324225" y="2962275"/>
            <a:ext cx="80962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1" name="shape-451"/>
          <p:cNvSpPr>
            <a:spLocks xmlns:a="http://schemas.openxmlformats.org/drawingml/2006/main" noGrp="1"/>
          </p:cNvSpPr>
          <p:nvPr/>
        </p:nvSpPr>
        <p:spPr>
          <a:xfrm xmlns:a="http://schemas.openxmlformats.org/drawingml/2006/main">
            <a:off x="4133850" y="2543175"/>
            <a:ext cx="3429000" cy="109537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2" name="text-452"/>
          <p:cNvSpPr>
            <a:spLocks xmlns:a="http://schemas.openxmlformats.org/drawingml/2006/main" noGrp="1"/>
          </p:cNvSpPr>
          <p:nvPr/>
        </p:nvSpPr>
        <p:spPr>
          <a:xfrm xmlns:a="http://schemas.openxmlformats.org/drawingml/2006/main">
            <a:off x="4286250" y="2714625"/>
            <a:ext cx="3124200" cy="7524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Python / PyTorch</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127.0.0.1:8768</a:t>
            </a:r>
          </a:p>
        </p:txBody>
      </p:sp>
      <p:sp>
        <p:nvSpPr>
          <p:cNvPr id="13" name="shape-453"/>
          <p:cNvSpPr>
            <a:spLocks xmlns:a="http://schemas.openxmlformats.org/drawingml/2006/main" noGrp="1"/>
          </p:cNvSpPr>
          <p:nvPr/>
        </p:nvSpPr>
        <p:spPr>
          <a:xfrm xmlns:a="http://schemas.openxmlformats.org/drawingml/2006/main">
            <a:off x="7562850" y="2962275"/>
            <a:ext cx="80962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14" name="shape-454"/>
          <p:cNvSpPr>
            <a:spLocks xmlns:a="http://schemas.openxmlformats.org/drawingml/2006/main" noGrp="1"/>
          </p:cNvSpPr>
          <p:nvPr/>
        </p:nvSpPr>
        <p:spPr>
          <a:xfrm xmlns:a="http://schemas.openxmlformats.org/drawingml/2006/main">
            <a:off x="8372475" y="2543175"/>
            <a:ext cx="3095625" cy="109537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5" name="text-455"/>
          <p:cNvSpPr>
            <a:spLocks xmlns:a="http://schemas.openxmlformats.org/drawingml/2006/main" noGrp="1"/>
          </p:cNvSpPr>
          <p:nvPr/>
        </p:nvSpPr>
        <p:spPr>
          <a:xfrm xmlns:a="http://schemas.openxmlformats.org/drawingml/2006/main">
            <a:off x="8524875" y="2714625"/>
            <a:ext cx="2790825" cy="7524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Categorías</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 scores</a:t>
            </a:r>
          </a:p>
        </p:txBody>
      </p:sp>
      <p:sp>
        <p:nvSpPr>
          <p:cNvPr id="16" name="text-456"/>
          <p:cNvSpPr>
            <a:spLocks xmlns:a="http://schemas.openxmlformats.org/drawingml/2006/main" noGrp="1"/>
          </p:cNvSpPr>
          <p:nvPr/>
        </p:nvSpPr>
        <p:spPr>
          <a:xfrm xmlns:a="http://schemas.openxmlformats.org/drawingml/2006/main">
            <a:off x="609600" y="4000500"/>
            <a:ext cx="2857500" cy="3810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1">
                <a:solidFill>
                  <a:srgbClr val="BFA0FF"/>
                </a:solidFill>
                <a:latin typeface="Poppins"/>
                <a:ea typeface="Poppins"/>
                <a:cs typeface="Poppins"/>
              </a:defRPr>
            </a:pPr>
            <a:r>
              <a:rPr sz="1800" b="1">
                <a:solidFill>
                  <a:srgbClr val="BFA0FF"/>
                </a:solidFill>
                <a:latin typeface="Poppins"/>
                <a:ea typeface="Poppins"/>
                <a:cs typeface="Poppins"/>
              </a:rPr>
              <a:t>MULTIMODAL</a:t>
            </a:r>
          </a:p>
        </p:txBody>
      </p:sp>
      <p:sp>
        <p:nvSpPr>
          <p:cNvPr id="17" name="shape-457"/>
          <p:cNvSpPr>
            <a:spLocks xmlns:a="http://schemas.openxmlformats.org/drawingml/2006/main" noGrp="1"/>
          </p:cNvSpPr>
          <p:nvPr/>
        </p:nvSpPr>
        <p:spPr>
          <a:xfrm xmlns:a="http://schemas.openxmlformats.org/drawingml/2006/main">
            <a:off x="609600" y="4543425"/>
            <a:ext cx="2714625" cy="109537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18" name="text-458"/>
          <p:cNvSpPr>
            <a:spLocks xmlns:a="http://schemas.openxmlformats.org/drawingml/2006/main" noGrp="1"/>
          </p:cNvSpPr>
          <p:nvPr/>
        </p:nvSpPr>
        <p:spPr>
          <a:xfrm xmlns:a="http://schemas.openxmlformats.org/drawingml/2006/main">
            <a:off x="762000" y="4714875"/>
            <a:ext cx="2409825" cy="7524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visionChat</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OF + addon</a:t>
            </a:r>
          </a:p>
        </p:txBody>
      </p:sp>
      <p:sp>
        <p:nvSpPr>
          <p:cNvPr id="19" name="shape-459"/>
          <p:cNvSpPr>
            <a:spLocks xmlns:a="http://schemas.openxmlformats.org/drawingml/2006/main" noGrp="1"/>
          </p:cNvSpPr>
          <p:nvPr/>
        </p:nvSpPr>
        <p:spPr>
          <a:xfrm xmlns:a="http://schemas.openxmlformats.org/drawingml/2006/main">
            <a:off x="3324225" y="4962525"/>
            <a:ext cx="80962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20" name="shape-460"/>
          <p:cNvSpPr>
            <a:spLocks xmlns:a="http://schemas.openxmlformats.org/drawingml/2006/main" noGrp="1"/>
          </p:cNvSpPr>
          <p:nvPr/>
        </p:nvSpPr>
        <p:spPr>
          <a:xfrm xmlns:a="http://schemas.openxmlformats.org/drawingml/2006/main">
            <a:off x="4133850" y="4543425"/>
            <a:ext cx="3429000" cy="109537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21" name="text-461"/>
          <p:cNvSpPr>
            <a:spLocks xmlns:a="http://schemas.openxmlformats.org/drawingml/2006/main" noGrp="1"/>
          </p:cNvSpPr>
          <p:nvPr/>
        </p:nvSpPr>
        <p:spPr>
          <a:xfrm xmlns:a="http://schemas.openxmlformats.org/drawingml/2006/main">
            <a:off x="4286250" y="4714875"/>
            <a:ext cx="3124200" cy="7524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Ollama / Qwen3-VL</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127.0.0.1:11434</a:t>
            </a:r>
          </a:p>
        </p:txBody>
      </p:sp>
      <p:sp>
        <p:nvSpPr>
          <p:cNvPr id="22" name="shape-462"/>
          <p:cNvSpPr>
            <a:spLocks xmlns:a="http://schemas.openxmlformats.org/drawingml/2006/main" noGrp="1"/>
          </p:cNvSpPr>
          <p:nvPr/>
        </p:nvSpPr>
        <p:spPr>
          <a:xfrm xmlns:a="http://schemas.openxmlformats.org/drawingml/2006/main">
            <a:off x="7562850" y="4962525"/>
            <a:ext cx="809625" cy="209550"/>
          </a:xfrm>
          <a:prstGeom xmlns:a="http://schemas.openxmlformats.org/drawingml/2006/main" prst="rightArrow">
            <a:avLst/>
          </a:prstGeom>
          <a:solidFill xmlns:a="http://schemas.openxmlformats.org/drawingml/2006/main">
            <a:srgbClr val="2DD5B5"/>
          </a:solidFill>
          <a:ln xmlns:a="http://schemas.openxmlformats.org/drawingml/2006/main" w="0">
            <a:noFill/>
            <a:prstDash val="solid"/>
          </a:ln>
        </p:spPr>
      </p:sp>
      <p:sp>
        <p:nvSpPr>
          <p:cNvPr id="23" name="shape-463"/>
          <p:cNvSpPr>
            <a:spLocks xmlns:a="http://schemas.openxmlformats.org/drawingml/2006/main" noGrp="1"/>
          </p:cNvSpPr>
          <p:nvPr/>
        </p:nvSpPr>
        <p:spPr>
          <a:xfrm xmlns:a="http://schemas.openxmlformats.org/drawingml/2006/main">
            <a:off x="8372475" y="4543425"/>
            <a:ext cx="3095625" cy="1095375"/>
          </a:xfrm>
          <a:prstGeom xmlns:a="http://schemas.openxmlformats.org/drawingml/2006/main" prst="rect">
            <a:avLst/>
          </a:prstGeom>
          <a:solidFill xmlns:a="http://schemas.openxmlformats.org/drawingml/2006/main">
            <a:srgbClr val="332B4C"/>
          </a:solidFill>
          <a:ln xmlns:a="http://schemas.openxmlformats.org/drawingml/2006/main" w="0">
            <a:noFill/>
            <a:prstDash val="solid"/>
          </a:ln>
        </p:spPr>
      </p:sp>
      <p:sp>
        <p:nvSpPr>
          <p:cNvPr id="24" name="text-464"/>
          <p:cNvSpPr>
            <a:spLocks xmlns:a="http://schemas.openxmlformats.org/drawingml/2006/main" noGrp="1"/>
          </p:cNvSpPr>
          <p:nvPr/>
        </p:nvSpPr>
        <p:spPr>
          <a:xfrm xmlns:a="http://schemas.openxmlformats.org/drawingml/2006/main">
            <a:off x="8524875" y="4714875"/>
            <a:ext cx="2790825" cy="7524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Texto</a:t>
            </a:r>
          </a:p>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generado</a:t>
            </a:r>
          </a:p>
        </p:txBody>
      </p:sp>
      <p:sp>
        <p:nvSpPr>
          <p:cNvPr id="25"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18</a:t>
            </a:r>
          </a:p>
        </p:txBody>
      </p:sp>
    </p:spTree>
  </p:cSld>
</p:sld>
</file>

<file path=ppt/slides/slide19.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4" name=""/>
        <p:cNvGrpSpPr/>
        <p:nvPr/>
      </p:nvGrpSpPr>
      <p:grpSpPr>
        <a:xfrm xmlns:a="http://schemas.openxmlformats.org/drawingml/2006/main">
          <a:off x="0" y="0"/>
          <a:ext cx="0" cy="0"/>
          <a:chOff x="0" y="0"/>
          <a:chExt cx="0" cy="0"/>
        </a:xfrm>
      </p:grpSpPr>
      <p:sp>
        <p:nvSpPr>
          <p:cNvPr id="1" name="shape-465"/>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466"/>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EL PEDIDO EN CÓDIGO</a:t>
            </a:r>
          </a:p>
        </p:txBody>
      </p:sp>
      <p:sp>
        <p:nvSpPr>
          <p:cNvPr id="3" name="text-467"/>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Enviar una imagen no es enviar su nombre</a:t>
            </a:r>
          </a:p>
        </p:txBody>
      </p:sp>
      <p:sp>
        <p:nvSpPr>
          <p:cNvPr id="4" name="shape-468"/>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469"/>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471"/>
          <p:cNvSpPr>
            <a:spLocks xmlns:a="http://schemas.openxmlformats.org/drawingml/2006/main" noGrp="1"/>
          </p:cNvSpPr>
          <p:nvPr/>
        </p:nvSpPr>
        <p:spPr>
          <a:xfrm xmlns:a="http://schemas.openxmlformats.org/drawingml/2006/main">
            <a:off x="609600" y="6172200"/>
            <a:ext cx="10477500" cy="2095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docs.ollama.com/capabilities/vision</a:t>
            </a:r>
          </a:p>
        </p:txBody>
      </p:sp>
      <p:sp>
        <p:nvSpPr>
          <p:cNvPr id="8" name="text-472"/>
          <p:cNvSpPr>
            <a:spLocks xmlns:a="http://schemas.openxmlformats.org/drawingml/2006/main" noGrp="1"/>
          </p:cNvSpPr>
          <p:nvPr/>
        </p:nvSpPr>
        <p:spPr>
          <a:xfrm xmlns:a="http://schemas.openxmlformats.org/drawingml/2006/main">
            <a:off x="609600" y="2047875"/>
            <a:ext cx="7048500" cy="4000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1">
                <a:solidFill>
                  <a:srgbClr val="2DD5B5"/>
                </a:solidFill>
                <a:latin typeface="Poppins"/>
                <a:ea typeface="Poppins"/>
                <a:cs typeface="Poppins"/>
              </a:defRPr>
            </a:pPr>
            <a:r>
              <a:rPr sz="2025" b="1">
                <a:solidFill>
                  <a:srgbClr val="2DD5B5"/>
                </a:solidFill>
                <a:latin typeface="Poppins"/>
                <a:ea typeface="Poppins"/>
                <a:cs typeface="Poppins"/>
              </a:rPr>
              <a:t>Mensaje para /api/chat</a:t>
            </a:r>
          </a:p>
        </p:txBody>
      </p:sp>
      <p:sp>
        <p:nvSpPr>
          <p:cNvPr id="9" name="text-473"/>
          <p:cNvSpPr>
            <a:spLocks xmlns:a="http://schemas.openxmlformats.org/drawingml/2006/main" noGrp="1"/>
          </p:cNvSpPr>
          <p:nvPr/>
        </p:nvSpPr>
        <p:spPr>
          <a:xfrm xmlns:a="http://schemas.openxmlformats.org/drawingml/2006/main">
            <a:off x="609600" y="2733675"/>
            <a:ext cx="6953250" cy="2476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a:t>
            </a:r>
          </a:p>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  "role": "user",</a:t>
            </a:r>
          </a:p>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  "content": "¿Qué formas ves?",</a:t>
            </a:r>
          </a:p>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  "images": ["JPEG_EN_BASE64"]</a:t>
            </a:r>
          </a:p>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a:t>
            </a:r>
          </a:p>
        </p:txBody>
      </p:sp>
      <p:sp>
        <p:nvSpPr>
          <p:cNvPr id="10" name="text-474"/>
          <p:cNvSpPr>
            <a:spLocks xmlns:a="http://schemas.openxmlformats.org/drawingml/2006/main" noGrp="1"/>
          </p:cNvSpPr>
          <p:nvPr/>
        </p:nvSpPr>
        <p:spPr>
          <a:xfrm xmlns:a="http://schemas.openxmlformats.org/drawingml/2006/main">
            <a:off x="8191500" y="2257425"/>
            <a:ext cx="3238500" cy="6667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BFA0FF"/>
                </a:solidFill>
                <a:latin typeface="Poppins"/>
                <a:ea typeface="Poppins"/>
                <a:cs typeface="Poppins"/>
              </a:defRPr>
            </a:pPr>
            <a:r>
              <a:rPr sz="1875" b="1">
                <a:solidFill>
                  <a:srgbClr val="BFA0FF"/>
                </a:solidFill>
                <a:latin typeface="Poppins"/>
                <a:ea typeface="Poppins"/>
                <a:cs typeface="Poppins"/>
              </a:rPr>
              <a:t>PÍXELES, NO UNA RUTA</a:t>
            </a:r>
          </a:p>
        </p:txBody>
      </p:sp>
      <p:sp>
        <p:nvSpPr>
          <p:cNvPr id="11" name="text-475"/>
          <p:cNvSpPr>
            <a:spLocks xmlns:a="http://schemas.openxmlformats.org/drawingml/2006/main" noGrp="1"/>
          </p:cNvSpPr>
          <p:nvPr/>
        </p:nvSpPr>
        <p:spPr>
          <a:xfrm xmlns:a="http://schemas.openxmlformats.org/drawingml/2006/main">
            <a:off x="8191500" y="3105150"/>
            <a:ext cx="3333750" cy="2428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Reducir imagen</a:t>
            </a:r>
          </a:p>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 </a:t>
            </a:r>
          </a:p>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Codificar JPEG</a:t>
            </a:r>
          </a:p>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 </a:t>
            </a:r>
          </a:p>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Convertir a base64</a:t>
            </a:r>
          </a:p>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 </a:t>
            </a:r>
          </a:p>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Enviar por HTTP</a:t>
            </a:r>
          </a:p>
        </p:txBody>
      </p:sp>
      <p:sp>
        <p:nvSpPr>
          <p:cNvPr id="12" name="text-476"/>
          <p:cNvSpPr>
            <a:spLocks xmlns:a="http://schemas.openxmlformats.org/drawingml/2006/main" noGrp="1"/>
          </p:cNvSpPr>
          <p:nvPr/>
        </p:nvSpPr>
        <p:spPr>
          <a:xfrm xmlns:a="http://schemas.openxmlformats.org/drawingml/2006/main">
            <a:off x="609600" y="5591175"/>
            <a:ext cx="704850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2DD5B5"/>
                </a:solidFill>
                <a:latin typeface="Poppins"/>
                <a:ea typeface="Poppins"/>
                <a:cs typeface="Poppins"/>
              </a:defRPr>
            </a:pPr>
            <a:r>
              <a:rPr sz="1875" b="1">
                <a:solidFill>
                  <a:srgbClr val="2DD5B5"/>
                </a:solidFill>
                <a:latin typeface="Poppins"/>
                <a:ea typeface="Poppins"/>
                <a:cs typeface="Poppins"/>
              </a:rPr>
              <a:t>Respuesta: body.message.content</a:t>
            </a:r>
          </a:p>
        </p:txBody>
      </p:sp>
      <p:sp>
        <p:nvSpPr>
          <p:cNvPr id="13"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19</a:t>
            </a:r>
          </a:p>
        </p:txBody>
      </p:sp>
    </p:spTree>
  </p:cSld>
</p:sld>
</file>

<file path=ppt/slides/slide20.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39" name=""/>
        <p:cNvGrpSpPr/>
        <p:nvPr/>
      </p:nvGrpSpPr>
      <p:grpSpPr>
        <a:xfrm xmlns:a="http://schemas.openxmlformats.org/drawingml/2006/main">
          <a:off x="0" y="0"/>
          <a:ext cx="0" cy="0"/>
          <a:chOff x="0" y="0"/>
          <a:chExt cx="0" cy="0"/>
        </a:xfrm>
      </p:grpSpPr>
      <p:sp>
        <p:nvSpPr>
          <p:cNvPr id="1" name="shape-477"/>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478"/>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INTERACCIÓN Y LATENCIA</a:t>
            </a:r>
          </a:p>
        </p:txBody>
      </p:sp>
      <p:sp>
        <p:nvSpPr>
          <p:cNvPr id="3" name="text-479"/>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La pantalla no debe esperar al modelo</a:t>
            </a:r>
          </a:p>
        </p:txBody>
      </p:sp>
      <p:sp>
        <p:nvSpPr>
          <p:cNvPr id="4" name="shape-480"/>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481"/>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483"/>
          <p:cNvSpPr>
            <a:spLocks xmlns:a="http://schemas.openxmlformats.org/drawingml/2006/main" noGrp="1"/>
          </p:cNvSpPr>
          <p:nvPr/>
        </p:nvSpPr>
        <p:spPr>
          <a:xfrm xmlns:a="http://schemas.openxmlformats.org/drawingml/2006/main">
            <a:off x="609600" y="2238375"/>
            <a:ext cx="2381250" cy="4762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FFFFFF"/>
                </a:solidFill>
                <a:latin typeface="Poppins"/>
                <a:ea typeface="Poppins"/>
                <a:cs typeface="Poppins"/>
              </a:defRPr>
            </a:pPr>
            <a:r>
              <a:rPr sz="2100" b="1">
                <a:solidFill>
                  <a:srgbClr val="FFFFFF"/>
                </a:solidFill>
                <a:latin typeface="Poppins"/>
                <a:ea typeface="Poppins"/>
                <a:cs typeface="Poppins"/>
              </a:rPr>
              <a:t>OF / dibujo</a:t>
            </a:r>
          </a:p>
        </p:txBody>
      </p:sp>
      <p:sp>
        <p:nvSpPr>
          <p:cNvPr id="8" name="shape-484"/>
          <p:cNvSpPr>
            <a:spLocks xmlns:a="http://schemas.openxmlformats.org/drawingml/2006/main" noGrp="1"/>
          </p:cNvSpPr>
          <p:nvPr/>
        </p:nvSpPr>
        <p:spPr>
          <a:xfrm xmlns:a="http://schemas.openxmlformats.org/drawingml/2006/main">
            <a:off x="32385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9" name="shape-485"/>
          <p:cNvSpPr>
            <a:spLocks xmlns:a="http://schemas.openxmlformats.org/drawingml/2006/main" noGrp="1"/>
          </p:cNvSpPr>
          <p:nvPr/>
        </p:nvSpPr>
        <p:spPr>
          <a:xfrm xmlns:a="http://schemas.openxmlformats.org/drawingml/2006/main">
            <a:off x="36004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0" name="shape-486"/>
          <p:cNvSpPr>
            <a:spLocks xmlns:a="http://schemas.openxmlformats.org/drawingml/2006/main" noGrp="1"/>
          </p:cNvSpPr>
          <p:nvPr/>
        </p:nvSpPr>
        <p:spPr>
          <a:xfrm xmlns:a="http://schemas.openxmlformats.org/drawingml/2006/main">
            <a:off x="39624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1" name="shape-487"/>
          <p:cNvSpPr>
            <a:spLocks xmlns:a="http://schemas.openxmlformats.org/drawingml/2006/main" noGrp="1"/>
          </p:cNvSpPr>
          <p:nvPr/>
        </p:nvSpPr>
        <p:spPr>
          <a:xfrm xmlns:a="http://schemas.openxmlformats.org/drawingml/2006/main">
            <a:off x="43243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2" name="shape-488"/>
          <p:cNvSpPr>
            <a:spLocks xmlns:a="http://schemas.openxmlformats.org/drawingml/2006/main" noGrp="1"/>
          </p:cNvSpPr>
          <p:nvPr/>
        </p:nvSpPr>
        <p:spPr>
          <a:xfrm xmlns:a="http://schemas.openxmlformats.org/drawingml/2006/main">
            <a:off x="46863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3" name="shape-489"/>
          <p:cNvSpPr>
            <a:spLocks xmlns:a="http://schemas.openxmlformats.org/drawingml/2006/main" noGrp="1"/>
          </p:cNvSpPr>
          <p:nvPr/>
        </p:nvSpPr>
        <p:spPr>
          <a:xfrm xmlns:a="http://schemas.openxmlformats.org/drawingml/2006/main">
            <a:off x="50482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4" name="shape-490"/>
          <p:cNvSpPr>
            <a:spLocks xmlns:a="http://schemas.openxmlformats.org/drawingml/2006/main" noGrp="1"/>
          </p:cNvSpPr>
          <p:nvPr/>
        </p:nvSpPr>
        <p:spPr>
          <a:xfrm xmlns:a="http://schemas.openxmlformats.org/drawingml/2006/main">
            <a:off x="54102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5" name="shape-491"/>
          <p:cNvSpPr>
            <a:spLocks xmlns:a="http://schemas.openxmlformats.org/drawingml/2006/main" noGrp="1"/>
          </p:cNvSpPr>
          <p:nvPr/>
        </p:nvSpPr>
        <p:spPr>
          <a:xfrm xmlns:a="http://schemas.openxmlformats.org/drawingml/2006/main">
            <a:off x="57721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6" name="shape-492"/>
          <p:cNvSpPr>
            <a:spLocks xmlns:a="http://schemas.openxmlformats.org/drawingml/2006/main" noGrp="1"/>
          </p:cNvSpPr>
          <p:nvPr/>
        </p:nvSpPr>
        <p:spPr>
          <a:xfrm xmlns:a="http://schemas.openxmlformats.org/drawingml/2006/main">
            <a:off x="61341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7" name="shape-493"/>
          <p:cNvSpPr>
            <a:spLocks xmlns:a="http://schemas.openxmlformats.org/drawingml/2006/main" noGrp="1"/>
          </p:cNvSpPr>
          <p:nvPr/>
        </p:nvSpPr>
        <p:spPr>
          <a:xfrm xmlns:a="http://schemas.openxmlformats.org/drawingml/2006/main">
            <a:off x="64960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8" name="shape-494"/>
          <p:cNvSpPr>
            <a:spLocks xmlns:a="http://schemas.openxmlformats.org/drawingml/2006/main" noGrp="1"/>
          </p:cNvSpPr>
          <p:nvPr/>
        </p:nvSpPr>
        <p:spPr>
          <a:xfrm xmlns:a="http://schemas.openxmlformats.org/drawingml/2006/main">
            <a:off x="68580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19" name="shape-495"/>
          <p:cNvSpPr>
            <a:spLocks xmlns:a="http://schemas.openxmlformats.org/drawingml/2006/main" noGrp="1"/>
          </p:cNvSpPr>
          <p:nvPr/>
        </p:nvSpPr>
        <p:spPr>
          <a:xfrm xmlns:a="http://schemas.openxmlformats.org/drawingml/2006/main">
            <a:off x="72199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0" name="shape-496"/>
          <p:cNvSpPr>
            <a:spLocks xmlns:a="http://schemas.openxmlformats.org/drawingml/2006/main" noGrp="1"/>
          </p:cNvSpPr>
          <p:nvPr/>
        </p:nvSpPr>
        <p:spPr>
          <a:xfrm xmlns:a="http://schemas.openxmlformats.org/drawingml/2006/main">
            <a:off x="75819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1" name="shape-497"/>
          <p:cNvSpPr>
            <a:spLocks xmlns:a="http://schemas.openxmlformats.org/drawingml/2006/main" noGrp="1"/>
          </p:cNvSpPr>
          <p:nvPr/>
        </p:nvSpPr>
        <p:spPr>
          <a:xfrm xmlns:a="http://schemas.openxmlformats.org/drawingml/2006/main">
            <a:off x="79438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2" name="shape-498"/>
          <p:cNvSpPr>
            <a:spLocks xmlns:a="http://schemas.openxmlformats.org/drawingml/2006/main" noGrp="1"/>
          </p:cNvSpPr>
          <p:nvPr/>
        </p:nvSpPr>
        <p:spPr>
          <a:xfrm xmlns:a="http://schemas.openxmlformats.org/drawingml/2006/main">
            <a:off x="83058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3" name="shape-499"/>
          <p:cNvSpPr>
            <a:spLocks xmlns:a="http://schemas.openxmlformats.org/drawingml/2006/main" noGrp="1"/>
          </p:cNvSpPr>
          <p:nvPr/>
        </p:nvSpPr>
        <p:spPr>
          <a:xfrm xmlns:a="http://schemas.openxmlformats.org/drawingml/2006/main">
            <a:off x="86677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4" name="shape-500"/>
          <p:cNvSpPr>
            <a:spLocks xmlns:a="http://schemas.openxmlformats.org/drawingml/2006/main" noGrp="1"/>
          </p:cNvSpPr>
          <p:nvPr/>
        </p:nvSpPr>
        <p:spPr>
          <a:xfrm xmlns:a="http://schemas.openxmlformats.org/drawingml/2006/main">
            <a:off x="90297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5" name="shape-501"/>
          <p:cNvSpPr>
            <a:spLocks xmlns:a="http://schemas.openxmlformats.org/drawingml/2006/main" noGrp="1"/>
          </p:cNvSpPr>
          <p:nvPr/>
        </p:nvSpPr>
        <p:spPr>
          <a:xfrm xmlns:a="http://schemas.openxmlformats.org/drawingml/2006/main">
            <a:off x="93916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6" name="shape-502"/>
          <p:cNvSpPr>
            <a:spLocks xmlns:a="http://schemas.openxmlformats.org/drawingml/2006/main" noGrp="1"/>
          </p:cNvSpPr>
          <p:nvPr/>
        </p:nvSpPr>
        <p:spPr>
          <a:xfrm xmlns:a="http://schemas.openxmlformats.org/drawingml/2006/main">
            <a:off x="97536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7" name="shape-503"/>
          <p:cNvSpPr>
            <a:spLocks xmlns:a="http://schemas.openxmlformats.org/drawingml/2006/main" noGrp="1"/>
          </p:cNvSpPr>
          <p:nvPr/>
        </p:nvSpPr>
        <p:spPr>
          <a:xfrm xmlns:a="http://schemas.openxmlformats.org/drawingml/2006/main">
            <a:off x="101155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8" name="shape-504"/>
          <p:cNvSpPr>
            <a:spLocks xmlns:a="http://schemas.openxmlformats.org/drawingml/2006/main" noGrp="1"/>
          </p:cNvSpPr>
          <p:nvPr/>
        </p:nvSpPr>
        <p:spPr>
          <a:xfrm xmlns:a="http://schemas.openxmlformats.org/drawingml/2006/main">
            <a:off x="1047750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9" name="shape-505"/>
          <p:cNvSpPr>
            <a:spLocks xmlns:a="http://schemas.openxmlformats.org/drawingml/2006/main" noGrp="1"/>
          </p:cNvSpPr>
          <p:nvPr/>
        </p:nvSpPr>
        <p:spPr>
          <a:xfrm xmlns:a="http://schemas.openxmlformats.org/drawingml/2006/main">
            <a:off x="10839450" y="2324100"/>
            <a:ext cx="238125" cy="3048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30" name="text-506"/>
          <p:cNvSpPr>
            <a:spLocks xmlns:a="http://schemas.openxmlformats.org/drawingml/2006/main" noGrp="1"/>
          </p:cNvSpPr>
          <p:nvPr/>
        </p:nvSpPr>
        <p:spPr>
          <a:xfrm xmlns:a="http://schemas.openxmlformats.org/drawingml/2006/main">
            <a:off x="609600" y="3486150"/>
            <a:ext cx="2381250" cy="904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FFFFFF"/>
                </a:solidFill>
                <a:latin typeface="Poppins"/>
                <a:ea typeface="Poppins"/>
                <a:cs typeface="Poppins"/>
              </a:defRPr>
            </a:pPr>
            <a:r>
              <a:rPr sz="2100" b="1">
                <a:solidFill>
                  <a:srgbClr val="FFFFFF"/>
                </a:solidFill>
                <a:latin typeface="Poppins"/>
                <a:ea typeface="Poppins"/>
                <a:cs typeface="Poppins"/>
              </a:rPr>
              <a:t>Modelo / inferencia</a:t>
            </a:r>
          </a:p>
        </p:txBody>
      </p:sp>
      <p:sp>
        <p:nvSpPr>
          <p:cNvPr id="31" name="shape-507"/>
          <p:cNvSpPr>
            <a:spLocks xmlns:a="http://schemas.openxmlformats.org/drawingml/2006/main" noGrp="1"/>
          </p:cNvSpPr>
          <p:nvPr/>
        </p:nvSpPr>
        <p:spPr>
          <a:xfrm xmlns:a="http://schemas.openxmlformats.org/drawingml/2006/main">
            <a:off x="3238500" y="3714750"/>
            <a:ext cx="1143000" cy="285750"/>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32" name="shape-508"/>
          <p:cNvSpPr>
            <a:spLocks xmlns:a="http://schemas.openxmlformats.org/drawingml/2006/main" noGrp="1"/>
          </p:cNvSpPr>
          <p:nvPr/>
        </p:nvSpPr>
        <p:spPr>
          <a:xfrm xmlns:a="http://schemas.openxmlformats.org/drawingml/2006/main">
            <a:off x="4381500" y="3714750"/>
            <a:ext cx="5048250" cy="285750"/>
          </a:xfrm>
          <a:prstGeom xmlns:a="http://schemas.openxmlformats.org/drawingml/2006/main" prst="rect">
            <a:avLst/>
          </a:prstGeom>
          <a:solidFill xmlns:a="http://schemas.openxmlformats.org/drawingml/2006/main">
            <a:srgbClr val="473074"/>
          </a:solidFill>
          <a:ln xmlns:a="http://schemas.openxmlformats.org/drawingml/2006/main" w="0">
            <a:noFill/>
            <a:prstDash val="solid"/>
          </a:ln>
        </p:spPr>
      </p:sp>
      <p:sp>
        <p:nvSpPr>
          <p:cNvPr id="33" name="shape-509"/>
          <p:cNvSpPr>
            <a:spLocks xmlns:a="http://schemas.openxmlformats.org/drawingml/2006/main" noGrp="1"/>
          </p:cNvSpPr>
          <p:nvPr/>
        </p:nvSpPr>
        <p:spPr>
          <a:xfrm xmlns:a="http://schemas.openxmlformats.org/drawingml/2006/main">
            <a:off x="9429750" y="3714750"/>
            <a:ext cx="1809750" cy="285750"/>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34" name="text-510"/>
          <p:cNvSpPr>
            <a:spLocks xmlns:a="http://schemas.openxmlformats.org/drawingml/2006/main" noGrp="1"/>
          </p:cNvSpPr>
          <p:nvPr/>
        </p:nvSpPr>
        <p:spPr>
          <a:xfrm xmlns:a="http://schemas.openxmlformats.org/drawingml/2006/main">
            <a:off x="3238500" y="4267200"/>
            <a:ext cx="2000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D0C9DB"/>
                </a:solidFill>
                <a:latin typeface="Poppins"/>
                <a:ea typeface="Poppins"/>
                <a:cs typeface="Poppins"/>
              </a:defRPr>
            </a:pPr>
            <a:r>
              <a:rPr sz="1650" b="0">
                <a:solidFill>
                  <a:srgbClr val="D0C9DB"/>
                </a:solidFill>
                <a:latin typeface="Poppins"/>
                <a:ea typeface="Poppins"/>
                <a:cs typeface="Poppins"/>
              </a:rPr>
              <a:t>Captura</a:t>
            </a:r>
          </a:p>
        </p:txBody>
      </p:sp>
      <p:sp>
        <p:nvSpPr>
          <p:cNvPr id="35" name="text-511"/>
          <p:cNvSpPr>
            <a:spLocks xmlns:a="http://schemas.openxmlformats.org/drawingml/2006/main" noGrp="1"/>
          </p:cNvSpPr>
          <p:nvPr/>
        </p:nvSpPr>
        <p:spPr>
          <a:xfrm xmlns:a="http://schemas.openxmlformats.org/drawingml/2006/main">
            <a:off x="5353050" y="4267200"/>
            <a:ext cx="323850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D0C9DB"/>
                </a:solidFill>
                <a:latin typeface="Poppins"/>
                <a:ea typeface="Poppins"/>
                <a:cs typeface="Poppins"/>
              </a:defRPr>
            </a:pPr>
            <a:r>
              <a:rPr sz="1650" b="0">
                <a:solidFill>
                  <a:srgbClr val="D0C9DB"/>
                </a:solidFill>
                <a:latin typeface="Poppins"/>
                <a:ea typeface="Poppins"/>
                <a:cs typeface="Poppins"/>
              </a:rPr>
              <a:t>Espera HTTP</a:t>
            </a:r>
          </a:p>
        </p:txBody>
      </p:sp>
      <p:sp>
        <p:nvSpPr>
          <p:cNvPr id="36" name="text-512"/>
          <p:cNvSpPr>
            <a:spLocks xmlns:a="http://schemas.openxmlformats.org/drawingml/2006/main" noGrp="1"/>
          </p:cNvSpPr>
          <p:nvPr/>
        </p:nvSpPr>
        <p:spPr>
          <a:xfrm xmlns:a="http://schemas.openxmlformats.org/drawingml/2006/main">
            <a:off x="9448800" y="4267200"/>
            <a:ext cx="209550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D0C9DB"/>
                </a:solidFill>
                <a:latin typeface="Poppins"/>
                <a:ea typeface="Poppins"/>
                <a:cs typeface="Poppins"/>
              </a:defRPr>
            </a:pPr>
            <a:r>
              <a:rPr sz="1650" b="0">
                <a:solidFill>
                  <a:srgbClr val="D0C9DB"/>
                </a:solidFill>
                <a:latin typeface="Poppins"/>
                <a:ea typeface="Poppins"/>
                <a:cs typeface="Poppins"/>
              </a:rPr>
              <a:t>Respuesta</a:t>
            </a:r>
          </a:p>
        </p:txBody>
      </p:sp>
      <p:sp>
        <p:nvSpPr>
          <p:cNvPr id="37" name="text-513"/>
          <p:cNvSpPr>
            <a:spLocks xmlns:a="http://schemas.openxmlformats.org/drawingml/2006/main" noGrp="1"/>
          </p:cNvSpPr>
          <p:nvPr/>
        </p:nvSpPr>
        <p:spPr>
          <a:xfrm xmlns:a="http://schemas.openxmlformats.org/drawingml/2006/main">
            <a:off x="609600" y="5429250"/>
            <a:ext cx="108585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250" b="1">
                <a:solidFill>
                  <a:srgbClr val="FFFFFF"/>
                </a:solidFill>
                <a:latin typeface="Poppins"/>
                <a:ea typeface="Poppins"/>
                <a:cs typeface="Poppins"/>
              </a:defRPr>
            </a:pPr>
            <a:r>
              <a:rPr sz="2250" b="1">
                <a:solidFill>
                  <a:srgbClr val="FFFFFF"/>
                </a:solidFill>
                <a:latin typeface="Poppins"/>
                <a:ea typeface="Poppins"/>
                <a:cs typeface="Poppins"/>
              </a:rPr>
              <a:t>Una petición por interacción. La animación continúa.</a:t>
            </a:r>
          </a:p>
        </p:txBody>
      </p:sp>
      <p:sp>
        <p:nvSpPr>
          <p:cNvPr id="38"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20</a:t>
            </a:r>
          </a:p>
        </p:txBody>
      </p:sp>
    </p:spTree>
  </p:cSld>
</p:sld>
</file>

<file path=ppt/slides/slide21.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3" name=""/>
        <p:cNvGrpSpPr/>
        <p:nvPr/>
      </p:nvGrpSpPr>
      <p:grpSpPr>
        <a:xfrm xmlns:a="http://schemas.openxmlformats.org/drawingml/2006/main">
          <a:off x="0" y="0"/>
          <a:ext cx="0" cy="0"/>
          <a:chOff x="0" y="0"/>
          <a:chExt cx="0" cy="0"/>
        </a:xfrm>
      </p:grpSpPr>
      <p:sp>
        <p:nvSpPr>
          <p:cNvPr id="1" name="shape-514"/>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515"/>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GPU / CPU</a:t>
            </a:r>
          </a:p>
        </p:txBody>
      </p:sp>
      <p:sp>
        <p:nvSpPr>
          <p:cNvPr id="3" name="text-516"/>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Cada motor decide dónde puede ejecutar</a:t>
            </a:r>
          </a:p>
        </p:txBody>
      </p:sp>
      <p:sp>
        <p:nvSpPr>
          <p:cNvPr id="4" name="shape-517"/>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518"/>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520"/>
          <p:cNvSpPr>
            <a:spLocks xmlns:a="http://schemas.openxmlformats.org/drawingml/2006/main" noGrp="1"/>
          </p:cNvSpPr>
          <p:nvPr/>
        </p:nvSpPr>
        <p:spPr>
          <a:xfrm xmlns:a="http://schemas.openxmlformats.org/drawingml/2006/main">
            <a:off x="609600" y="2076450"/>
            <a:ext cx="52387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2DD5B5"/>
                </a:solidFill>
                <a:latin typeface="Poppins"/>
                <a:ea typeface="Poppins"/>
                <a:cs typeface="Poppins"/>
              </a:defRPr>
            </a:pPr>
            <a:r>
              <a:rPr sz="1875" b="1">
                <a:solidFill>
                  <a:srgbClr val="2DD5B5"/>
                </a:solidFill>
                <a:latin typeface="Poppins"/>
                <a:ea typeface="Poppins"/>
                <a:cs typeface="Poppins"/>
              </a:rPr>
              <a:t>ViT · PYTORCH</a:t>
            </a:r>
          </a:p>
        </p:txBody>
      </p:sp>
      <p:sp>
        <p:nvSpPr>
          <p:cNvPr id="8" name="text-521"/>
          <p:cNvSpPr>
            <a:spLocks xmlns:a="http://schemas.openxmlformats.org/drawingml/2006/main" noGrp="1"/>
          </p:cNvSpPr>
          <p:nvPr/>
        </p:nvSpPr>
        <p:spPr>
          <a:xfrm xmlns:a="http://schemas.openxmlformats.org/drawingml/2006/main">
            <a:off x="6515100" y="2076450"/>
            <a:ext cx="5048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1">
                <a:solidFill>
                  <a:srgbClr val="BFA0FF"/>
                </a:solidFill>
                <a:latin typeface="Poppins"/>
                <a:ea typeface="Poppins"/>
                <a:cs typeface="Poppins"/>
              </a:defRPr>
            </a:pPr>
            <a:r>
              <a:rPr sz="1875" b="1">
                <a:solidFill>
                  <a:srgbClr val="BFA0FF"/>
                </a:solidFill>
                <a:latin typeface="Poppins"/>
                <a:ea typeface="Poppins"/>
                <a:cs typeface="Poppins"/>
              </a:rPr>
              <a:t>Qwen3-VL · OLLAMA</a:t>
            </a:r>
          </a:p>
        </p:txBody>
      </p:sp>
      <p:sp>
        <p:nvSpPr>
          <p:cNvPr id="9" name="text-522"/>
          <p:cNvSpPr>
            <a:spLocks xmlns:a="http://schemas.openxmlformats.org/drawingml/2006/main" noGrp="1"/>
          </p:cNvSpPr>
          <p:nvPr/>
        </p:nvSpPr>
        <p:spPr>
          <a:xfrm xmlns:a="http://schemas.openxmlformats.org/drawingml/2006/main">
            <a:off x="609600" y="2857500"/>
            <a:ext cx="5238750" cy="2447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CUDA si está disponible</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Metal/MPS en Mac compatible</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CPU si no hay aceleración viable</a:t>
            </a:r>
          </a:p>
        </p:txBody>
      </p:sp>
      <p:sp>
        <p:nvSpPr>
          <p:cNvPr id="10" name="text-523"/>
          <p:cNvSpPr>
            <a:spLocks xmlns:a="http://schemas.openxmlformats.org/drawingml/2006/main" noGrp="1"/>
          </p:cNvSpPr>
          <p:nvPr/>
        </p:nvSpPr>
        <p:spPr>
          <a:xfrm xmlns:a="http://schemas.openxmlformats.org/drawingml/2006/main">
            <a:off x="6515100" y="2857500"/>
            <a:ext cx="5048250" cy="24479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Gestiona sus propios pesos</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Puede usar GPU, CPU o ambas</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 </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No usa el PyTorch del servidor ViT</a:t>
            </a:r>
          </a:p>
        </p:txBody>
      </p:sp>
      <p:sp>
        <p:nvSpPr>
          <p:cNvPr id="11" name="text-524"/>
          <p:cNvSpPr>
            <a:spLocks xmlns:a="http://schemas.openxmlformats.org/drawingml/2006/main" noGrp="1"/>
          </p:cNvSpPr>
          <p:nvPr/>
        </p:nvSpPr>
        <p:spPr>
          <a:xfrm xmlns:a="http://schemas.openxmlformats.org/drawingml/2006/main">
            <a:off x="609600" y="5600700"/>
            <a:ext cx="10953750" cy="4953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0">
                <a:solidFill>
                  <a:srgbClr val="D0C9DB"/>
                </a:solidFill>
                <a:latin typeface="Poppins"/>
                <a:ea typeface="Poppins"/>
                <a:cs typeface="Poppins"/>
              </a:defRPr>
            </a:pPr>
            <a:r>
              <a:rPr sz="1725" b="0">
                <a:solidFill>
                  <a:srgbClr val="D0C9DB"/>
                </a:solidFill>
                <a:latin typeface="Poppins"/>
                <a:ea typeface="Poppins"/>
                <a:cs typeface="Poppins"/>
              </a:rPr>
              <a:t>Mismo protocolo desde OF; tiempos y memoria distintos según el equipo.</a:t>
            </a:r>
          </a:p>
        </p:txBody>
      </p:sp>
      <p:sp>
        <p:nvSpPr>
          <p:cNvPr id="12"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21</a:t>
            </a:r>
          </a:p>
        </p:txBody>
      </p:sp>
    </p:spTree>
  </p:cSld>
</p:sld>
</file>

<file path=ppt/slides/slide22.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8" name=""/>
        <p:cNvGrpSpPr/>
        <p:nvPr/>
      </p:nvGrpSpPr>
      <p:grpSpPr>
        <a:xfrm xmlns:a="http://schemas.openxmlformats.org/drawingml/2006/main">
          <a:off x="0" y="0"/>
          <a:ext cx="0" cy="0"/>
          <a:chOff x="0" y="0"/>
          <a:chExt cx="0" cy="0"/>
        </a:xfrm>
      </p:grpSpPr>
      <p:sp>
        <p:nvSpPr>
          <p:cNvPr id="1" name="shape-525"/>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526"/>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INSTALACIÓN OPCIONAL</a:t>
            </a:r>
          </a:p>
        </p:txBody>
      </p:sp>
      <p:sp>
        <p:nvSpPr>
          <p:cNvPr id="3" name="text-527"/>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Un modificador agrega los dos modelos</a:t>
            </a:r>
          </a:p>
        </p:txBody>
      </p:sp>
      <p:sp>
        <p:nvSpPr>
          <p:cNvPr id="4" name="shape-528"/>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529"/>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531"/>
          <p:cNvSpPr>
            <a:spLocks xmlns:a="http://schemas.openxmlformats.org/drawingml/2006/main" noGrp="1"/>
          </p:cNvSpPr>
          <p:nvPr/>
        </p:nvSpPr>
        <p:spPr>
          <a:xfrm xmlns:a="http://schemas.openxmlformats.org/drawingml/2006/main">
            <a:off x="609600" y="2181225"/>
            <a:ext cx="2190750" cy="523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2DD5B5"/>
                </a:solidFill>
                <a:latin typeface="Poppins"/>
                <a:ea typeface="Poppins"/>
                <a:cs typeface="Poppins"/>
              </a:defRPr>
            </a:pPr>
            <a:r>
              <a:rPr sz="2100" b="1">
                <a:solidFill>
                  <a:srgbClr val="2DD5B5"/>
                </a:solidFill>
                <a:latin typeface="Poppins"/>
                <a:ea typeface="Poppins"/>
                <a:cs typeface="Poppins"/>
              </a:rPr>
              <a:t>macOS</a:t>
            </a:r>
          </a:p>
        </p:txBody>
      </p:sp>
      <p:sp>
        <p:nvSpPr>
          <p:cNvPr id="8" name="text-532"/>
          <p:cNvSpPr>
            <a:spLocks xmlns:a="http://schemas.openxmlformats.org/drawingml/2006/main" noGrp="1"/>
          </p:cNvSpPr>
          <p:nvPr/>
        </p:nvSpPr>
        <p:spPr>
          <a:xfrm xmlns:a="http://schemas.openxmlformats.org/drawingml/2006/main">
            <a:off x="3019425" y="2181225"/>
            <a:ext cx="84963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bash install_env_mac.command --vision</a:t>
            </a:r>
          </a:p>
        </p:txBody>
      </p:sp>
      <p:sp>
        <p:nvSpPr>
          <p:cNvPr id="9" name="shape-533"/>
          <p:cNvSpPr>
            <a:spLocks xmlns:a="http://schemas.openxmlformats.org/drawingml/2006/main" noGrp="1"/>
          </p:cNvSpPr>
          <p:nvPr/>
        </p:nvSpPr>
        <p:spPr>
          <a:xfrm xmlns:a="http://schemas.openxmlformats.org/drawingml/2006/main">
            <a:off x="609600" y="294322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0" name="text-534"/>
          <p:cNvSpPr>
            <a:spLocks xmlns:a="http://schemas.openxmlformats.org/drawingml/2006/main" noGrp="1"/>
          </p:cNvSpPr>
          <p:nvPr/>
        </p:nvSpPr>
        <p:spPr>
          <a:xfrm xmlns:a="http://schemas.openxmlformats.org/drawingml/2006/main">
            <a:off x="609600" y="3190875"/>
            <a:ext cx="2190750" cy="523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2DD5B5"/>
                </a:solidFill>
                <a:latin typeface="Poppins"/>
                <a:ea typeface="Poppins"/>
                <a:cs typeface="Poppins"/>
              </a:defRPr>
            </a:pPr>
            <a:r>
              <a:rPr sz="2100" b="1">
                <a:solidFill>
                  <a:srgbClr val="2DD5B5"/>
                </a:solidFill>
                <a:latin typeface="Poppins"/>
                <a:ea typeface="Poppins"/>
                <a:cs typeface="Poppins"/>
              </a:rPr>
              <a:t>Linux</a:t>
            </a:r>
          </a:p>
        </p:txBody>
      </p:sp>
      <p:sp>
        <p:nvSpPr>
          <p:cNvPr id="11" name="text-535"/>
          <p:cNvSpPr>
            <a:spLocks xmlns:a="http://schemas.openxmlformats.org/drawingml/2006/main" noGrp="1"/>
          </p:cNvSpPr>
          <p:nvPr/>
        </p:nvSpPr>
        <p:spPr>
          <a:xfrm xmlns:a="http://schemas.openxmlformats.org/drawingml/2006/main">
            <a:off x="3019425" y="3190875"/>
            <a:ext cx="84963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bash install_env_linux.sh --vision</a:t>
            </a:r>
          </a:p>
        </p:txBody>
      </p:sp>
      <p:sp>
        <p:nvSpPr>
          <p:cNvPr id="12" name="shape-536"/>
          <p:cNvSpPr>
            <a:spLocks xmlns:a="http://schemas.openxmlformats.org/drawingml/2006/main" noGrp="1"/>
          </p:cNvSpPr>
          <p:nvPr/>
        </p:nvSpPr>
        <p:spPr>
          <a:xfrm xmlns:a="http://schemas.openxmlformats.org/drawingml/2006/main">
            <a:off x="609600" y="395287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3" name="text-537"/>
          <p:cNvSpPr>
            <a:spLocks xmlns:a="http://schemas.openxmlformats.org/drawingml/2006/main" noGrp="1"/>
          </p:cNvSpPr>
          <p:nvPr/>
        </p:nvSpPr>
        <p:spPr>
          <a:xfrm xmlns:a="http://schemas.openxmlformats.org/drawingml/2006/main">
            <a:off x="609600" y="4200525"/>
            <a:ext cx="2190750" cy="523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BFA0FF"/>
                </a:solidFill>
                <a:latin typeface="Poppins"/>
                <a:ea typeface="Poppins"/>
                <a:cs typeface="Poppins"/>
              </a:defRPr>
            </a:pPr>
            <a:r>
              <a:rPr sz="2100" b="1">
                <a:solidFill>
                  <a:srgbClr val="BFA0FF"/>
                </a:solidFill>
                <a:latin typeface="Poppins"/>
                <a:ea typeface="Poppins"/>
                <a:cs typeface="Poppins"/>
              </a:rPr>
              <a:t>Windows</a:t>
            </a:r>
          </a:p>
        </p:txBody>
      </p:sp>
      <p:sp>
        <p:nvSpPr>
          <p:cNvPr id="14" name="text-538"/>
          <p:cNvSpPr>
            <a:spLocks xmlns:a="http://schemas.openxmlformats.org/drawingml/2006/main" noGrp="1"/>
          </p:cNvSpPr>
          <p:nvPr/>
        </p:nvSpPr>
        <p:spPr>
          <a:xfrm xmlns:a="http://schemas.openxmlformats.org/drawingml/2006/main">
            <a:off x="3019425" y="4200525"/>
            <a:ext cx="8496300"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025" b="0">
                <a:solidFill>
                  <a:srgbClr val="FFFFFF"/>
                </a:solidFill>
                <a:latin typeface="Poppins"/>
                <a:ea typeface="Poppins"/>
                <a:cs typeface="Poppins"/>
              </a:defRPr>
            </a:pPr>
            <a:r>
              <a:rPr sz="2025" b="0">
                <a:solidFill>
                  <a:srgbClr val="FFFFFF"/>
                </a:solidFill>
                <a:latin typeface="Poppins"/>
                <a:ea typeface="Poppins"/>
                <a:cs typeface="Poppins"/>
              </a:rPr>
              <a:t>install_env_windows.cmd -Vision</a:t>
            </a:r>
          </a:p>
        </p:txBody>
      </p:sp>
      <p:sp>
        <p:nvSpPr>
          <p:cNvPr id="15" name="shape-539"/>
          <p:cNvSpPr>
            <a:spLocks xmlns:a="http://schemas.openxmlformats.org/drawingml/2006/main" noGrp="1"/>
          </p:cNvSpPr>
          <p:nvPr/>
        </p:nvSpPr>
        <p:spPr>
          <a:xfrm xmlns:a="http://schemas.openxmlformats.org/drawingml/2006/main">
            <a:off x="609600" y="4962525"/>
            <a:ext cx="10972800" cy="9525"/>
          </a:xfrm>
          <a:prstGeom xmlns:a="http://schemas.openxmlformats.org/drawingml/2006/main" prst="rect">
            <a:avLst/>
          </a:prstGeom>
          <a:solidFill xmlns:a="http://schemas.openxmlformats.org/drawingml/2006/main">
            <a:srgbClr val="695083"/>
          </a:solidFill>
          <a:ln xmlns:a="http://schemas.openxmlformats.org/drawingml/2006/main" w="0">
            <a:noFill/>
            <a:prstDash val="solid"/>
          </a:ln>
        </p:spPr>
      </p:sp>
      <p:sp>
        <p:nvSpPr>
          <p:cNvPr id="16" name="text-540"/>
          <p:cNvSpPr>
            <a:spLocks xmlns:a="http://schemas.openxmlformats.org/drawingml/2006/main" noGrp="1"/>
          </p:cNvSpPr>
          <p:nvPr/>
        </p:nvSpPr>
        <p:spPr>
          <a:xfrm xmlns:a="http://schemas.openxmlformats.org/drawingml/2006/main">
            <a:off x="609600" y="5486400"/>
            <a:ext cx="10858500" cy="6191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BFA0FF"/>
                </a:solidFill>
                <a:latin typeface="Poppins"/>
                <a:ea typeface="Poppins"/>
                <a:cs typeface="Poppins"/>
              </a:defRPr>
            </a:pPr>
            <a:r>
              <a:rPr sz="2100" b="1">
                <a:solidFill>
                  <a:srgbClr val="BFA0FF"/>
                </a:solidFill>
                <a:latin typeface="Poppins"/>
                <a:ea typeface="Poppins"/>
                <a:cs typeface="Poppins"/>
              </a:rPr>
              <a:t>.venv-vision separado · pesos locales · sin API key</a:t>
            </a:r>
          </a:p>
        </p:txBody>
      </p:sp>
      <p:sp>
        <p:nvSpPr>
          <p:cNvPr id="17"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22</a:t>
            </a:r>
          </a:p>
        </p:txBody>
      </p:sp>
    </p:spTree>
  </p:cSld>
</p:sld>
</file>

<file path=ppt/slides/slide23.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3" name=""/>
        <p:cNvGrpSpPr/>
        <p:nvPr/>
      </p:nvGrpSpPr>
      <p:grpSpPr>
        <a:xfrm xmlns:a="http://schemas.openxmlformats.org/drawingml/2006/main">
          <a:off x="0" y="0"/>
          <a:ext cx="0" cy="0"/>
          <a:chOff x="0" y="0"/>
          <a:chExt cx="0" cy="0"/>
        </a:xfrm>
      </p:grpSpPr>
      <p:sp>
        <p:nvSpPr>
          <p:cNvPr id="1" name="shape-541"/>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542"/>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PROJECT GENERATOR</a:t>
            </a:r>
          </a:p>
        </p:txBody>
      </p:sp>
      <p:sp>
        <p:nvSpPr>
          <p:cNvPr id="3" name="text-543"/>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Importar dos proyectos; reutilizar el addon</a:t>
            </a:r>
          </a:p>
        </p:txBody>
      </p:sp>
      <p:sp>
        <p:nvSpPr>
          <p:cNvPr id="4" name="shape-544"/>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545"/>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547"/>
          <p:cNvSpPr>
            <a:spLocks xmlns:a="http://schemas.openxmlformats.org/drawingml/2006/main" noGrp="1"/>
          </p:cNvSpPr>
          <p:nvPr/>
        </p:nvSpPr>
        <p:spPr>
          <a:xfrm xmlns:a="http://schemas.openxmlformats.org/drawingml/2006/main">
            <a:off x="609600" y="1971675"/>
            <a:ext cx="5238750" cy="3810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2DD5B5"/>
                </a:solidFill>
                <a:latin typeface="Poppins"/>
                <a:ea typeface="Poppins"/>
                <a:cs typeface="Poppins"/>
              </a:defRPr>
            </a:pPr>
            <a:r>
              <a:rPr sz="1725" b="1">
                <a:solidFill>
                  <a:srgbClr val="2DD5B5"/>
                </a:solidFill>
                <a:latin typeface="Poppins"/>
                <a:ea typeface="Poppins"/>
                <a:cs typeface="Poppins"/>
              </a:rPr>
              <a:t>COPIAR</a:t>
            </a:r>
          </a:p>
        </p:txBody>
      </p:sp>
      <p:sp>
        <p:nvSpPr>
          <p:cNvPr id="8" name="text-548"/>
          <p:cNvSpPr>
            <a:spLocks xmlns:a="http://schemas.openxmlformats.org/drawingml/2006/main" noGrp="1"/>
          </p:cNvSpPr>
          <p:nvPr/>
        </p:nvSpPr>
        <p:spPr>
          <a:xfrm xmlns:a="http://schemas.openxmlformats.org/drawingml/2006/main">
            <a:off x="609600" y="2628900"/>
            <a:ext cx="5619750" cy="15621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ofxLocalLLM → OF/addons/</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visionViT → OF/apps/myApps/</a:t>
            </a:r>
          </a:p>
          <a:p xmlns:a="http://schemas.openxmlformats.org/drawingml/2006/main">
            <a:pPr>
              <a:buNone/>
              <a:defRPr sz="1875" b="0">
                <a:solidFill>
                  <a:srgbClr val="FFFFFF"/>
                </a:solidFill>
                <a:latin typeface="Poppins"/>
                <a:ea typeface="Poppins"/>
                <a:cs typeface="Poppins"/>
              </a:defRPr>
            </a:pPr>
            <a:r>
              <a:rPr sz="1875" b="0">
                <a:solidFill>
                  <a:srgbClr val="FFFFFF"/>
                </a:solidFill>
                <a:latin typeface="Poppins"/>
                <a:ea typeface="Poppins"/>
                <a:cs typeface="Poppins"/>
              </a:rPr>
              <a:t>visionChat → OF/apps/myApps/</a:t>
            </a:r>
          </a:p>
        </p:txBody>
      </p:sp>
      <p:sp>
        <p:nvSpPr>
          <p:cNvPr id="9" name="text-549"/>
          <p:cNvSpPr>
            <a:spLocks xmlns:a="http://schemas.openxmlformats.org/drawingml/2006/main" noGrp="1"/>
          </p:cNvSpPr>
          <p:nvPr/>
        </p:nvSpPr>
        <p:spPr>
          <a:xfrm xmlns:a="http://schemas.openxmlformats.org/drawingml/2006/main">
            <a:off x="6781800" y="1971675"/>
            <a:ext cx="4762500" cy="3810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BFA0FF"/>
                </a:solidFill>
                <a:latin typeface="Poppins"/>
                <a:ea typeface="Poppins"/>
                <a:cs typeface="Poppins"/>
              </a:defRPr>
            </a:pPr>
            <a:r>
              <a:rPr sz="1725" b="1">
                <a:solidFill>
                  <a:srgbClr val="BFA0FF"/>
                </a:solidFill>
                <a:latin typeface="Poppins"/>
                <a:ea typeface="Poppins"/>
                <a:cs typeface="Poppins"/>
              </a:rPr>
              <a:t>IMPORTAR Y ACTUALIZAR</a:t>
            </a:r>
          </a:p>
        </p:txBody>
      </p:sp>
      <p:sp>
        <p:nvSpPr>
          <p:cNvPr id="10" name="text-550"/>
          <p:cNvSpPr>
            <a:spLocks xmlns:a="http://schemas.openxmlformats.org/drawingml/2006/main" noGrp="1"/>
          </p:cNvSpPr>
          <p:nvPr/>
        </p:nvSpPr>
        <p:spPr>
          <a:xfrm xmlns:a="http://schemas.openxmlformats.org/drawingml/2006/main">
            <a:off x="6781800" y="2628900"/>
            <a:ext cx="4714875" cy="1952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650" b="0">
                <a:solidFill>
                  <a:srgbClr val="FFFFFF"/>
                </a:solidFill>
                <a:latin typeface="Poppins"/>
                <a:ea typeface="Poppins"/>
                <a:cs typeface="Poppins"/>
              </a:defRPr>
            </a:pPr>
            <a:r>
              <a:rPr sz="1650" b="0">
                <a:solidFill>
                  <a:srgbClr val="FFFFFF"/>
                </a:solidFill>
                <a:latin typeface="Poppins"/>
                <a:ea typeface="Poppins"/>
                <a:cs typeface="Poppins"/>
              </a:rPr>
              <a:t>Project path: OF/apps/myApps</a:t>
            </a:r>
          </a:p>
          <a:p xmlns:a="http://schemas.openxmlformats.org/drawingml/2006/main">
            <a:pPr>
              <a:buNone/>
              <a:defRPr sz="1650" b="0">
                <a:solidFill>
                  <a:srgbClr val="FFFFFF"/>
                </a:solidFill>
                <a:latin typeface="Poppins"/>
                <a:ea typeface="Poppins"/>
                <a:cs typeface="Poppins"/>
              </a:defRPr>
            </a:pPr>
            <a:r>
              <a:rPr sz="1650" b="0">
                <a:solidFill>
                  <a:srgbClr val="FFFFFF"/>
                </a:solidFill>
                <a:latin typeface="Poppins"/>
                <a:ea typeface="Poppins"/>
                <a:cs typeface="Poppins"/>
              </a:rPr>
              <a:t>Project name: nombre del ejemplo</a:t>
            </a:r>
          </a:p>
          <a:p xmlns:a="http://schemas.openxmlformats.org/drawingml/2006/main">
            <a:pPr>
              <a:buNone/>
              <a:defRPr sz="1650" b="0">
                <a:solidFill>
                  <a:srgbClr val="FFFFFF"/>
                </a:solidFill>
                <a:latin typeface="Poppins"/>
                <a:ea typeface="Poppins"/>
                <a:cs typeface="Poppins"/>
              </a:defRPr>
            </a:pPr>
            <a:r>
              <a:rPr sz="1650" b="0">
                <a:solidFill>
                  <a:srgbClr val="FFFFFF"/>
                </a:solidFill>
                <a:latin typeface="Poppins"/>
                <a:ea typeface="Poppins"/>
                <a:cs typeface="Poppins"/>
              </a:rPr>
              <a:t>Addon: ofxLocalLLM</a:t>
            </a:r>
          </a:p>
          <a:p xmlns:a="http://schemas.openxmlformats.org/drawingml/2006/main">
            <a:pPr>
              <a:buNone/>
              <a:defRPr sz="1650" b="0">
                <a:solidFill>
                  <a:srgbClr val="FFFFFF"/>
                </a:solidFill>
                <a:latin typeface="Poppins"/>
                <a:ea typeface="Poppins"/>
                <a:cs typeface="Poppins"/>
              </a:defRPr>
            </a:pPr>
            <a:r>
              <a:rPr sz="1650" b="0">
                <a:solidFill>
                  <a:srgbClr val="FFFFFF"/>
                </a:solidFill>
                <a:latin typeface="Poppins"/>
                <a:ea typeface="Poppins"/>
                <a:cs typeface="Poppins"/>
              </a:rPr>
              <a:t>Additional source paths: vacío</a:t>
            </a:r>
          </a:p>
        </p:txBody>
      </p:sp>
      <p:sp>
        <p:nvSpPr>
          <p:cNvPr id="11" name="text-551"/>
          <p:cNvSpPr>
            <a:spLocks xmlns:a="http://schemas.openxmlformats.org/drawingml/2006/main" noGrp="1"/>
          </p:cNvSpPr>
          <p:nvPr/>
        </p:nvSpPr>
        <p:spPr>
          <a:xfrm xmlns:a="http://schemas.openxmlformats.org/drawingml/2006/main">
            <a:off x="609600" y="5057775"/>
            <a:ext cx="10858500" cy="904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950" b="0">
                <a:solidFill>
                  <a:srgbClr val="D0C9DB"/>
                </a:solidFill>
                <a:latin typeface="Poppins"/>
                <a:ea typeface="Poppins"/>
                <a:cs typeface="Poppins"/>
              </a:defRPr>
            </a:pPr>
            <a:r>
              <a:rPr sz="1950" b="0">
                <a:solidFill>
                  <a:srgbClr val="D0C9DB"/>
                </a:solidFill>
                <a:latin typeface="Poppins"/>
                <a:ea typeface="Poppins"/>
                <a:cs typeface="Poppins"/>
              </a:rPr>
              <a:t>ViT: abrir start_vision del sistema.</a:t>
            </a:r>
          </a:p>
          <a:p xmlns:a="http://schemas.openxmlformats.org/drawingml/2006/main">
            <a:pPr>
              <a:buNone/>
              <a:defRPr sz="1950" b="0">
                <a:solidFill>
                  <a:srgbClr val="D0C9DB"/>
                </a:solidFill>
                <a:latin typeface="Poppins"/>
                <a:ea typeface="Poppins"/>
                <a:cs typeface="Poppins"/>
              </a:defRPr>
            </a:pPr>
            <a:r>
              <a:rPr sz="1950" b="0">
                <a:solidFill>
                  <a:srgbClr val="D0C9DB"/>
                </a:solidFill>
                <a:latin typeface="Poppins"/>
                <a:ea typeface="Poppins"/>
                <a:cs typeface="Poppins"/>
              </a:rPr>
              <a:t>Multimodal: mantener Ollama abierto.</a:t>
            </a:r>
          </a:p>
        </p:txBody>
      </p:sp>
      <p:sp>
        <p:nvSpPr>
          <p:cNvPr id="12"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23</a:t>
            </a:r>
          </a:p>
        </p:txBody>
      </p:sp>
    </p:spTree>
  </p:cSld>
</p:sld>
</file>

<file path=ppt/slides/slide24.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8" name=""/>
        <p:cNvGrpSpPr/>
        <p:nvPr/>
      </p:nvGrpSpPr>
      <p:grpSpPr>
        <a:xfrm xmlns:a="http://schemas.openxmlformats.org/drawingml/2006/main">
          <a:off x="0" y="0"/>
          <a:ext cx="0" cy="0"/>
          <a:chOff x="0" y="0"/>
          <a:chExt cx="0" cy="0"/>
        </a:xfrm>
      </p:grpSpPr>
      <p:sp>
        <p:nvSpPr>
          <p:cNvPr id="1" name="shape-552"/>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553"/>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CONSIGNA DE TALLER</a:t>
            </a:r>
          </a:p>
        </p:txBody>
      </p:sp>
      <p:sp>
        <p:nvSpPr>
          <p:cNvPr id="3" name="text-554"/>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Transformen la respuesta en una decisión propia</a:t>
            </a:r>
          </a:p>
        </p:txBody>
      </p:sp>
      <p:sp>
        <p:nvSpPr>
          <p:cNvPr id="4" name="shape-555"/>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556"/>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558"/>
          <p:cNvSpPr>
            <a:spLocks xmlns:a="http://schemas.openxmlformats.org/drawingml/2006/main" noGrp="1"/>
          </p:cNvSpPr>
          <p:nvPr/>
        </p:nvSpPr>
        <p:spPr>
          <a:xfrm xmlns:a="http://schemas.openxmlformats.org/drawingml/2006/main">
            <a:off x="609600" y="2105025"/>
            <a:ext cx="3143250" cy="838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4875" b="1">
                <a:solidFill>
                  <a:srgbClr val="2DD5B5"/>
                </a:solidFill>
                <a:latin typeface="Poppins"/>
                <a:ea typeface="Poppins"/>
                <a:cs typeface="Poppins"/>
              </a:defRPr>
            </a:pPr>
            <a:r>
              <a:rPr sz="4875" b="1">
                <a:solidFill>
                  <a:srgbClr val="2DD5B5"/>
                </a:solidFill>
                <a:latin typeface="Poppins"/>
                <a:ea typeface="Poppins"/>
                <a:cs typeface="Poppins"/>
              </a:rPr>
              <a:t>01</a:t>
            </a:r>
          </a:p>
        </p:txBody>
      </p:sp>
      <p:sp>
        <p:nvSpPr>
          <p:cNvPr id="8" name="text-559"/>
          <p:cNvSpPr>
            <a:spLocks xmlns:a="http://schemas.openxmlformats.org/drawingml/2006/main" noGrp="1"/>
          </p:cNvSpPr>
          <p:nvPr/>
        </p:nvSpPr>
        <p:spPr>
          <a:xfrm xmlns:a="http://schemas.openxmlformats.org/drawingml/2006/main">
            <a:off x="609600" y="3190875"/>
            <a:ext cx="3286125"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400" b="1">
                <a:solidFill>
                  <a:srgbClr val="FFFFFF"/>
                </a:solidFill>
                <a:latin typeface="Poppins"/>
                <a:ea typeface="Poppins"/>
                <a:cs typeface="Poppins"/>
              </a:defRPr>
            </a:pPr>
            <a:r>
              <a:rPr sz="2400" b="1">
                <a:solidFill>
                  <a:srgbClr val="FFFFFF"/>
                </a:solidFill>
                <a:latin typeface="Poppins"/>
                <a:ea typeface="Poppins"/>
                <a:cs typeface="Poppins"/>
              </a:rPr>
              <a:t>Comparar</a:t>
            </a:r>
          </a:p>
        </p:txBody>
      </p:sp>
      <p:sp>
        <p:nvSpPr>
          <p:cNvPr id="9" name="text-560"/>
          <p:cNvSpPr>
            <a:spLocks xmlns:a="http://schemas.openxmlformats.org/drawingml/2006/main" noGrp="1"/>
          </p:cNvSpPr>
          <p:nvPr/>
        </p:nvSpPr>
        <p:spPr>
          <a:xfrm xmlns:a="http://schemas.openxmlformats.org/drawingml/2006/main">
            <a:off x="609600" y="4133850"/>
            <a:ext cx="3333750" cy="10763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Misma imagen, dos modelos.</a:t>
            </a:r>
          </a:p>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¿Qué salida sirve para tu obra?</a:t>
            </a:r>
          </a:p>
        </p:txBody>
      </p:sp>
      <p:sp>
        <p:nvSpPr>
          <p:cNvPr id="10" name="text-561"/>
          <p:cNvSpPr>
            <a:spLocks xmlns:a="http://schemas.openxmlformats.org/drawingml/2006/main" noGrp="1"/>
          </p:cNvSpPr>
          <p:nvPr/>
        </p:nvSpPr>
        <p:spPr>
          <a:xfrm xmlns:a="http://schemas.openxmlformats.org/drawingml/2006/main">
            <a:off x="4381500" y="2105025"/>
            <a:ext cx="3143250" cy="838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4875" b="1">
                <a:solidFill>
                  <a:srgbClr val="2DD5B5"/>
                </a:solidFill>
                <a:latin typeface="Poppins"/>
                <a:ea typeface="Poppins"/>
                <a:cs typeface="Poppins"/>
              </a:defRPr>
            </a:pPr>
            <a:r>
              <a:rPr sz="4875" b="1">
                <a:solidFill>
                  <a:srgbClr val="2DD5B5"/>
                </a:solidFill>
                <a:latin typeface="Poppins"/>
                <a:ea typeface="Poppins"/>
                <a:cs typeface="Poppins"/>
              </a:rPr>
              <a:t>02</a:t>
            </a:r>
          </a:p>
        </p:txBody>
      </p:sp>
      <p:sp>
        <p:nvSpPr>
          <p:cNvPr id="11" name="text-562"/>
          <p:cNvSpPr>
            <a:spLocks xmlns:a="http://schemas.openxmlformats.org/drawingml/2006/main" noGrp="1"/>
          </p:cNvSpPr>
          <p:nvPr/>
        </p:nvSpPr>
        <p:spPr>
          <a:xfrm xmlns:a="http://schemas.openxmlformats.org/drawingml/2006/main">
            <a:off x="4381500" y="3190875"/>
            <a:ext cx="3286125"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400" b="1">
                <a:solidFill>
                  <a:srgbClr val="FFFFFF"/>
                </a:solidFill>
                <a:latin typeface="Poppins"/>
                <a:ea typeface="Poppins"/>
                <a:cs typeface="Poppins"/>
              </a:defRPr>
            </a:pPr>
            <a:r>
              <a:rPr sz="2400" b="1">
                <a:solidFill>
                  <a:srgbClr val="FFFFFF"/>
                </a:solidFill>
                <a:latin typeface="Poppins"/>
                <a:ea typeface="Poppins"/>
                <a:cs typeface="Poppins"/>
              </a:rPr>
              <a:t>Transformar</a:t>
            </a:r>
          </a:p>
        </p:txBody>
      </p:sp>
      <p:sp>
        <p:nvSpPr>
          <p:cNvPr id="12" name="text-563"/>
          <p:cNvSpPr>
            <a:spLocks xmlns:a="http://schemas.openxmlformats.org/drawingml/2006/main" noGrp="1"/>
          </p:cNvSpPr>
          <p:nvPr/>
        </p:nvSpPr>
        <p:spPr>
          <a:xfrm xmlns:a="http://schemas.openxmlformats.org/drawingml/2006/main">
            <a:off x="4381500" y="4133850"/>
            <a:ext cx="3333750" cy="10763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Cambiar el dibujo o mapear</a:t>
            </a:r>
          </a:p>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una respuesta a una acción.</a:t>
            </a:r>
          </a:p>
        </p:txBody>
      </p:sp>
      <p:sp>
        <p:nvSpPr>
          <p:cNvPr id="13" name="text-564"/>
          <p:cNvSpPr>
            <a:spLocks xmlns:a="http://schemas.openxmlformats.org/drawingml/2006/main" noGrp="1"/>
          </p:cNvSpPr>
          <p:nvPr/>
        </p:nvSpPr>
        <p:spPr>
          <a:xfrm xmlns:a="http://schemas.openxmlformats.org/drawingml/2006/main">
            <a:off x="8153400" y="2105025"/>
            <a:ext cx="3143250" cy="838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4875" b="1">
                <a:solidFill>
                  <a:srgbClr val="2DD5B5"/>
                </a:solidFill>
                <a:latin typeface="Poppins"/>
                <a:ea typeface="Poppins"/>
                <a:cs typeface="Poppins"/>
              </a:defRPr>
            </a:pPr>
            <a:r>
              <a:rPr sz="4875" b="1">
                <a:solidFill>
                  <a:srgbClr val="2DD5B5"/>
                </a:solidFill>
                <a:latin typeface="Poppins"/>
                <a:ea typeface="Poppins"/>
                <a:cs typeface="Poppins"/>
              </a:rPr>
              <a:t>03</a:t>
            </a:r>
          </a:p>
        </p:txBody>
      </p:sp>
      <p:sp>
        <p:nvSpPr>
          <p:cNvPr id="14" name="text-565"/>
          <p:cNvSpPr>
            <a:spLocks xmlns:a="http://schemas.openxmlformats.org/drawingml/2006/main" noGrp="1"/>
          </p:cNvSpPr>
          <p:nvPr/>
        </p:nvSpPr>
        <p:spPr>
          <a:xfrm xmlns:a="http://schemas.openxmlformats.org/drawingml/2006/main">
            <a:off x="8153400" y="3190875"/>
            <a:ext cx="3286125" cy="5715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400" b="1">
                <a:solidFill>
                  <a:srgbClr val="FFFFFF"/>
                </a:solidFill>
                <a:latin typeface="Poppins"/>
                <a:ea typeface="Poppins"/>
                <a:cs typeface="Poppins"/>
              </a:defRPr>
            </a:pPr>
            <a:r>
              <a:rPr sz="2400" b="1">
                <a:solidFill>
                  <a:srgbClr val="FFFFFF"/>
                </a:solidFill>
                <a:latin typeface="Poppins"/>
                <a:ea typeface="Poppins"/>
                <a:cs typeface="Poppins"/>
              </a:rPr>
              <a:t>Cuestionar</a:t>
            </a:r>
          </a:p>
        </p:txBody>
      </p:sp>
      <p:sp>
        <p:nvSpPr>
          <p:cNvPr id="15" name="text-566"/>
          <p:cNvSpPr>
            <a:spLocks xmlns:a="http://schemas.openxmlformats.org/drawingml/2006/main" noGrp="1"/>
          </p:cNvSpPr>
          <p:nvPr/>
        </p:nvSpPr>
        <p:spPr>
          <a:xfrm xmlns:a="http://schemas.openxmlformats.org/drawingml/2006/main">
            <a:off x="8153400" y="4133850"/>
            <a:ext cx="3333750" cy="10763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Registrar un caso útil y</a:t>
            </a:r>
          </a:p>
          <a:p xmlns:a="http://schemas.openxmlformats.org/drawingml/2006/main">
            <a:pPr>
              <a:buNone/>
              <a:defRPr sz="1800" b="0">
                <a:solidFill>
                  <a:srgbClr val="D0C9DB"/>
                </a:solidFill>
                <a:latin typeface="Poppins"/>
                <a:ea typeface="Poppins"/>
                <a:cs typeface="Poppins"/>
              </a:defRPr>
            </a:pPr>
            <a:r>
              <a:rPr sz="1800" b="0">
                <a:solidFill>
                  <a:srgbClr val="D0C9DB"/>
                </a:solidFill>
                <a:latin typeface="Poppins"/>
                <a:ea typeface="Poppins"/>
                <a:cs typeface="Poppins"/>
              </a:rPr>
              <a:t>un caso que falle.</a:t>
            </a:r>
          </a:p>
        </p:txBody>
      </p:sp>
      <p:sp>
        <p:nvSpPr>
          <p:cNvPr id="16" name="text-567"/>
          <p:cNvSpPr>
            <a:spLocks xmlns:a="http://schemas.openxmlformats.org/drawingml/2006/main" noGrp="1"/>
          </p:cNvSpPr>
          <p:nvPr/>
        </p:nvSpPr>
        <p:spPr>
          <a:xfrm xmlns:a="http://schemas.openxmlformats.org/drawingml/2006/main">
            <a:off x="609600" y="5648325"/>
            <a:ext cx="10953750" cy="4381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100" b="1">
                <a:solidFill>
                  <a:srgbClr val="BFA0FF"/>
                </a:solidFill>
                <a:latin typeface="Poppins"/>
                <a:ea typeface="Poppins"/>
                <a:cs typeface="Poppins"/>
              </a:defRPr>
            </a:pPr>
            <a:r>
              <a:rPr sz="2100" b="1">
                <a:solidFill>
                  <a:srgbClr val="BFA0FF"/>
                </a:solidFill>
                <a:latin typeface="Poppins"/>
                <a:ea typeface="Poppins"/>
                <a:cs typeface="Poppins"/>
              </a:rPr>
              <a:t>¿Qué decidió el modelo y qué programaron ustedes?</a:t>
            </a:r>
          </a:p>
        </p:txBody>
      </p:sp>
      <p:sp>
        <p:nvSpPr>
          <p:cNvPr id="17"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24</a:t>
            </a:r>
          </a:p>
        </p:txBody>
      </p:sp>
    </p:spTree>
  </p:cSld>
</p:sld>
</file>

<file path=ppt/slides/slide25.xml><?xml version="1.0" encoding="utf-8"?>
<p:sld xmlns:p="http://schemas.openxmlformats.org/presentationml/2006/main" showMasterSp="0">
  <p:cSld>
    <p:bg>
      <p:bgPr>
        <a:gradFill xmlns:a="http://schemas.openxmlformats.org/drawingml/2006/main">
          <a:gsLst>
            <a:gs pos="0">
              <a:srgbClr val="174342"/>
            </a:gs>
            <a:gs pos="36000">
              <a:srgbClr val="211D37"/>
            </a:gs>
            <a:gs pos="72000">
              <a:srgbClr val="211D37"/>
            </a:gs>
            <a:gs pos="100000">
              <a:srgbClr val="473074"/>
            </a:gs>
          </a:gsLst>
          <a:lin ang="6900000"/>
        </a:gradFill>
      </p:bgPr>
    </p:bg>
    <p:spTree>
      <p:nvGrpSpPr>
        <p:cNvPr id="19" name=""/>
        <p:cNvGrpSpPr/>
        <p:nvPr/>
      </p:nvGrpSpPr>
      <p:grpSpPr>
        <a:xfrm xmlns:a="http://schemas.openxmlformats.org/drawingml/2006/main">
          <a:off x="0" y="0"/>
          <a:ext cx="0" cy="0"/>
          <a:chOff x="0" y="0"/>
          <a:chExt cx="0" cy="0"/>
        </a:xfrm>
      </p:grpSpPr>
      <p:sp>
        <p:nvSpPr>
          <p:cNvPr id="1" name="shape-568"/>
          <p:cNvSpPr>
            <a:spLocks xmlns:a="http://schemas.openxmlformats.org/drawingml/2006/main" noGrp="1"/>
          </p:cNvSpPr>
          <p:nvPr/>
        </p:nvSpPr>
        <p:spPr>
          <a:xfrm xmlns:a="http://schemas.openxmlformats.org/drawingml/2006/main">
            <a:off x="609600" y="466725"/>
            <a:ext cx="28575" cy="114300"/>
          </a:xfrm>
          <a:prstGeom xmlns:a="http://schemas.openxmlformats.org/drawingml/2006/main" prst="rect">
            <a:avLst/>
          </a:prstGeom>
          <a:solidFill xmlns:a="http://schemas.openxmlformats.org/drawingml/2006/main">
            <a:srgbClr val="2DD5B5"/>
          </a:solidFill>
          <a:ln xmlns:a="http://schemas.openxmlformats.org/drawingml/2006/main" w="0">
            <a:noFill/>
            <a:prstDash val="solid"/>
          </a:ln>
        </p:spPr>
      </p:sp>
      <p:sp>
        <p:nvSpPr>
          <p:cNvPr id="2" name="text-569"/>
          <p:cNvSpPr>
            <a:spLocks xmlns:a="http://schemas.openxmlformats.org/drawingml/2006/main" noGrp="1"/>
          </p:cNvSpPr>
          <p:nvPr/>
        </p:nvSpPr>
        <p:spPr>
          <a:xfrm xmlns:a="http://schemas.openxmlformats.org/drawingml/2006/main">
            <a:off x="714375" y="342900"/>
            <a:ext cx="10477500" cy="3429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125" b="1">
                <a:solidFill>
                  <a:srgbClr val="2DD5B5"/>
                </a:solidFill>
                <a:latin typeface="Poppins"/>
                <a:ea typeface="Poppins"/>
                <a:cs typeface="Poppins"/>
              </a:defRPr>
            </a:pPr>
            <a:r>
              <a:rPr sz="1125" b="1">
                <a:solidFill>
                  <a:srgbClr val="2DD5B5"/>
                </a:solidFill>
                <a:latin typeface="Poppins"/>
                <a:ea typeface="Poppins"/>
                <a:cs typeface="Poppins"/>
              </a:rPr>
              <a:t>FUENTES Y CONTINUIDAD</a:t>
            </a:r>
          </a:p>
        </p:txBody>
      </p:sp>
      <p:sp>
        <p:nvSpPr>
          <p:cNvPr id="3" name="text-570"/>
          <p:cNvSpPr>
            <a:spLocks xmlns:a="http://schemas.openxmlformats.org/drawingml/2006/main" noGrp="1"/>
          </p:cNvSpPr>
          <p:nvPr/>
        </p:nvSpPr>
        <p:spPr>
          <a:xfrm xmlns:a="http://schemas.openxmlformats.org/drawingml/2006/main">
            <a:off x="609600" y="857250"/>
            <a:ext cx="10972800" cy="55245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2550" b="1">
                <a:solidFill>
                  <a:srgbClr val="FFFFFF"/>
                </a:solidFill>
                <a:latin typeface="Poppins"/>
                <a:ea typeface="Poppins"/>
                <a:cs typeface="Poppins"/>
              </a:defRPr>
            </a:pPr>
            <a:r>
              <a:rPr sz="2550" b="1">
                <a:solidFill>
                  <a:srgbClr val="FFFFFF"/>
                </a:solidFill>
                <a:latin typeface="Poppins"/>
                <a:ea typeface="Poppins"/>
                <a:cs typeface="Poppins"/>
              </a:rPr>
              <a:t>Modelos abiertos, decisiones visibles</a:t>
            </a:r>
          </a:p>
        </p:txBody>
      </p:sp>
      <p:sp>
        <p:nvSpPr>
          <p:cNvPr id="4" name="shape-571"/>
          <p:cNvSpPr>
            <a:spLocks xmlns:a="http://schemas.openxmlformats.org/drawingml/2006/main" noGrp="1"/>
          </p:cNvSpPr>
          <p:nvPr/>
        </p:nvSpPr>
        <p:spPr>
          <a:xfrm xmlns:a="http://schemas.openxmlformats.org/drawingml/2006/main">
            <a:off x="609600" y="1571625"/>
            <a:ext cx="10972800" cy="9525"/>
          </a:xfrm>
          <a:prstGeom xmlns:a="http://schemas.openxmlformats.org/drawingml/2006/main" prst="rect">
            <a:avLst/>
          </a:prstGeom>
          <a:solidFill xmlns:a="http://schemas.openxmlformats.org/drawingml/2006/main">
            <a:srgbClr val="BFA0FF"/>
          </a:solidFill>
          <a:ln xmlns:a="http://schemas.openxmlformats.org/drawingml/2006/main" w="0">
            <a:noFill/>
            <a:prstDash val="solid"/>
          </a:ln>
        </p:spPr>
      </p:sp>
      <p:sp>
        <p:nvSpPr>
          <p:cNvPr id="5" name="text-572"/>
          <p:cNvSpPr>
            <a:spLocks xmlns:a="http://schemas.openxmlformats.org/drawingml/2006/main" noGrp="1"/>
          </p:cNvSpPr>
          <p:nvPr/>
        </p:nvSpPr>
        <p:spPr>
          <a:xfrm xmlns:a="http://schemas.openxmlformats.org/drawingml/2006/main">
            <a:off x="609600" y="6457950"/>
            <a:ext cx="990600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900" b="0">
                <a:solidFill>
                  <a:srgbClr val="D0C9DB"/>
                </a:solidFill>
                <a:latin typeface="Poppins"/>
                <a:ea typeface="Poppins"/>
                <a:cs typeface="Poppins"/>
              </a:defRPr>
            </a:pPr>
            <a:r>
              <a:rPr sz="900" b="0">
                <a:solidFill>
                  <a:srgbClr val="D0C9DB"/>
                </a:solidFill>
                <a:latin typeface="Poppins"/>
                <a:ea typeface="Poppins"/>
                <a:cs typeface="Poppins"/>
              </a:rPr>
              <a:t>IA · Visión, transformers y openFrameworks  |  Informática Aplicada II · UNA</a:t>
            </a:r>
          </a:p>
        </p:txBody>
      </p:sp>
      <p:sp>
        <p:nvSpPr>
          <p:cNvPr id="7" name="text-574"/>
          <p:cNvSpPr>
            <a:spLocks xmlns:a="http://schemas.openxmlformats.org/drawingml/2006/main" noGrp="1"/>
          </p:cNvSpPr>
          <p:nvPr/>
        </p:nvSpPr>
        <p:spPr>
          <a:xfrm xmlns:a="http://schemas.openxmlformats.org/drawingml/2006/main">
            <a:off x="609600" y="2057400"/>
            <a:ext cx="4286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2DD5B5"/>
                </a:solidFill>
                <a:latin typeface="Poppins"/>
                <a:ea typeface="Poppins"/>
                <a:cs typeface="Poppins"/>
              </a:defRPr>
            </a:pPr>
            <a:r>
              <a:rPr sz="1575" b="1">
                <a:solidFill>
                  <a:srgbClr val="2DD5B5"/>
                </a:solidFill>
                <a:latin typeface="Poppins"/>
                <a:ea typeface="Poppins"/>
                <a:cs typeface="Poppins"/>
              </a:rPr>
              <a:t>ViT · arquitectura</a:t>
            </a:r>
          </a:p>
        </p:txBody>
      </p:sp>
      <p:sp>
        <p:nvSpPr>
          <p:cNvPr id="8" name="text-575"/>
          <p:cNvSpPr>
            <a:spLocks xmlns:a="http://schemas.openxmlformats.org/drawingml/2006/main" noGrp="1"/>
          </p:cNvSpPr>
          <p:nvPr/>
        </p:nvSpPr>
        <p:spPr>
          <a:xfrm xmlns:a="http://schemas.openxmlformats.org/drawingml/2006/main">
            <a:off x="5048250" y="2057400"/>
            <a:ext cx="6477000"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arxiv.org/abs/2010.11929</a:t>
            </a:r>
          </a:p>
        </p:txBody>
      </p:sp>
      <p:sp>
        <p:nvSpPr>
          <p:cNvPr id="9" name="text-576"/>
          <p:cNvSpPr>
            <a:spLocks xmlns:a="http://schemas.openxmlformats.org/drawingml/2006/main" noGrp="1"/>
          </p:cNvSpPr>
          <p:nvPr/>
        </p:nvSpPr>
        <p:spPr>
          <a:xfrm xmlns:a="http://schemas.openxmlformats.org/drawingml/2006/main">
            <a:off x="609600" y="2705100"/>
            <a:ext cx="4286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2DD5B5"/>
                </a:solidFill>
                <a:latin typeface="Poppins"/>
                <a:ea typeface="Poppins"/>
                <a:cs typeface="Poppins"/>
              </a:defRPr>
            </a:pPr>
            <a:r>
              <a:rPr sz="1575" b="1">
                <a:solidFill>
                  <a:srgbClr val="2DD5B5"/>
                </a:solidFill>
                <a:latin typeface="Poppins"/>
                <a:ea typeface="Poppins"/>
                <a:cs typeface="Poppins"/>
              </a:rPr>
              <a:t>ViT · pesos Apache 2.0</a:t>
            </a:r>
          </a:p>
        </p:txBody>
      </p:sp>
      <p:sp>
        <p:nvSpPr>
          <p:cNvPr id="10" name="text-577"/>
          <p:cNvSpPr>
            <a:spLocks xmlns:a="http://schemas.openxmlformats.org/drawingml/2006/main" noGrp="1"/>
          </p:cNvSpPr>
          <p:nvPr/>
        </p:nvSpPr>
        <p:spPr>
          <a:xfrm xmlns:a="http://schemas.openxmlformats.org/drawingml/2006/main">
            <a:off x="5048250" y="2705100"/>
            <a:ext cx="6477000"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huggingface.co/google/vit-base-patch16-224</a:t>
            </a:r>
          </a:p>
        </p:txBody>
      </p:sp>
      <p:sp>
        <p:nvSpPr>
          <p:cNvPr id="11" name="text-578"/>
          <p:cNvSpPr>
            <a:spLocks xmlns:a="http://schemas.openxmlformats.org/drawingml/2006/main" noGrp="1"/>
          </p:cNvSpPr>
          <p:nvPr/>
        </p:nvSpPr>
        <p:spPr>
          <a:xfrm xmlns:a="http://schemas.openxmlformats.org/drawingml/2006/main">
            <a:off x="609600" y="3352800"/>
            <a:ext cx="4286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2DD5B5"/>
                </a:solidFill>
                <a:latin typeface="Poppins"/>
                <a:ea typeface="Poppins"/>
                <a:cs typeface="Poppins"/>
              </a:defRPr>
            </a:pPr>
            <a:r>
              <a:rPr sz="1575" b="1">
                <a:solidFill>
                  <a:srgbClr val="2DD5B5"/>
                </a:solidFill>
                <a:latin typeface="Poppins"/>
                <a:ea typeface="Poppins"/>
                <a:cs typeface="Poppins"/>
              </a:rPr>
              <a:t>Qwen3-VL · pesos Apache 2.0</a:t>
            </a:r>
          </a:p>
        </p:txBody>
      </p:sp>
      <p:sp>
        <p:nvSpPr>
          <p:cNvPr id="12" name="text-579"/>
          <p:cNvSpPr>
            <a:spLocks xmlns:a="http://schemas.openxmlformats.org/drawingml/2006/main" noGrp="1"/>
          </p:cNvSpPr>
          <p:nvPr/>
        </p:nvSpPr>
        <p:spPr>
          <a:xfrm xmlns:a="http://schemas.openxmlformats.org/drawingml/2006/main">
            <a:off x="5048250" y="3352800"/>
            <a:ext cx="6477000"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huggingface.co/Qwen/Qwen3-VL-2B-Instruct</a:t>
            </a:r>
          </a:p>
        </p:txBody>
      </p:sp>
      <p:sp>
        <p:nvSpPr>
          <p:cNvPr id="13" name="text-580"/>
          <p:cNvSpPr>
            <a:spLocks xmlns:a="http://schemas.openxmlformats.org/drawingml/2006/main" noGrp="1"/>
          </p:cNvSpPr>
          <p:nvPr/>
        </p:nvSpPr>
        <p:spPr>
          <a:xfrm xmlns:a="http://schemas.openxmlformats.org/drawingml/2006/main">
            <a:off x="609600" y="4000500"/>
            <a:ext cx="4286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2DD5B5"/>
                </a:solidFill>
                <a:latin typeface="Poppins"/>
                <a:ea typeface="Poppins"/>
                <a:cs typeface="Poppins"/>
              </a:defRPr>
            </a:pPr>
            <a:r>
              <a:rPr sz="1575" b="1">
                <a:solidFill>
                  <a:srgbClr val="2DD5B5"/>
                </a:solidFill>
                <a:latin typeface="Poppins"/>
                <a:ea typeface="Poppins"/>
                <a:cs typeface="Poppins"/>
              </a:rPr>
              <a:t>Ollama · modelo exacto</a:t>
            </a:r>
          </a:p>
        </p:txBody>
      </p:sp>
      <p:sp>
        <p:nvSpPr>
          <p:cNvPr id="14" name="text-581"/>
          <p:cNvSpPr>
            <a:spLocks xmlns:a="http://schemas.openxmlformats.org/drawingml/2006/main" noGrp="1"/>
          </p:cNvSpPr>
          <p:nvPr/>
        </p:nvSpPr>
        <p:spPr>
          <a:xfrm xmlns:a="http://schemas.openxmlformats.org/drawingml/2006/main">
            <a:off x="5048250" y="4000500"/>
            <a:ext cx="6477000"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ollama.com/library/qwen3-vl:2b-instruct</a:t>
            </a:r>
          </a:p>
        </p:txBody>
      </p:sp>
      <p:sp>
        <p:nvSpPr>
          <p:cNvPr id="15" name="text-582"/>
          <p:cNvSpPr>
            <a:spLocks xmlns:a="http://schemas.openxmlformats.org/drawingml/2006/main" noGrp="1"/>
          </p:cNvSpPr>
          <p:nvPr/>
        </p:nvSpPr>
        <p:spPr>
          <a:xfrm xmlns:a="http://schemas.openxmlformats.org/drawingml/2006/main">
            <a:off x="609600" y="4648200"/>
            <a:ext cx="4286250" cy="42862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1">
                <a:solidFill>
                  <a:srgbClr val="2DD5B5"/>
                </a:solidFill>
                <a:latin typeface="Poppins"/>
                <a:ea typeface="Poppins"/>
                <a:cs typeface="Poppins"/>
              </a:defRPr>
            </a:pPr>
            <a:r>
              <a:rPr sz="1575" b="1">
                <a:solidFill>
                  <a:srgbClr val="2DD5B5"/>
                </a:solidFill>
                <a:latin typeface="Poppins"/>
                <a:ea typeface="Poppins"/>
                <a:cs typeface="Poppins"/>
              </a:rPr>
              <a:t>Ollama · imágenes en HTTP</a:t>
            </a:r>
          </a:p>
        </p:txBody>
      </p:sp>
      <p:sp>
        <p:nvSpPr>
          <p:cNvPr id="16" name="text-583"/>
          <p:cNvSpPr>
            <a:spLocks xmlns:a="http://schemas.openxmlformats.org/drawingml/2006/main" noGrp="1"/>
          </p:cNvSpPr>
          <p:nvPr/>
        </p:nvSpPr>
        <p:spPr>
          <a:xfrm xmlns:a="http://schemas.openxmlformats.org/drawingml/2006/main">
            <a:off x="5048250" y="4648200"/>
            <a:ext cx="6477000" cy="4572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575" b="0">
                <a:solidFill>
                  <a:srgbClr val="D0C9DB"/>
                </a:solidFill>
                <a:latin typeface="Poppins"/>
                <a:ea typeface="Poppins"/>
                <a:cs typeface="Poppins"/>
              </a:defRPr>
            </a:pPr>
            <a:r>
              <a:rPr sz="1575" b="0">
                <a:solidFill>
                  <a:srgbClr val="D0C9DB"/>
                </a:solidFill>
                <a:latin typeface="Poppins"/>
                <a:ea typeface="Poppins"/>
                <a:cs typeface="Poppins"/>
              </a:rPr>
              <a:t>docs.ollama.com/capabilities/vision</a:t>
            </a:r>
          </a:p>
        </p:txBody>
      </p:sp>
      <p:sp>
        <p:nvSpPr>
          <p:cNvPr id="17" name="text-584"/>
          <p:cNvSpPr>
            <a:spLocks xmlns:a="http://schemas.openxmlformats.org/drawingml/2006/main" noGrp="1"/>
          </p:cNvSpPr>
          <p:nvPr/>
        </p:nvSpPr>
        <p:spPr>
          <a:xfrm xmlns:a="http://schemas.openxmlformats.org/drawingml/2006/main">
            <a:off x="609600" y="5619750"/>
            <a:ext cx="10763250" cy="523875"/>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buNone/>
              <a:defRPr sz="1725" b="1">
                <a:solidFill>
                  <a:srgbClr val="FFFFFF"/>
                </a:solidFill>
                <a:latin typeface="Poppins"/>
                <a:ea typeface="Poppins"/>
                <a:cs typeface="Poppins"/>
              </a:defRPr>
            </a:pPr>
            <a:r>
              <a:rPr sz="1725" b="1">
                <a:solidFill>
                  <a:srgbClr val="FFFFFF"/>
                </a:solidFill>
                <a:latin typeface="Poppins"/>
                <a:ea typeface="Poppins"/>
                <a:cs typeface="Poppins"/>
              </a:rPr>
              <a:t>Sin cobro por consulta local. Hardware, memoria y evaluación siguen importando.</a:t>
            </a:r>
          </a:p>
        </p:txBody>
      </p:sp>
      <p:sp>
        <p:nvSpPr>
          <p:cNvPr id="18" name=""/>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p:spPr>
        <p:txBody>
          <a:bodyPr xmlns:a="http://schemas.openxmlformats.org/drawingml/2006/main" lIns="0" tIns="0" rIns="0" bIns="0" anchor="ctr"/>
          <a:lstStyle xmlns:a="http://schemas.openxmlformats.org/drawingml/2006/main"/>
          <a:p xmlns:a="http://schemas.openxmlformats.org/drawingml/2006/main">
            <a:pPr>
              <a:defRPr sz="1050" b="1">
                <a:solidFill>
                  <a:srgbClr val="BEA2FF"/>
                </a:solidFill>
                <a:latin typeface="Poppins"/>
                <a:ea typeface="Poppins"/>
                <a:cs typeface="Poppins"/>
              </a:defRPr>
            </a:pPr>
            <a:r>
              <a:rPr sz="1050" b="1">
                <a:solidFill>
                  <a:srgbClr val="BEA2FF"/>
                </a:solidFill>
                <a:latin typeface="Poppins"/>
                <a:ea typeface="Poppins"/>
                <a:cs typeface="Poppins"/>
              </a:rPr>
              <a:t>25</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25</Slides>
  <Notes>25</Notes>
  <HiddenSlides>0</HiddenSlides>
  <MMClips>0</MMClips>
  <ScaleCrop>false</ScaleCrop>
  <Manager/>
  <Company/>
  <LinksUpToDate>false</LinksUpToDate>
  <SharedDoc>false</SharedDoc>
  <HyperlinkBase/>
  <HyperlinksChanged>false</HyperlinksChanged>
  <AppVersion>14.0000</AppVersion>
</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2026-10-05T00:21:57.7450000Z</dcterms:created>
  <dcterms:modified xsi:type="dcterms:W3CDTF">2026-10-05T00:21:57.7450000Z</dcterms:modified>
</coreProperties>
</file>